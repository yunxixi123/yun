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4" r:id="rId2"/>
    <p:sldId id="542" r:id="rId3"/>
    <p:sldId id="543" r:id="rId4"/>
    <p:sldId id="480" r:id="rId5"/>
    <p:sldId id="544" r:id="rId6"/>
    <p:sldId id="545" r:id="rId7"/>
    <p:sldId id="546" r:id="rId8"/>
    <p:sldId id="547" r:id="rId9"/>
    <p:sldId id="548" r:id="rId10"/>
    <p:sldId id="550" r:id="rId11"/>
    <p:sldId id="551" r:id="rId12"/>
    <p:sldId id="552" r:id="rId13"/>
    <p:sldId id="553" r:id="rId14"/>
    <p:sldId id="554" r:id="rId15"/>
    <p:sldId id="555" r:id="rId16"/>
    <p:sldId id="556" r:id="rId17"/>
    <p:sldId id="557" r:id="rId18"/>
    <p:sldId id="558" r:id="rId19"/>
    <p:sldId id="561" r:id="rId20"/>
    <p:sldId id="560" r:id="rId21"/>
    <p:sldId id="559" r:id="rId22"/>
    <p:sldId id="446" r:id="rId23"/>
    <p:sldId id="279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9900"/>
    <a:srgbClr val="FF00FF"/>
    <a:srgbClr val="F4B183"/>
    <a:srgbClr val="2A2827"/>
    <a:srgbClr val="E7C5AE"/>
    <a:srgbClr val="888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826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50B36-9D4A-468C-8410-95B1900814AF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98910-327C-4EAC-AB95-1250C2EE6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9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45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96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207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178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679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359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04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783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097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107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852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68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9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059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05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309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831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729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471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3011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2759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91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11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F9E42-F9D7-4C60-A57F-7B43DAB9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337574-F13C-45F3-9852-D6D7BA0D2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B5407-D8F4-4821-A185-0AA59BE6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610358-DB10-434D-97A5-F61C95D7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914CE9-C3EE-4D56-84C2-6EF49A54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83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203FF-6B8D-4D88-A5FE-2C4C8A14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E0CDA-0B8B-4D29-A282-6E39664AD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D78AA-1C3D-40A0-A9F8-25FAB6C6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296139-374D-4D22-AF1C-3B136D1D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DD1D6-7DF0-497A-963E-9F4D7EB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91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14FA1-A850-4200-BFB8-E57801E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41A292-A949-42F0-9BAF-F8BF941FA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8F77C-FFAC-4BF1-84FB-F6BA8B49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EECD9-8BCD-4E86-9D45-05D685F2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B49A7C-2F33-4AC8-86D6-17EE028C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0C2C5-7446-4188-B8B2-24F08ED8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B9E4E7-F091-4B6E-9762-062EF23E5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659D5B-F34C-4E6A-9069-5205D85DB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BAECE3-5B6E-43E8-91F4-E09059E1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99DD0F-FC30-4484-ACCC-F37FCBEB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74CD93-9F63-4BF7-ADC1-D8B6683C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8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85375-792C-4634-A289-5FAEA842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8DF4EF-F992-4483-82FA-13709AA6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510978-59F2-472A-8412-C9F983CD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1A449E-BF48-471C-81BE-7C769B730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1AD99D-CE3E-4FF3-8DAA-06DE6D354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27E751-DCA1-4EA7-B1BE-BD971D13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BA1F3B-6DBD-4800-8125-931B7969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C9BC08-EB6C-4F6D-91D5-83336937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46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ED87E-BC58-42BE-AD81-3BBA67D9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25C3A0-6B7F-4C15-995E-689FF929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9E1EFD-3D3C-41A8-AA29-C0188C9C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7AF1C2-A64D-497E-88FD-8291E47E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01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C028E2-DBE9-4B66-A719-D75A9AF3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A90BB4-00EC-4298-9AFC-78599431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A2E427-D671-4019-B801-499C7F58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45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5DDBB-2059-4844-B59C-8AC509D57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E58FE-2A80-43E9-916E-59900112D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71CA6E-F12A-4682-95E6-A756C2003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34F04C-0323-4477-B74C-5BD46340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06BA59-DD98-45C2-A486-63D19EFF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CEECF6-F2EA-4546-9E4D-B49EDC9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87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B7697-9D7C-4867-B5AD-95908B34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5CF749-8C47-420E-8A3E-439711EB5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3B6E65-478B-41DE-9F9C-E9ED1CE03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7693AB-EA7A-42E1-9126-8D11E3E9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B81EF9-9079-4FDD-B003-27E25B33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F4EB10-9F92-4D36-A8CE-12536AFB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38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DF850-13DD-4C22-9F7E-68D77C73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D8F41C-E583-49A7-96F9-090045C36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DFDA6-74FA-48D9-9B07-F62B9255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3C984-3066-4EA1-B0C7-BEE57301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336CFB-6DE0-451E-9CB1-512A7AE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9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095FE0-9EB5-404E-8EDC-678051CC8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D693F2-F5F0-41A3-91DE-699E22380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AAEF03-EEDA-4B0A-ACFD-716EA2C2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DB8F8D-DFAC-4182-8167-590F37F4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759DB9-FCF5-4E7D-AD2D-81B8FAB7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77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8370" y="126928"/>
            <a:ext cx="9041230" cy="1126050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84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404207-36D3-4051-AB07-176E3EBC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B39DFF-BE2D-45F8-91EA-22D9B3A5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5EFC4B-D78B-4EAA-886B-13E5F2AE5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ECF6-13F7-4665-8CC8-E6D7D0DC7252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E32043-75CC-4E33-BF77-E883A1E2B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300B5E-A5DB-4554-AC2C-1943E9ECF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37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68D56DBF-52F8-4AA4-B877-9C93B61E2C36}"/>
              </a:ext>
            </a:extLst>
          </p:cNvPr>
          <p:cNvSpPr txBox="1"/>
          <p:nvPr/>
        </p:nvSpPr>
        <p:spPr>
          <a:xfrm>
            <a:off x="1185334" y="2641890"/>
            <a:ext cx="10018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同步时序电路</a:t>
            </a:r>
            <a:endParaRPr lang="en-US" altLang="zh-CN" sz="5400" b="1" dirty="0">
              <a:solidFill>
                <a:srgbClr val="F4B18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:a16="http://schemas.microsoft.com/office/drawing/2014/main" id="{4E49163D-DFAB-41F1-AACE-58EEE9068C80}"/>
              </a:ext>
            </a:extLst>
          </p:cNvPr>
          <p:cNvSpPr/>
          <p:nvPr/>
        </p:nvSpPr>
        <p:spPr>
          <a:xfrm>
            <a:off x="1664753" y="1398932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:a16="http://schemas.microsoft.com/office/drawing/2014/main" id="{B1C3E434-2A4B-4365-B940-77631D63F6B9}"/>
              </a:ext>
            </a:extLst>
          </p:cNvPr>
          <p:cNvSpPr/>
          <p:nvPr/>
        </p:nvSpPr>
        <p:spPr>
          <a:xfrm rot="10800000">
            <a:off x="10090891" y="5430507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:a16="http://schemas.microsoft.com/office/drawing/2014/main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1664752" y="1287475"/>
            <a:ext cx="224441" cy="291998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E103A22C-9FB4-4E6A-A98A-B94881471114}"/>
              </a:ext>
            </a:extLst>
          </p:cNvPr>
          <p:cNvSpPr txBox="1"/>
          <p:nvPr/>
        </p:nvSpPr>
        <p:spPr>
          <a:xfrm>
            <a:off x="2929676" y="4873858"/>
            <a:ext cx="6647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E7C5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主讲人：</a:t>
            </a:r>
            <a:r>
              <a:rPr lang="en-US" altLang="zh-CN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</a:t>
            </a:r>
            <a:endParaRPr lang="en-US" sz="2400" b="1" dirty="0">
              <a:solidFill>
                <a:srgbClr val="E7C5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6ACC7DA8-9234-4BAC-A657-EEB77B531E62}"/>
              </a:ext>
            </a:extLst>
          </p:cNvPr>
          <p:cNvSpPr txBox="1"/>
          <p:nvPr/>
        </p:nvSpPr>
        <p:spPr>
          <a:xfrm>
            <a:off x="7228374" y="5628499"/>
            <a:ext cx="270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266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宋体-18030" pitchFamily="49" charset="-122"/>
                <a:ea typeface="宋体-18030" pitchFamily="49" charset="-122"/>
              </a:rPr>
              <a:t>设计“</a:t>
            </a:r>
            <a:r>
              <a:rPr lang="en-US" altLang="zh-CN" dirty="0">
                <a:latin typeface="宋体-18030" pitchFamily="49" charset="-122"/>
                <a:ea typeface="宋体-18030" pitchFamily="49" charset="-122"/>
              </a:rPr>
              <a:t>111”</a:t>
            </a:r>
            <a:r>
              <a:rPr lang="zh-CN" altLang="en-US" dirty="0">
                <a:latin typeface="宋体-18030" pitchFamily="49" charset="-122"/>
                <a:ea typeface="宋体-18030" pitchFamily="49" charset="-122"/>
              </a:rPr>
              <a:t>序列检测器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下一实验内容</a:t>
            </a:r>
            <a:endParaRPr lang="en-US" altLang="zh-CN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23487" y="2058356"/>
            <a:ext cx="54358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708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设计“</a:t>
            </a:r>
            <a:r>
              <a:rPr lang="en-US" altLang="zh-CN" dirty="0"/>
              <a:t>111”</a:t>
            </a:r>
            <a:r>
              <a:rPr lang="zh-CN" altLang="en-US" dirty="0"/>
              <a:t>序列检测器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下一实验内容</a:t>
            </a:r>
            <a:endParaRPr lang="en-US" altLang="zh-CN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23487" y="2058356"/>
            <a:ext cx="54358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888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2059132" y="1852990"/>
            <a:ext cx="8406870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掌握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Mealy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型时序电路设计方法。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algn="just" eaLnBrk="0" hangingPunct="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验证所设计电路的逻辑功能。 </a:t>
            </a:r>
          </a:p>
          <a:p>
            <a:pPr marL="457200" indent="-457200" algn="just" eaLnBrk="0" hangingPunct="0"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 eaLnBrk="0" hangingPunct="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体会状态分配对电路复杂性的影响 </a:t>
            </a:r>
            <a:endParaRPr lang="zh-CN" altLang="en-US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95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531669" y="1861663"/>
            <a:ext cx="11137323" cy="4102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基本原理</a:t>
            </a:r>
            <a:endParaRPr lang="en-US" altLang="zh-CN"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同步时序电路有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Mealy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型和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Moore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型两类：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所谓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Mealy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型同步时序电路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电路的输出是</a:t>
            </a:r>
            <a:r>
              <a:rPr lang="zh-CN" altLang="en-US" sz="2800" b="1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时序逻辑电路的输出状态及控制输入的函数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所谓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Moore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型同步时序电路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电路输出只是</a:t>
            </a:r>
            <a:r>
              <a:rPr lang="zh-CN" altLang="en-US" sz="2800" b="1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时序电路的输出状态的函数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832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531669" y="1861663"/>
            <a:ext cx="11137323" cy="4139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同步时序电路设计步骤：</a:t>
            </a:r>
            <a:endParaRPr lang="en-US" altLang="zh-CN"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algn="just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分析设计任务，设置状态，画出状态转换表。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algn="just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状态化简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algn="just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状态分配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algn="just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触发器选型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algn="just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作出电路图，对“孤立”状态进行检查。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95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583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14000"/>
              </a:lnSpc>
            </a:pPr>
            <a:r>
              <a:rPr lang="zh-CN" altLang="en-US" sz="1600" dirty="0"/>
              <a:t>（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）分析题义，设置状态，画出状态转换图表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要设计的电路有</a:t>
            </a:r>
            <a:r>
              <a:rPr lang="zh-CN" altLang="en-US" sz="2200" b="1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一串行输入端</a:t>
            </a:r>
            <a:r>
              <a:rPr lang="en-US" altLang="zh-CN" sz="2200" b="1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200" b="1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一串行输出端</a:t>
            </a:r>
            <a:r>
              <a:rPr lang="en-US" altLang="zh-CN" sz="2200" b="1" i="1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。输入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是一随机信号，每当连续输入三个“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时，检测器输出为“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，其余情况下输出“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。例如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 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010111011110…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 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000001000100…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分析输入、输出关系可见，当连续输入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，对应输出一个“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，在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以后不论输入为“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还是为“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，都输出为“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。因而要有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个状态，记作</a:t>
            </a: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2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200" i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2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2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其中：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2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为电路初态。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2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是输入第一个“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以后的状态。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2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是连续输入二个“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以后的状态。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en-US" altLang="zh-CN" sz="22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2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是连续输入三个“</a:t>
            </a:r>
            <a:r>
              <a:rPr lang="en-US" altLang="zh-CN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以后的状态。</a:t>
            </a:r>
          </a:p>
          <a:p>
            <a:pPr indent="457200" algn="just" eaLnBrk="0" hangingPunct="0">
              <a:lnSpc>
                <a:spcPct val="114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由这四个状态可作出</a:t>
            </a:r>
            <a:r>
              <a:rPr lang="zh-CN" altLang="en-US" sz="22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原始状态转换图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2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状态转换表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8070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1201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14000"/>
              </a:lnSpc>
            </a:pPr>
            <a:r>
              <a:rPr lang="zh-CN" altLang="en-US" sz="22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原始状态转换图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200" b="1" dirty="0">
                <a:solidFill>
                  <a:srgbClr val="00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状态转换表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60" y="2166512"/>
            <a:ext cx="4682751" cy="4566797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66" name="表格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442834"/>
              </p:ext>
            </p:extLst>
          </p:nvPr>
        </p:nvGraphicFramePr>
        <p:xfrm>
          <a:off x="5038659" y="2475055"/>
          <a:ext cx="6973232" cy="394971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400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285">
                <a:tc rowSpan="2"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S(t)</a:t>
                      </a:r>
                    </a:p>
                    <a:p>
                      <a:r>
                        <a:rPr lang="zh-CN" altLang="en-US" sz="2800" b="1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  <a:endParaRPr lang="en-US" altLang="zh-CN" sz="2800" b="1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800" b="1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次态</a:t>
                      </a:r>
                      <a:r>
                        <a:rPr lang="en-US" altLang="zh-CN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r>
                        <a:rPr lang="zh-CN" altLang="en-US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（</a:t>
                      </a:r>
                      <a:r>
                        <a:rPr lang="en-US" altLang="zh-CN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t</a:t>
                      </a:r>
                      <a:r>
                        <a:rPr lang="zh-CN" altLang="en-US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）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</a:t>
                      </a:r>
                      <a:r>
                        <a:rPr lang="en-US" altLang="zh-CN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Z</a:t>
                      </a:r>
                      <a:endParaRPr lang="zh-CN" altLang="en-US" sz="28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28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285"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i="1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285"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i="1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2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3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2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3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i="1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70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）状态化简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在原始状态中可能会有“冗余”状态，通过状态化简，清除原始状态中的“冗余”状态，可减少时序逻辑电路中记忆单元的数量，简化逻辑电路。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观察状态转移表，可以看出</a:t>
            </a:r>
            <a:r>
              <a:rPr lang="en-US" altLang="zh-CN" sz="24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输出相同，下一状态也相同，属于等价类。可见最简状态是（</a:t>
            </a:r>
            <a:r>
              <a:rPr lang="en-US" altLang="zh-CN" sz="24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）、</a:t>
            </a:r>
            <a:r>
              <a:rPr lang="en-US" altLang="zh-CN" sz="24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三个。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 eaLnBrk="0" hangingPunct="0"/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24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这两个状态合并，得到新的状态转移表。为方便起见，将：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algn="just"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  <a:r>
              <a:rPr lang="zh-CN" altLang="en-US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——&gt;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zh-CN" altLang="en-US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endParaRPr lang="en-US" altLang="zh-CN" sz="2400" b="1" baseline="-300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lvl="2" algn="just" eaLnBrk="0" hangingPunct="0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——&gt;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zh-CN" altLang="en-US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endParaRPr lang="en-US" altLang="zh-CN" sz="2400" b="1" baseline="-300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lvl="2" algn="just" eaLnBrk="0" hangingPunct="0">
              <a:lnSpc>
                <a:spcPct val="150000"/>
              </a:lnSpc>
            </a:pP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——&gt;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  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640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最简状态转移表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068758"/>
              </p:ext>
            </p:extLst>
          </p:nvPr>
        </p:nvGraphicFramePr>
        <p:xfrm>
          <a:off x="2814104" y="2448160"/>
          <a:ext cx="6965575" cy="4079693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3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231">
                <a:tc rowSpan="2"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S(t)</a:t>
                      </a:r>
                    </a:p>
                    <a:p>
                      <a:r>
                        <a:rPr lang="zh-CN" altLang="en-US" sz="2800" b="1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现态</a:t>
                      </a:r>
                      <a:endParaRPr lang="en-US" altLang="zh-CN" sz="2800" b="1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800" b="1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次态</a:t>
                      </a:r>
                      <a:r>
                        <a:rPr lang="en-US" altLang="zh-CN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r>
                        <a:rPr lang="zh-CN" altLang="en-US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（</a:t>
                      </a:r>
                      <a:r>
                        <a:rPr lang="en-US" altLang="zh-CN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t</a:t>
                      </a:r>
                      <a:r>
                        <a:rPr lang="zh-CN" altLang="en-US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）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</a:t>
                      </a:r>
                      <a:r>
                        <a:rPr lang="en-US" altLang="zh-CN" sz="28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Z</a:t>
                      </a:r>
                      <a:endParaRPr lang="zh-CN" altLang="en-US" sz="28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231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085"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i="1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b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825"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i="1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b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 err="1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 err="1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84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 err="1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 err="1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lang="en-US" altLang="zh-CN" sz="28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28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00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358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）状态分配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状态分配就是给每个简化状态分配一个二进制码。化简后的状态数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m=3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，则记忆单元数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两个记忆单元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个触发器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)Q1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可以有四种状态：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、和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。假如取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Sa=00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Sb =01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为任意态，则可得编码形式的状态转换图与状态转换表。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777" y="3854015"/>
            <a:ext cx="3744536" cy="2905373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098016"/>
              </p:ext>
            </p:extLst>
          </p:nvPr>
        </p:nvGraphicFramePr>
        <p:xfrm>
          <a:off x="5951802" y="3935101"/>
          <a:ext cx="5614893" cy="2743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871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 Q</a:t>
                      </a:r>
                      <a:r>
                        <a:rPr lang="en-US" altLang="zh-CN" sz="2400" b="1" kern="1200" baseline="-25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r>
                        <a:rPr lang="en-US" altLang="zh-CN" sz="2400" b="1" kern="1200" baseline="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   Q</a:t>
                      </a:r>
                      <a:r>
                        <a:rPr lang="en-US" altLang="zh-CN" sz="2400" b="1" kern="1200" baseline="-25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r>
                        <a:rPr lang="en-US" altLang="zh-CN" sz="2400" b="1" kern="1200" baseline="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endParaRPr lang="zh-CN" altLang="en-US" sz="2400" b="1" kern="1200" baseline="300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r>
                        <a:rPr lang="en-US" altLang="zh-CN" sz="2400" dirty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 </a:t>
                      </a:r>
                      <a:r>
                        <a:rPr lang="en-US" altLang="zh-CN" sz="24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</a:t>
                      </a:r>
                      <a:r>
                        <a:rPr lang="en-US" altLang="zh-CN" sz="24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r>
                        <a:rPr lang="en-US" altLang="zh-CN" sz="2400" i="1" baseline="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r>
                        <a:rPr lang="en-US" altLang="zh-CN" sz="2400" baseline="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+1 </a:t>
                      </a:r>
                      <a:r>
                        <a:rPr lang="en-US" altLang="zh-CN" sz="24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 </a:t>
                      </a:r>
                      <a:r>
                        <a:rPr lang="en-US" altLang="zh-CN" sz="24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</a:t>
                      </a:r>
                      <a:r>
                        <a:rPr lang="en-US" altLang="zh-CN" sz="2400" baseline="-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r>
                        <a:rPr lang="en-US" altLang="zh-CN" sz="2400" i="1" baseline="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r>
                        <a:rPr lang="en-US" altLang="zh-CN" sz="2400" baseline="300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+1</a:t>
                      </a:r>
                      <a:r>
                        <a:rPr lang="en-US" altLang="zh-CN" sz="24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/ </a:t>
                      </a:r>
                      <a:r>
                        <a:rPr lang="en-US" altLang="zh-CN" sz="2400" i="1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Z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X=1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00/0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01/0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00/0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11/0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00/0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11/1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φ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φ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69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）触发器选择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目前中规模逻辑集成触发器主要有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J-K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触发器和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触发器两种，从原理来说，任何一种触发器都可以实现逻辑要求，但哪一种触发器使电路简单，则需要求出激励函数、输出函数后方可确定。从状态转换表可作出状态转换真值表。</a:t>
            </a:r>
          </a:p>
        </p:txBody>
      </p:sp>
    </p:spTree>
    <p:extLst>
      <p:ext uri="{BB962C8B-B14F-4D97-AF65-F5344CB8AC3E}">
        <p14:creationId xmlns:p14="http://schemas.microsoft.com/office/powerpoint/2010/main" val="27276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6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92385"/>
              </p:ext>
            </p:extLst>
          </p:nvPr>
        </p:nvGraphicFramePr>
        <p:xfrm>
          <a:off x="1873624" y="1822323"/>
          <a:ext cx="9403974" cy="4739841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013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62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1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6649">
                <a:tc>
                  <a:txBody>
                    <a:bodyPr/>
                    <a:lstStyle/>
                    <a:p>
                      <a:r>
                        <a:rPr kumimoji="1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X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24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2400" b="1" baseline="3000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24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altLang="zh-CN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24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2400" b="1" baseline="30000" dirty="0">
                          <a:solidFill>
                            <a:schemeClr val="bg1"/>
                          </a:solidFill>
                        </a:rPr>
                        <a:t>+1  </a:t>
                      </a: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24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2400" b="1" baseline="30000" dirty="0">
                          <a:solidFill>
                            <a:schemeClr val="bg1"/>
                          </a:solidFill>
                        </a:rPr>
                        <a:t>+1</a:t>
                      </a:r>
                      <a:endParaRPr lang="en-US" altLang="zh-CN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Z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k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k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altLang="zh-CN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D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2400" b="1" i="1" dirty="0">
                          <a:solidFill>
                            <a:schemeClr val="bg1"/>
                          </a:solidFill>
                        </a:rPr>
                        <a:t>D</a:t>
                      </a:r>
                      <a:r>
                        <a:rPr lang="en-US" altLang="zh-CN" sz="24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altLang="zh-CN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4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4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φφ1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4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φ1φ1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4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φφ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φφφφ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l-GR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64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0φ1φ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64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1φφ0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64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φ1φ1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664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φφ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φφφφ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φφ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8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）触发器选择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若选用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J-K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从上表可作出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的卡诺图，如图所示。从卡诺图可分别求出激励函数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和输出函数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752766"/>
              </p:ext>
            </p:extLst>
          </p:nvPr>
        </p:nvGraphicFramePr>
        <p:xfrm>
          <a:off x="203260" y="3358973"/>
          <a:ext cx="2226045" cy="2743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41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976"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zh-CN" sz="1800" b="1" i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1800" b="1" baseline="3000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indent="0"/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  <a:endParaRPr lang="en-US" altLang="zh-CN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603443" y="6119546"/>
            <a:ext cx="1425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XQ</a:t>
            </a:r>
            <a:r>
              <a:rPr kumimoji="1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0" lang="zh-CN" altLang="en-US" sz="3200" b="1" i="0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970878"/>
              </p:ext>
            </p:extLst>
          </p:nvPr>
        </p:nvGraphicFramePr>
        <p:xfrm>
          <a:off x="2602255" y="3376346"/>
          <a:ext cx="2226045" cy="2743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41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976"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zh-CN" sz="1800" b="1" i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1800" b="1" baseline="3000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indent="0"/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  <a:endParaRPr lang="en-US" altLang="zh-CN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3002440" y="6093212"/>
            <a:ext cx="1425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0" lang="zh-CN" altLang="en-US" sz="3200" b="1" i="0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020218"/>
              </p:ext>
            </p:extLst>
          </p:nvPr>
        </p:nvGraphicFramePr>
        <p:xfrm>
          <a:off x="5018124" y="3376346"/>
          <a:ext cx="2226045" cy="2743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41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976"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zh-CN" sz="1800" b="1" i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1800" b="1" baseline="3000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indent="0"/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5448141" y="6151529"/>
            <a:ext cx="11272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XQ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14330"/>
              </p:ext>
            </p:extLst>
          </p:nvPr>
        </p:nvGraphicFramePr>
        <p:xfrm>
          <a:off x="7433993" y="3376346"/>
          <a:ext cx="2226045" cy="2743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41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976"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zh-CN" sz="1800" b="1" i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1800" b="1" baseline="3000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indent="0"/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8086738" y="6120711"/>
            <a:ext cx="7521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j</a:t>
            </a:r>
            <a:r>
              <a:rPr lang="en-US" altLang="zh-CN" sz="2400" b="1" i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=X</a:t>
            </a:r>
            <a:endParaRPr lang="zh-CN" altLang="en-US" sz="2400" b="1" i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376534"/>
              </p:ext>
            </p:extLst>
          </p:nvPr>
        </p:nvGraphicFramePr>
        <p:xfrm>
          <a:off x="9849862" y="3376346"/>
          <a:ext cx="2226045" cy="2743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41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976"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zh-CN" sz="1800" b="1" i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1800" b="1" baseline="3000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indent="0"/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9790928" y="6151530"/>
            <a:ext cx="2395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Q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+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Q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</a:t>
            </a:r>
            <a:endParaRPr lang="en-US" altLang="zh-CN" sz="48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438965" y="6239185"/>
            <a:ext cx="29583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834" y="2728958"/>
            <a:ext cx="2229684" cy="51117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21" name="直接连接符 20"/>
          <p:cNvCxnSpPr/>
          <p:nvPr/>
        </p:nvCxnSpPr>
        <p:spPr>
          <a:xfrm>
            <a:off x="11438965" y="6151529"/>
            <a:ext cx="636942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1007165" y="6239185"/>
            <a:ext cx="202702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31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）触发器选择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②若选用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触发器，从状态真值表可作出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的卡诺图。从卡诺图可求出激励函数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D1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D2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和输出函数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（与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J-K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触发器是相同）。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976528"/>
              </p:ext>
            </p:extLst>
          </p:nvPr>
        </p:nvGraphicFramePr>
        <p:xfrm>
          <a:off x="3231683" y="3483923"/>
          <a:ext cx="2226045" cy="2743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41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976"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zh-CN" sz="1800" b="1" i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1800" b="1" baseline="3000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indent="0"/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372614" y="6227123"/>
            <a:ext cx="1944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XQ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Q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63097"/>
              </p:ext>
            </p:extLst>
          </p:nvPr>
        </p:nvGraphicFramePr>
        <p:xfrm>
          <a:off x="6770843" y="3483923"/>
          <a:ext cx="2226045" cy="2743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41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976"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zh-CN" sz="1800" b="1" i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altLang="zh-CN" sz="1800" b="1" baseline="3000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altLang="zh-CN" sz="1800" b="1" i="1" dirty="0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lang="en-US" altLang="zh-CN" sz="1800" b="1" baseline="-30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CN" sz="1800" b="1" i="1" baseline="30000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indent="0"/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88">
                <a:tc>
                  <a:txBody>
                    <a:bodyPr/>
                    <a:lstStyle/>
                    <a:p>
                      <a:pPr indent="0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2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Φ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171028" y="6200789"/>
            <a:ext cx="1425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en-US" altLang="zh-CN" sz="2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400" b="1" i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XQ</a:t>
            </a:r>
            <a:r>
              <a:rPr lang="en-US" altLang="zh-CN" sz="2400" b="1" baseline="-30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917" y="2781898"/>
            <a:ext cx="1324248" cy="53338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07379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497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）触发器选择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从上面讨论可知，采用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J-K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触发器需要两个与门和一个非门，采用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触发器也需要两个与门和一个与非门。虽然所需门电路个数相等，但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触发器要用一个三输入端与门，而用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J-K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触发器都是两输入端与门，因而相对而言，采用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J-K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触发器组成“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111”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序列检测器略方便些。</a:t>
            </a:r>
            <a:endParaRPr lang="en-US" altLang="zh-CN" sz="2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/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）“孤立”状态检查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在状态转换表中，假定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Q2Q1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时，次态为任意态，而按卡诺图所得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J2=0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k2=1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j1=1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k1=1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，即有时钟脉冲到来，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Q2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从“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状态转变为“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0”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状态。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Q1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在计数状态，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Q1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从原来的“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0”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状态转变为“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状态。同理当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X=“0”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Q2Q1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状态转变为</a:t>
            </a:r>
            <a:r>
              <a:rPr lang="en-US" altLang="zh-CN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状态，状态转换图所示。可见逻辑电路有具自启动功能。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562" y="5466738"/>
            <a:ext cx="3156467" cy="129264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968" y="5466738"/>
            <a:ext cx="3111250" cy="12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0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）画出逻辑图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按卡诺图（选用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J-K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触发器）求出的激励函数和输出函数可画出逻辑电路图。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34198"/>
            <a:ext cx="12192000" cy="331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0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）画出逻辑图</a:t>
            </a:r>
          </a:p>
          <a:p>
            <a:pPr indent="457200" algn="just" eaLnBrk="0" hangingPunct="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按卡诺图（选用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J-K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触发器）求出的激励函数和输出函数可画出逻辑电路图。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22349"/>
            <a:ext cx="12192000" cy="350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5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设计“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111”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序列检测器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409579" y="881372"/>
            <a:ext cx="11602312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设计</a:t>
            </a:r>
            <a:r>
              <a:rPr lang="zh-CN" altLang="en-US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111</a:t>
            </a:r>
            <a:r>
              <a:rPr lang="en-US" altLang="zh-CN" sz="2800" b="1" dirty="0">
                <a:solidFill>
                  <a:srgbClr val="FF0066"/>
                </a:solidFill>
                <a:ea typeface="新宋体" panose="02010609030101010101" pitchFamily="49" charset="-122"/>
              </a:rPr>
              <a:t>”</a:t>
            </a:r>
            <a:r>
              <a:rPr lang="zh-CN" altLang="en-US" sz="2800" b="1" dirty="0">
                <a:solidFill>
                  <a:srgbClr val="FF0066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序列检测器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eaLnBrk="0" hangingPunct="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）画出电路图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l="3296"/>
          <a:stretch/>
        </p:blipFill>
        <p:spPr>
          <a:xfrm>
            <a:off x="3005668" y="1685100"/>
            <a:ext cx="9078236" cy="492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5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设计“</a:t>
            </a:r>
            <a:r>
              <a:rPr lang="en-US" altLang="zh-CN" dirty="0"/>
              <a:t>111”</a:t>
            </a:r>
            <a:r>
              <a:rPr lang="zh-CN" altLang="en-US" dirty="0"/>
              <a:t>序列检测器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下一实验内容</a:t>
            </a:r>
            <a:endParaRPr lang="en-US" altLang="zh-CN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23487" y="2058356"/>
            <a:ext cx="54358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767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设计“</a:t>
            </a:r>
            <a:r>
              <a:rPr lang="en-US" altLang="zh-CN" dirty="0"/>
              <a:t>111”</a:t>
            </a:r>
            <a:r>
              <a:rPr lang="zh-CN" altLang="en-US" dirty="0"/>
              <a:t>序列检测器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下一实验内容</a:t>
            </a:r>
            <a:endParaRPr lang="en-US" altLang="zh-CN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23487" y="2058356"/>
            <a:ext cx="54358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915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187695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下一次实验内容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2728383" y="2178643"/>
            <a:ext cx="623781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555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定时器构成单稳态电路；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555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定时器构成多谐振荡器。</a:t>
            </a: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549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4">
            <a:extLst>
              <a:ext uri="{FF2B5EF4-FFF2-40B4-BE49-F238E27FC236}">
                <a16:creationId xmlns:a16="http://schemas.microsoft.com/office/drawing/2014/main" id="{E103A22C-9FB4-4E6A-A98A-B94881471114}"/>
              </a:ext>
            </a:extLst>
          </p:cNvPr>
          <p:cNvSpPr txBox="1"/>
          <p:nvPr/>
        </p:nvSpPr>
        <p:spPr>
          <a:xfrm>
            <a:off x="4609767" y="2795304"/>
            <a:ext cx="2728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F4B183"/>
                </a:solidFill>
                <a:latin typeface="微软雅黑 Light" panose="020B0502040204020203" pitchFamily="34" charset="-122"/>
              </a:rPr>
              <a:t>谢谢</a:t>
            </a:r>
            <a:endParaRPr lang="en-US" sz="6600" b="1" dirty="0">
              <a:solidFill>
                <a:srgbClr val="F4B183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:a16="http://schemas.microsoft.com/office/drawing/2014/main" id="{4E49163D-DFAB-41F1-AACE-58EEE9068C80}"/>
              </a:ext>
            </a:extLst>
          </p:cNvPr>
          <p:cNvSpPr/>
          <p:nvPr/>
        </p:nvSpPr>
        <p:spPr>
          <a:xfrm>
            <a:off x="2599935" y="2157468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:a16="http://schemas.microsoft.com/office/drawing/2014/main" id="{B1C3E434-2A4B-4365-B940-77631D63F6B9}"/>
              </a:ext>
            </a:extLst>
          </p:cNvPr>
          <p:cNvSpPr/>
          <p:nvPr/>
        </p:nvSpPr>
        <p:spPr>
          <a:xfrm rot="10800000">
            <a:off x="8821660" y="3878991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:a16="http://schemas.microsoft.com/office/drawing/2014/main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2982593" y="2444292"/>
            <a:ext cx="556739" cy="647769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5535</TotalTime>
  <Words>1450</Words>
  <Application>Microsoft Office PowerPoint</Application>
  <PresentationFormat>宽屏</PresentationFormat>
  <Paragraphs>372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 Unicode MS</vt:lpstr>
      <vt:lpstr>Dense</vt:lpstr>
      <vt:lpstr>等线</vt:lpstr>
      <vt:lpstr>等线 Light</vt:lpstr>
      <vt:lpstr>黑体</vt:lpstr>
      <vt:lpstr>宋体</vt:lpstr>
      <vt:lpstr>宋体-18030</vt:lpstr>
      <vt:lpstr>微软雅黑</vt:lpstr>
      <vt:lpstr>微软雅黑 Light</vt:lpstr>
      <vt:lpstr>新宋体</vt:lpstr>
      <vt:lpstr>Arial</vt:lpstr>
      <vt:lpstr>Times New Roman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黑色简洁</dc:title>
  <dc:creator>www.1ppt.com</dc:creator>
  <cp:keywords>第一PPT模板网-WWW.1PPT.COM</cp:keywords>
  <dc:description>www.1ppt.com</dc:description>
  <cp:lastModifiedBy>云 邱</cp:lastModifiedBy>
  <cp:revision>290</cp:revision>
  <dcterms:created xsi:type="dcterms:W3CDTF">2017-06-21T08:21:13Z</dcterms:created>
  <dcterms:modified xsi:type="dcterms:W3CDTF">2024-12-16T15:06:42Z</dcterms:modified>
</cp:coreProperties>
</file>