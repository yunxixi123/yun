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4" r:id="rId2"/>
    <p:sldId id="300" r:id="rId3"/>
    <p:sldId id="499" r:id="rId4"/>
    <p:sldId id="480" r:id="rId5"/>
    <p:sldId id="500" r:id="rId6"/>
    <p:sldId id="501" r:id="rId7"/>
    <p:sldId id="502" r:id="rId8"/>
    <p:sldId id="503" r:id="rId9"/>
    <p:sldId id="504" r:id="rId10"/>
    <p:sldId id="505" r:id="rId11"/>
    <p:sldId id="506" r:id="rId12"/>
    <p:sldId id="481" r:id="rId13"/>
    <p:sldId id="507" r:id="rId14"/>
    <p:sldId id="508" r:id="rId15"/>
    <p:sldId id="509" r:id="rId16"/>
    <p:sldId id="510" r:id="rId17"/>
    <p:sldId id="511" r:id="rId18"/>
    <p:sldId id="448" r:id="rId19"/>
    <p:sldId id="512" r:id="rId20"/>
    <p:sldId id="513" r:id="rId21"/>
    <p:sldId id="516" r:id="rId22"/>
    <p:sldId id="514" r:id="rId23"/>
    <p:sldId id="515" r:id="rId24"/>
    <p:sldId id="446" r:id="rId25"/>
    <p:sldId id="279" r:id="rId26"/>
  </p:sldIdLst>
  <p:sldSz cx="12192000" cy="6858000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FF00FF"/>
    <a:srgbClr val="00FF00"/>
    <a:srgbClr val="FF9900"/>
    <a:srgbClr val="2A2827"/>
    <a:srgbClr val="E7C5AE"/>
    <a:srgbClr val="8888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2" y="3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1" d="100"/>
        <a:sy n="91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A50B36-9D4A-468C-8410-95B1900814AF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98910-327C-4EAC-AB95-1250C2EE64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491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2458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416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6053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178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580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003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913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678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65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3039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517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422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698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709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388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1302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7098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749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4827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56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0413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844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6330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8917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F98910-327C-4EAC-AB95-1250C2EE640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12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D0F9E42-F9D7-4C60-A57F-7B43DAB945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48337574-F13C-45F3-9852-D6D7BA0D2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AD7B5407-D8F4-4821-A185-0AA59BE68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2610358-DB10-434D-97A5-F61C95D7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2914CE9-C3EE-4D56-84C2-6EF49A54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837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CF203FF-6B8D-4D88-A5FE-2C4C8A14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3AE0CDA-0B8B-4D29-A282-6E39664AD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EACD78AA-1C3D-40A0-A9F8-25FAB6C67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52296139-374D-4D22-AF1C-3B136D1D5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36CDD1D6-7DF0-497A-963E-9F4D7EB79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391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5614FA1-A850-4200-BFB8-E57801E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8741A292-A949-42F0-9BAF-F8BF941FA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018F77C-FFAC-4BF1-84FB-F6BA8B493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C8FEECD9-8BCD-4E86-9D45-05D685F2E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8B49A7C-2F33-4AC8-86D6-17EE028C6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6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610C2C5-7446-4188-B8B2-24F08ED8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7B9E4E7-F091-4B6E-9762-062EF23E5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96659D5B-F34C-4E6A-9069-5205D85DB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90BAECE3-5B6E-43E8-91F4-E09059E1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8999DD0F-FC30-4484-ACCC-F37FCBEB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F374CD93-9F63-4BF7-ADC1-D8B6683C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81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07185375-792C-4634-A289-5FAEA842B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148DF4EF-F992-4483-82FA-13709AA6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9E510978-59F2-472A-8412-C9F983CDF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1B1A449E-BF48-471C-81BE-7C769B7304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801AD99D-CE3E-4FF3-8DAA-06DE6D3548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="" xmlns:a16="http://schemas.microsoft.com/office/drawing/2014/main" id="{0827E751-DCA1-4EA7-B1BE-BD971D131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="" xmlns:a16="http://schemas.microsoft.com/office/drawing/2014/main" id="{0EBA1F3B-6DBD-4800-8125-931B7969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="" xmlns:a16="http://schemas.microsoft.com/office/drawing/2014/main" id="{3CC9BC08-EB6C-4F6D-91D5-83336937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46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9BED87E-BC58-42BE-AD81-3BBA67D95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B025C3A0-6B7F-4C15-995E-689FF929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4A9E1EFD-3D3C-41A8-AA29-C0188C9C9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337AF1C2-A64D-497E-88FD-8291E47EE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013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="" xmlns:a16="http://schemas.microsoft.com/office/drawing/2014/main" id="{EFC028E2-DBE9-4B66-A719-D75A9AF3A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="" xmlns:a16="http://schemas.microsoft.com/office/drawing/2014/main" id="{4DA90BB4-00EC-4298-9AFC-78599431A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3AA2E427-D671-4019-B801-499C7F58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455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B0E5DDBB-2059-4844-B59C-8AC509D57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0E8E58FE-2A80-43E9-916E-59900112D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E771CA6E-F12A-4682-95E6-A756C20036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CC34F04C-0323-4477-B74C-5BD46340A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1D06BA59-DD98-45C2-A486-63D19EFFA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A6CEECF6-F2EA-4546-9E4D-B49EDC9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877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1D0B7697-9D7C-4867-B5AD-95908B34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C75CF749-8C47-420E-8A3E-439711EB5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B13B6E65-478B-41DE-9F9C-E9ED1CE03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="" xmlns:a16="http://schemas.microsoft.com/office/drawing/2014/main" id="{837693AB-EA7A-42E1-9126-8D11E3E9F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08B81EF9-9079-4FDD-B003-27E25B33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CAF4EB10-9F92-4D36-A8CE-12536AFB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38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953DF850-13DD-4C22-9F7E-68D77C734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94D8F41C-E583-49A7-96F9-090045C362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2C8DFDA6-74FA-48D9-9B07-F62B9255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E693C984-3066-4EA1-B0C7-BEE57301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DF336CFB-6DE0-451E-9CB1-512A7AE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96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B0095FE0-9EB5-404E-8EDC-678051CC8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D9D693F2-F5F0-41A3-91DE-699E223809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6AAEF03-EEDA-4B0A-ACFD-716EA2C20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2EDB8F8D-DFAC-4182-8167-590F37F4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9759DB9-FCF5-4E7D-AD2D-81B8FAB7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776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8370" y="126928"/>
            <a:ext cx="9041230" cy="1126050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84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8F404207-36D3-4051-AB07-176E3EBC7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BB39DFF-BE2D-45F8-91EA-22D9B3A50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B65EFC4B-D78B-4EAA-886B-13E5F2AE58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7ECF6-13F7-4665-8CC8-E6D7D0DC7252}" type="datetimeFigureOut">
              <a:rPr lang="zh-CN" altLang="en-US" smtClean="0"/>
              <a:t>2021-11-23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3BE32043-75CC-4E33-BF77-E883A1E2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5300B5E-A5DB-4554-AC2C-1943E9ECF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76810-A8C4-4E47-9E58-14159F80C21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371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slow" p14:dur="1500" advTm="5000">
        <p:random/>
      </p:transition>
    </mc:Choice>
    <mc:Fallback xmlns="">
      <p:transition spd="slow" advTm="5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>
            <a:extLst>
              <a:ext uri="{FF2B5EF4-FFF2-40B4-BE49-F238E27FC236}">
                <a16:creationId xmlns="" xmlns:a16="http://schemas.microsoft.com/office/drawing/2014/main" id="{68D56DBF-52F8-4AA4-B877-9C93B61E2C36}"/>
              </a:ext>
            </a:extLst>
          </p:cNvPr>
          <p:cNvSpPr txBox="1"/>
          <p:nvPr/>
        </p:nvSpPr>
        <p:spPr>
          <a:xfrm>
            <a:off x="1185334" y="2641890"/>
            <a:ext cx="100180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锁存器与触发器</a:t>
            </a:r>
            <a:endParaRPr lang="en-US" altLang="zh-CN" sz="5400" b="1" dirty="0">
              <a:solidFill>
                <a:srgbClr val="F4B183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=""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1664753" y="1398932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=""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10090891" y="5430507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=""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1664752" y="1287475"/>
            <a:ext cx="224441" cy="291998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=""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2929676" y="4873858"/>
            <a:ext cx="6647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 smtClean="0">
                <a:solidFill>
                  <a:srgbClr val="E7C5AE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主讲人：</a:t>
            </a:r>
            <a:r>
              <a:rPr lang="en-US" altLang="zh-CN" sz="2400" b="1" dirty="0" smtClean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xxx</a:t>
            </a:r>
            <a:endParaRPr lang="en-US" sz="2400" b="1" dirty="0">
              <a:solidFill>
                <a:srgbClr val="E7C5AE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="" xmlns:a16="http://schemas.microsoft.com/office/drawing/2014/main" id="{6ACC7DA8-9234-4BAC-A657-EEB77B531E62}"/>
              </a:ext>
            </a:extLst>
          </p:cNvPr>
          <p:cNvSpPr txBox="1"/>
          <p:nvPr/>
        </p:nvSpPr>
        <p:spPr>
          <a:xfrm>
            <a:off x="7228374" y="5628499"/>
            <a:ext cx="2707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</a:t>
            </a:r>
            <a:r>
              <a:rPr lang="zh-CN" altLang="en-US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en-US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266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2800" dirty="0" smtClean="0"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触发器转换成</a:t>
            </a:r>
            <a:r>
              <a:rPr lang="en-US" altLang="zh-CN" sz="2800" dirty="0" smtClean="0"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触发器实验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1.1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用触发器构成计数器电路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11180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2800" dirty="0" smtClean="0"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触发器转换成</a:t>
            </a:r>
            <a:r>
              <a:rPr lang="en-US" altLang="zh-CN" sz="2800" dirty="0" smtClean="0"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触发器实验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用触发器构成计数器电路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7318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基本</a:t>
              </a:r>
              <a:r>
                <a:rPr lang="en-US" altLang="zh-CN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RS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触发器功能测试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3625515" y="929088"/>
            <a:ext cx="5112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两个与非门构成基本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触发器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767" y="2078567"/>
            <a:ext cx="4440713" cy="26066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1488" y="2078567"/>
            <a:ext cx="6372225" cy="3581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459134" y="5825066"/>
            <a:ext cx="33189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</a:t>
            </a:r>
            <a:r>
              <a:rPr lang="en-US" altLang="zh-CN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</a:t>
            </a:r>
            <a:r>
              <a:rPr lang="zh-CN" altLang="en-US" sz="20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触发器功能测试电路</a:t>
            </a:r>
            <a:endParaRPr lang="zh-CN" altLang="en-US" sz="20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659467" y="5207000"/>
            <a:ext cx="1608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基本</a:t>
            </a:r>
            <a:r>
              <a:rPr lang="en-US" altLang="zh-CN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RS</a:t>
            </a: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触发器</a:t>
            </a:r>
            <a:endParaRPr lang="zh-CN" altLang="en-US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951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基本</a:t>
              </a:r>
              <a:r>
                <a:rPr lang="en-US" altLang="zh-CN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RS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触发器功能测试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3430782" y="1030688"/>
            <a:ext cx="51120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74LS00</a:t>
            </a: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组成基本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触发器逻辑功能测试数据记录表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84624" y="6037376"/>
            <a:ext cx="980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注：当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同时为“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”后，再同时恢复到“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”，观察并记录下输出数据，多测几组。</a:t>
            </a:r>
            <a:endParaRPr lang="zh-CN" altLang="en-US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801" y="2010677"/>
            <a:ext cx="9134199" cy="399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184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集成</a:t>
              </a:r>
              <a:r>
                <a:rPr lang="en-US" altLang="zh-CN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功能测试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3079582" y="865735"/>
            <a:ext cx="6890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集成</a:t>
            </a:r>
            <a:r>
              <a:rPr lang="en-US" altLang="zh-CN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J-K</a:t>
            </a: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触发器的直接置位、复位功能测试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228" y="1851363"/>
            <a:ext cx="8759906" cy="395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40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集成</a:t>
              </a:r>
              <a:r>
                <a:rPr lang="en-US" altLang="zh-CN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功能测试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3079582" y="865735"/>
            <a:ext cx="6890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集成</a:t>
            </a:r>
            <a:r>
              <a:rPr lang="en-US" altLang="zh-CN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J-K</a:t>
            </a: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触发器的直接置位、复位功能测试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16666" y="5680333"/>
            <a:ext cx="743373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控制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记录触发器的输出状态。最后两项反复操作几遍，看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</a:t>
            </a:r>
            <a:r>
              <a:rPr lang="zh-CN" altLang="en-US" sz="20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同时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从“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1”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变为“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0”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后，输出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是否为同一状态。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357" y="1516152"/>
            <a:ext cx="9264361" cy="403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29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集成</a:t>
              </a:r>
              <a:r>
                <a:rPr lang="en-US" altLang="zh-CN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功能测试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3079582" y="865735"/>
            <a:ext cx="6890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集成</a:t>
            </a:r>
            <a:r>
              <a:rPr lang="en-US" altLang="zh-CN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J-K</a:t>
            </a: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触发器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</a:rPr>
              <a:t>的逻辑功能测试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796" y="1654704"/>
            <a:ext cx="10119604" cy="386556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171665" y="5587200"/>
            <a:ext cx="104478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/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令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R=S=1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，即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pin5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pin14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接高电平，设定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K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值分别为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0,0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(0,1)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(1,0)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(1,1)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，再调节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CLK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由高电平切换至低电平，或者由低电平切换至高电平，同时观察输出</a:t>
            </a:r>
            <a:r>
              <a:rPr lang="en-US" altLang="zh-CN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</a:t>
            </a:r>
            <a:r>
              <a:rPr lang="zh-CN" altLang="en-US" sz="24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的状态</a:t>
            </a:r>
            <a:r>
              <a: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0381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集成</a:t>
              </a:r>
              <a:r>
                <a:rPr lang="en-US" altLang="zh-CN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b="1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r>
                <a:rPr lang="zh-CN" altLang="en-US" sz="3200" b="1" dirty="0" smtClean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功能测试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/>
        </p:nvSpPr>
        <p:spPr>
          <a:xfrm>
            <a:off x="3079582" y="865735"/>
            <a:ext cx="6890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集成</a:t>
            </a:r>
            <a:r>
              <a:rPr lang="en-US" altLang="zh-CN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J-K</a:t>
            </a:r>
            <a:r>
              <a:rPr lang="zh-CN" altLang="en-US" sz="2800" b="1" dirty="0">
                <a:solidFill>
                  <a:srgbClr val="F4B183"/>
                </a:solidFill>
                <a:latin typeface="宋体" panose="02010600030101010101" pitchFamily="2" charset="-122"/>
              </a:rPr>
              <a:t>触发器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</a:rPr>
              <a:t>的逻辑功能测试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98637"/>
            <a:ext cx="1066800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19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en-US" altLang="zh-CN" sz="2800" dirty="0" smtClean="0"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触发器转换成</a:t>
            </a:r>
            <a:r>
              <a:rPr lang="en-US" altLang="zh-CN" sz="2800" dirty="0" smtClean="0"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触发器实验</a:t>
            </a:r>
            <a:endParaRPr lang="en-US" sz="2800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1.2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用触发器构成计数器电路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192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触发器转换成</a:t>
            </a:r>
            <a:r>
              <a:rPr lang="en-US" altLang="zh-CN" dirty="0"/>
              <a:t>JK</a:t>
            </a:r>
            <a:r>
              <a:rPr lang="zh-CN" altLang="en-US" dirty="0"/>
              <a:t>触发器实验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用触发器构成计数器电路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81973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4881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D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触发器转换成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矩形 2"/>
          <p:cNvSpPr/>
          <p:nvPr/>
        </p:nvSpPr>
        <p:spPr>
          <a:xfrm>
            <a:off x="1228876" y="1792954"/>
            <a:ext cx="992172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将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触发器转换成</a:t>
            </a:r>
            <a:r>
              <a:rPr lang="en-US" altLang="zh-CN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4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触发器。要求写出转换表达式，画出实验电路图，设计相关表格，并将结果填入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表格。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触发器特征方程：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触发器特征方程：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令上二式相等，则：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indent="457200"/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逻辑电路图见下页。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7963" y="2702866"/>
            <a:ext cx="3071369" cy="704134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963" y="3688851"/>
            <a:ext cx="1667457" cy="67162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342" y="4868891"/>
            <a:ext cx="3025191" cy="79077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11728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4881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D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触发器转换成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27" y="1612371"/>
            <a:ext cx="11182601" cy="417883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009906" y="5975542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逻辑电路图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91706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4881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D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触发器转换成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5954"/>
            <a:ext cx="12192000" cy="384000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973737" y="5814676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电路原理图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0980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488100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D</a:t>
              </a:r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触发器转换成</a:t>
              </a:r>
              <a:r>
                <a:rPr lang="en-US" altLang="zh-CN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JK</a:t>
              </a:r>
              <a:r>
                <a:rPr lang="zh-CN" altLang="en-US" sz="3200" dirty="0" smtClean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触发器</a:t>
              </a:r>
              <a:endParaRPr lang="en-US" altLang="zh-CN" sz="3200" dirty="0">
                <a:solidFill>
                  <a:schemeClr val="bg1"/>
                </a:solidFill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98637"/>
            <a:ext cx="10668000" cy="442912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3079582" y="898745"/>
            <a:ext cx="689008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800" b="1" dirty="0" smtClean="0">
                <a:solidFill>
                  <a:srgbClr val="F4B183"/>
                </a:solidFill>
                <a:latin typeface="宋体" panose="02010600030101010101" pitchFamily="2" charset="-122"/>
              </a:rPr>
              <a:t>逻辑功能测试</a:t>
            </a:r>
            <a:endParaRPr lang="en-US" altLang="zh-CN" sz="2400" b="1" baseline="-25000" dirty="0">
              <a:solidFill>
                <a:srgbClr val="F4B183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56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触发器转换成</a:t>
            </a:r>
            <a:r>
              <a:rPr lang="en-US" altLang="zh-CN" dirty="0"/>
              <a:t>JK</a:t>
            </a:r>
            <a:r>
              <a:rPr lang="zh-CN" altLang="en-US" dirty="0"/>
              <a:t>触发器实验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>
                <a:latin typeface="宋体-18030" pitchFamily="49" charset="-122"/>
                <a:ea typeface="宋体-18030" pitchFamily="49" charset="-122"/>
              </a:rPr>
              <a:t>用触发器构成计数器电路</a:t>
            </a:r>
            <a:r>
              <a:rPr lang="zh-CN" altLang="en-US" sz="2800" dirty="0" smtClean="0">
                <a:latin typeface="宋体-18030" pitchFamily="49" charset="-122"/>
                <a:ea typeface="宋体-18030" pitchFamily="49" charset="-122"/>
              </a:rPr>
              <a:t>实验</a:t>
            </a:r>
            <a:endParaRPr lang="en-US" sz="2800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1.3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09915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触发器转换成</a:t>
            </a:r>
            <a:r>
              <a:rPr lang="en-US" altLang="zh-CN" dirty="0"/>
              <a:t>JK</a:t>
            </a:r>
            <a:r>
              <a:rPr lang="zh-CN" altLang="en-US" dirty="0"/>
              <a:t>触发器实验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用触发器构成计数器电路实验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4637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用触发器构成计数器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1346200" y="1975963"/>
            <a:ext cx="960966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用触发器构成计数器电路。电路的时钟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输入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1KHz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脉冲波，用示波器同步观察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与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与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Q2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的波形，注意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D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触发器的时钟触发有效沿和各波形的时序对应关系。记录波形时先画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C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与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，然后对照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Q1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画</a:t>
            </a:r>
            <a:r>
              <a:rPr lang="en-US" altLang="zh-CN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Q2</a:t>
            </a:r>
            <a:r>
              <a:rPr lang="zh-CN" altLang="en-US" sz="28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。</a:t>
            </a:r>
            <a:endParaRPr lang="en-US" altLang="zh-CN" sz="28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801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用触发器构成计数器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127" y="2051579"/>
            <a:ext cx="8718077" cy="331628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4874439" y="5689704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逻辑电路图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6845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用触发器构成计数器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725" y="1709209"/>
            <a:ext cx="8629542" cy="4242858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889070" y="5952067"/>
            <a:ext cx="22445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电路原理图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49321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272033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宋体-18030" pitchFamily="49" charset="-122"/>
                  <a:ea typeface="宋体-18030" pitchFamily="49" charset="-122"/>
                </a:rPr>
                <a:t>用触发器构成计数器</a:t>
              </a:r>
              <a:endParaRPr lang="en-US" altLang="zh-CN" sz="32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459" y="1826708"/>
            <a:ext cx="7600092" cy="313795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62489" y="5240809"/>
            <a:ext cx="1029291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eaLnBrk="0" hangingPunct="0"/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调节</a:t>
            </a:r>
            <a:r>
              <a:rPr lang="en-US" altLang="zh-CN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CLK</a:t>
            </a:r>
            <a:r>
              <a:rPr lang="zh-CN" altLang="en-US" sz="28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由低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电平切换至高电平，同时观察输出</a:t>
            </a:r>
            <a:r>
              <a:rPr lang="en-US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Q0/Q1</a:t>
            </a:r>
            <a:r>
              <a:rPr lang="zh-CN" altLang="en-US" sz="2800" b="1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8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状态。</a:t>
            </a:r>
          </a:p>
        </p:txBody>
      </p:sp>
    </p:spTree>
    <p:extLst>
      <p:ext uri="{BB962C8B-B14F-4D97-AF65-F5344CB8AC3E}">
        <p14:creationId xmlns:p14="http://schemas.microsoft.com/office/powerpoint/2010/main" val="1208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触发器转换成</a:t>
            </a:r>
            <a:r>
              <a:rPr lang="en-US" altLang="zh-CN" dirty="0"/>
              <a:t>JK</a:t>
            </a:r>
            <a:r>
              <a:rPr lang="zh-CN" altLang="en-US" dirty="0"/>
              <a:t>触发器实验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用触发器构成计数器电路实验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1.4</a:t>
            </a:r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2800" dirty="0"/>
              <a:t>下一实验内容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66790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5">
            <a:extLst>
              <a:ext uri="{FF2B5EF4-FFF2-40B4-BE49-F238E27FC236}">
                <a16:creationId xmlns="" xmlns:a16="http://schemas.microsoft.com/office/drawing/2014/main" id="{6FC55A71-246E-47F2-8F14-500D79F16579}"/>
              </a:ext>
            </a:extLst>
          </p:cNvPr>
          <p:cNvSpPr txBox="1"/>
          <p:nvPr/>
        </p:nvSpPr>
        <p:spPr>
          <a:xfrm>
            <a:off x="4720021" y="2058356"/>
            <a:ext cx="5761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基本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RS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触发器与</a:t>
            </a:r>
            <a:r>
              <a:rPr lang="en-US" altLang="zh-CN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JK</a:t>
            </a:r>
            <a:r>
              <a:rPr lang="zh-CN" altLang="en-US" sz="2800" b="1" dirty="0" smtClean="0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rPr>
              <a:t>触发器功能测试</a:t>
            </a:r>
            <a:endParaRPr lang="en-US" sz="2800" dirty="0">
              <a:solidFill>
                <a:srgbClr val="F4B18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1" y="2807209"/>
            <a:ext cx="5482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en-US" altLang="zh-CN" dirty="0"/>
              <a:t>D</a:t>
            </a:r>
            <a:r>
              <a:rPr lang="zh-CN" altLang="en-US" dirty="0"/>
              <a:t>触发器转换成</a:t>
            </a:r>
            <a:r>
              <a:rPr lang="en-US" altLang="zh-CN" dirty="0"/>
              <a:t>JK</a:t>
            </a:r>
            <a:r>
              <a:rPr lang="zh-CN" altLang="en-US" dirty="0"/>
              <a:t>触发器实验</a:t>
            </a:r>
            <a:endParaRPr lang="en-US" dirty="0"/>
          </a:p>
        </p:txBody>
      </p:sp>
      <p:sp>
        <p:nvSpPr>
          <p:cNvPr id="10" name="TextBox 35">
            <a:extLst>
              <a:ext uri="{FF2B5EF4-FFF2-40B4-BE49-F238E27FC236}">
                <a16:creationId xmlns="" xmlns:a16="http://schemas.microsoft.com/office/drawing/2014/main" id="{DD2F4992-1DB8-44FE-BA39-AB8DC1B60D58}"/>
              </a:ext>
            </a:extLst>
          </p:cNvPr>
          <p:cNvSpPr txBox="1"/>
          <p:nvPr/>
        </p:nvSpPr>
        <p:spPr>
          <a:xfrm>
            <a:off x="4007431" y="2058356"/>
            <a:ext cx="575696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1.1</a:t>
            </a:r>
          </a:p>
        </p:txBody>
      </p:sp>
      <p:sp>
        <p:nvSpPr>
          <p:cNvPr id="11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2811059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1.2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="" xmlns:a16="http://schemas.microsoft.com/office/drawing/2014/main" id="{5F06A832-0719-434D-BECD-100A3E602001}"/>
              </a:ext>
            </a:extLst>
          </p:cNvPr>
          <p:cNvGrpSpPr/>
          <p:nvPr/>
        </p:nvGrpSpPr>
        <p:grpSpPr>
          <a:xfrm>
            <a:off x="134487" y="634029"/>
            <a:ext cx="10533513" cy="523220"/>
            <a:chOff x="134487" y="634029"/>
            <a:chExt cx="10533513" cy="523220"/>
          </a:xfrm>
        </p:grpSpPr>
        <p:sp>
          <p:nvSpPr>
            <p:cNvPr id="16" name="TextBox 39">
              <a:extLst>
                <a:ext uri="{FF2B5EF4-FFF2-40B4-BE49-F238E27FC236}">
                  <a16:creationId xmlns="" xmlns:a16="http://schemas.microsoft.com/office/drawing/2014/main" id="{01CCFE2A-9377-46E5-8014-F7FD6A7E435F}"/>
                </a:ext>
              </a:extLst>
            </p:cNvPr>
            <p:cNvSpPr txBox="1"/>
            <p:nvPr/>
          </p:nvSpPr>
          <p:spPr>
            <a:xfrm>
              <a:off x="395986" y="634029"/>
              <a:ext cx="16209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课程内容</a:t>
              </a:r>
              <a:endParaRPr lang="en-US" sz="2800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17" name="Rectangle 41">
              <a:extLst>
                <a:ext uri="{FF2B5EF4-FFF2-40B4-BE49-F238E27FC236}">
                  <a16:creationId xmlns="" xmlns:a16="http://schemas.microsoft.com/office/drawing/2014/main" id="{377149C8-53AC-4B01-B372-DC02B7E67F89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41">
              <a:extLst>
                <a:ext uri="{FF2B5EF4-FFF2-40B4-BE49-F238E27FC236}">
                  <a16:creationId xmlns="" xmlns:a16="http://schemas.microsoft.com/office/drawing/2014/main" id="{0833573A-5537-4237-B3E9-B32B635B5266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="" xmlns:a16="http://schemas.microsoft.com/office/drawing/2014/main" id="{5FE478D5-9FD0-4828-BC5D-6C1B7784779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20" y="3599467"/>
            <a:ext cx="54823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用触发器构成计数器电路实验</a:t>
            </a:r>
            <a:endParaRPr lang="en-US" dirty="0"/>
          </a:p>
        </p:txBody>
      </p:sp>
      <p:sp>
        <p:nvSpPr>
          <p:cNvPr id="14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10044" y="3602335"/>
            <a:ext cx="596294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1.3</a:t>
            </a:r>
          </a:p>
        </p:txBody>
      </p:sp>
      <p:sp>
        <p:nvSpPr>
          <p:cNvPr id="15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2634" y="43821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 b="1">
                <a:solidFill>
                  <a:srgbClr val="F4B18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18" name="TextBox 36">
            <a:extLst>
              <a:ext uri="{FF2B5EF4-FFF2-40B4-BE49-F238E27FC236}">
                <a16:creationId xmlns="" xmlns:a16="http://schemas.microsoft.com/office/drawing/2014/main" id="{E82C7E1B-9E99-446C-80CA-507093B849EA}"/>
              </a:ext>
            </a:extLst>
          </p:cNvPr>
          <p:cNvSpPr txBox="1"/>
          <p:nvPr/>
        </p:nvSpPr>
        <p:spPr>
          <a:xfrm>
            <a:off x="4007431" y="4393611"/>
            <a:ext cx="601521" cy="510778"/>
          </a:xfrm>
          <a:prstGeom prst="roundRect">
            <a:avLst/>
          </a:prstGeom>
          <a:solidFill>
            <a:srgbClr val="F4B183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 b="1">
                <a:solidFill>
                  <a:schemeClr val="tx1">
                    <a:lumMod val="95000"/>
                    <a:lumOff val="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r>
              <a:rPr lang="en-US" dirty="0"/>
              <a:t>1.4</a:t>
            </a:r>
          </a:p>
        </p:txBody>
      </p:sp>
      <p:sp>
        <p:nvSpPr>
          <p:cNvPr id="21" name="TextBox 28">
            <a:extLst>
              <a:ext uri="{FF2B5EF4-FFF2-40B4-BE49-F238E27FC236}">
                <a16:creationId xmlns="" xmlns:a16="http://schemas.microsoft.com/office/drawing/2014/main" id="{F4677480-DEB3-4FF5-A386-23B69DE254D0}"/>
              </a:ext>
            </a:extLst>
          </p:cNvPr>
          <p:cNvSpPr txBox="1"/>
          <p:nvPr/>
        </p:nvSpPr>
        <p:spPr>
          <a:xfrm>
            <a:off x="4720019" y="4391725"/>
            <a:ext cx="40509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rgbClr val="F4B183"/>
                </a:solidFill>
                <a:latin typeface="宋体-18030" pitchFamily="49" charset="-122"/>
                <a:ea typeface="宋体-18030" pitchFamily="49" charset="-122"/>
              </a:defRPr>
            </a:lvl1pPr>
          </a:lstStyle>
          <a:p>
            <a:r>
              <a:rPr lang="zh-CN" altLang="en-US" dirty="0"/>
              <a:t>下一实验内容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94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>
            <a:extLst>
              <a:ext uri="{FF2B5EF4-FFF2-40B4-BE49-F238E27FC236}">
                <a16:creationId xmlns="" xmlns:a16="http://schemas.microsoft.com/office/drawing/2014/main" id="{878FDAB9-8BBA-45D5-ACD4-4AEDCE604D81}"/>
              </a:ext>
            </a:extLst>
          </p:cNvPr>
          <p:cNvGrpSpPr/>
          <p:nvPr/>
        </p:nvGrpSpPr>
        <p:grpSpPr>
          <a:xfrm>
            <a:off x="134487" y="360136"/>
            <a:ext cx="10533513" cy="1077218"/>
            <a:chOff x="134487" y="360136"/>
            <a:chExt cx="10533513" cy="1077218"/>
          </a:xfrm>
        </p:grpSpPr>
        <p:sp>
          <p:nvSpPr>
            <p:cNvPr id="58" name="TextBox 39">
              <a:extLst>
                <a:ext uri="{FF2B5EF4-FFF2-40B4-BE49-F238E27FC236}">
                  <a16:creationId xmlns="" xmlns:a16="http://schemas.microsoft.com/office/drawing/2014/main" id="{73D0C4CC-4D6B-4ADC-8845-CE991CD029C0}"/>
                </a:ext>
              </a:extLst>
            </p:cNvPr>
            <p:cNvSpPr txBox="1"/>
            <p:nvPr/>
          </p:nvSpPr>
          <p:spPr>
            <a:xfrm>
              <a:off x="187695" y="360136"/>
              <a:ext cx="234342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 smtClean="0">
                  <a:solidFill>
                    <a:schemeClr val="bg1">
                      <a:lumMod val="95000"/>
                    </a:schemeClr>
                  </a:solidFill>
                  <a:latin typeface="Dense" panose="02000000000000000000" pitchFamily="50" charset="0"/>
                  <a:ea typeface="微软雅黑 Light" panose="020B0502040204020203" pitchFamily="34" charset="-122"/>
                </a:rPr>
                <a:t>下一次实验内容</a:t>
              </a:r>
              <a:endParaRPr lang="en-US" altLang="zh-CN" sz="3200" b="1" dirty="0">
                <a:solidFill>
                  <a:schemeClr val="bg1">
                    <a:lumMod val="95000"/>
                  </a:schemeClr>
                </a:solidFill>
                <a:latin typeface="Dense" panose="02000000000000000000" pitchFamily="50" charset="0"/>
                <a:ea typeface="微软雅黑 Light" panose="020B0502040204020203" pitchFamily="34" charset="-122"/>
              </a:endParaRPr>
            </a:p>
          </p:txBody>
        </p:sp>
        <p:sp>
          <p:nvSpPr>
            <p:cNvPr id="59" name="Rectangle 41">
              <a:extLst>
                <a:ext uri="{FF2B5EF4-FFF2-40B4-BE49-F238E27FC236}">
                  <a16:creationId xmlns="" xmlns:a16="http://schemas.microsoft.com/office/drawing/2014/main" id="{F62FAB1A-E805-4249-81E4-61CF61880154}"/>
                </a:ext>
              </a:extLst>
            </p:cNvPr>
            <p:cNvSpPr/>
            <p:nvPr/>
          </p:nvSpPr>
          <p:spPr>
            <a:xfrm rot="16200000">
              <a:off x="95249" y="885029"/>
              <a:ext cx="457200" cy="27432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41">
              <a:extLst>
                <a:ext uri="{FF2B5EF4-FFF2-40B4-BE49-F238E27FC236}">
                  <a16:creationId xmlns="" xmlns:a16="http://schemas.microsoft.com/office/drawing/2014/main" id="{94AF881B-7CBD-4C73-8261-CFE1CAFC7C87}"/>
                </a:ext>
              </a:extLst>
            </p:cNvPr>
            <p:cNvSpPr/>
            <p:nvPr/>
          </p:nvSpPr>
          <p:spPr>
            <a:xfrm rot="16200000">
              <a:off x="-25340" y="829973"/>
              <a:ext cx="457200" cy="137545"/>
            </a:xfrm>
            <a:prstGeom prst="rect">
              <a:avLst/>
            </a:prstGeom>
            <a:solidFill>
              <a:srgbClr val="F4B18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直接连接符 61">
              <a:extLst>
                <a:ext uri="{FF2B5EF4-FFF2-40B4-BE49-F238E27FC236}">
                  <a16:creationId xmlns="" xmlns:a16="http://schemas.microsoft.com/office/drawing/2014/main" id="{FA428144-60CC-4049-972D-3AB2D6F94AF1}"/>
                </a:ext>
              </a:extLst>
            </p:cNvPr>
            <p:cNvCxnSpPr/>
            <p:nvPr/>
          </p:nvCxnSpPr>
          <p:spPr>
            <a:xfrm>
              <a:off x="2381250" y="898745"/>
              <a:ext cx="828675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7"/>
          <p:cNvSpPr/>
          <p:nvPr/>
        </p:nvSpPr>
        <p:spPr>
          <a:xfrm>
            <a:off x="540767" y="1916177"/>
            <a:ext cx="11354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验证计数器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的逻辑功能；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分别利用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的清零端和置数端实现模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M10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的计数器；</a:t>
            </a:r>
            <a:endParaRPr lang="en-US" altLang="zh-CN" sz="2400" b="1" dirty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利用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74LS161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和</a:t>
            </a:r>
            <a:r>
              <a:rPr lang="en-US" altLang="zh-CN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74LS04</a:t>
            </a:r>
            <a:r>
              <a:rPr lang="zh-CN" altLang="en-US" sz="2400" b="1" dirty="0" smtClean="0">
                <a:solidFill>
                  <a:schemeClr val="bg1"/>
                </a:solidFill>
                <a:latin typeface="宋体-18030" pitchFamily="49" charset="-122"/>
                <a:ea typeface="宋体-18030" pitchFamily="49" charset="-122"/>
              </a:rPr>
              <a:t>设计二十五进制的计数器。</a:t>
            </a: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  <a:p>
            <a:pPr marL="457200" indent="-457200">
              <a:buFont typeface="+mj-lt"/>
              <a:buAutoNum type="arabicPeriod"/>
            </a:pPr>
            <a:endParaRPr lang="en-US" altLang="zh-CN" sz="2400" b="1" dirty="0" smtClean="0">
              <a:solidFill>
                <a:schemeClr val="bg1"/>
              </a:solidFill>
              <a:latin typeface="宋体-18030" pitchFamily="49" charset="-122"/>
              <a:ea typeface="宋体-1803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5490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="" xmlns:a16="http://schemas.microsoft.com/office/drawing/2014/main" id="{E103A22C-9FB4-4E6A-A98A-B94881471114}"/>
              </a:ext>
            </a:extLst>
          </p:cNvPr>
          <p:cNvSpPr txBox="1"/>
          <p:nvPr/>
        </p:nvSpPr>
        <p:spPr>
          <a:xfrm>
            <a:off x="4609767" y="2795304"/>
            <a:ext cx="27287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 smtClean="0">
                <a:solidFill>
                  <a:srgbClr val="F4B183"/>
                </a:solidFill>
                <a:latin typeface="微软雅黑 Light" panose="020B0502040204020203" pitchFamily="34" charset="-122"/>
              </a:rPr>
              <a:t>谢谢</a:t>
            </a:r>
            <a:endParaRPr lang="en-US" sz="6600" b="1" dirty="0">
              <a:solidFill>
                <a:srgbClr val="F4B183"/>
              </a:solidFill>
              <a:latin typeface="微软雅黑 Light" panose="020B0502040204020203" pitchFamily="34" charset="-122"/>
            </a:endParaRPr>
          </a:p>
        </p:txBody>
      </p:sp>
      <p:sp>
        <p:nvSpPr>
          <p:cNvPr id="29" name="KSO_Shape">
            <a:extLst>
              <a:ext uri="{FF2B5EF4-FFF2-40B4-BE49-F238E27FC236}">
                <a16:creationId xmlns="" xmlns:a16="http://schemas.microsoft.com/office/drawing/2014/main" id="{4E49163D-DFAB-41F1-AACE-58EEE9068C80}"/>
              </a:ext>
            </a:extLst>
          </p:cNvPr>
          <p:cNvSpPr/>
          <p:nvPr/>
        </p:nvSpPr>
        <p:spPr>
          <a:xfrm>
            <a:off x="2599935" y="2157468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1" name="KSO_Shape">
            <a:extLst>
              <a:ext uri="{FF2B5EF4-FFF2-40B4-BE49-F238E27FC236}">
                <a16:creationId xmlns="" xmlns:a16="http://schemas.microsoft.com/office/drawing/2014/main" id="{B1C3E434-2A4B-4365-B940-77631D63F6B9}"/>
              </a:ext>
            </a:extLst>
          </p:cNvPr>
          <p:cNvSpPr/>
          <p:nvPr/>
        </p:nvSpPr>
        <p:spPr>
          <a:xfrm rot="10800000">
            <a:off x="8821660" y="3878991"/>
            <a:ext cx="765316" cy="765316"/>
          </a:xfrm>
          <a:custGeom>
            <a:avLst/>
            <a:gdLst>
              <a:gd name="connsiteX0" fmla="*/ 386329 w 1380180"/>
              <a:gd name="connsiteY0" fmla="*/ 0 h 1380181"/>
              <a:gd name="connsiteX1" fmla="*/ 432048 w 1380180"/>
              <a:gd name="connsiteY1" fmla="*/ 0 h 1380181"/>
              <a:gd name="connsiteX2" fmla="*/ 432048 w 1380180"/>
              <a:gd name="connsiteY2" fmla="*/ 386329 h 1380181"/>
              <a:gd name="connsiteX3" fmla="*/ 1380180 w 1380180"/>
              <a:gd name="connsiteY3" fmla="*/ 386329 h 1380181"/>
              <a:gd name="connsiteX4" fmla="*/ 1380180 w 1380180"/>
              <a:gd name="connsiteY4" fmla="*/ 432048 h 1380181"/>
              <a:gd name="connsiteX5" fmla="*/ 432048 w 1380180"/>
              <a:gd name="connsiteY5" fmla="*/ 432048 h 1380181"/>
              <a:gd name="connsiteX6" fmla="*/ 432048 w 1380180"/>
              <a:gd name="connsiteY6" fmla="*/ 1380181 h 1380181"/>
              <a:gd name="connsiteX7" fmla="*/ 386329 w 1380180"/>
              <a:gd name="connsiteY7" fmla="*/ 1380181 h 1380181"/>
              <a:gd name="connsiteX8" fmla="*/ 386329 w 1380180"/>
              <a:gd name="connsiteY8" fmla="*/ 432048 h 1380181"/>
              <a:gd name="connsiteX9" fmla="*/ 0 w 1380180"/>
              <a:gd name="connsiteY9" fmla="*/ 432048 h 1380181"/>
              <a:gd name="connsiteX10" fmla="*/ 0 w 1380180"/>
              <a:gd name="connsiteY10" fmla="*/ 386329 h 1380181"/>
              <a:gd name="connsiteX11" fmla="*/ 386329 w 1380180"/>
              <a:gd name="connsiteY11" fmla="*/ 386329 h 13801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0180" h="1380181">
                <a:moveTo>
                  <a:pt x="386329" y="0"/>
                </a:moveTo>
                <a:lnTo>
                  <a:pt x="432048" y="0"/>
                </a:lnTo>
                <a:lnTo>
                  <a:pt x="432048" y="386329"/>
                </a:lnTo>
                <a:lnTo>
                  <a:pt x="1380180" y="386329"/>
                </a:lnTo>
                <a:lnTo>
                  <a:pt x="1380180" y="432048"/>
                </a:lnTo>
                <a:lnTo>
                  <a:pt x="432048" y="432048"/>
                </a:lnTo>
                <a:lnTo>
                  <a:pt x="432048" y="1380181"/>
                </a:lnTo>
                <a:lnTo>
                  <a:pt x="386329" y="1380181"/>
                </a:lnTo>
                <a:lnTo>
                  <a:pt x="386329" y="432048"/>
                </a:lnTo>
                <a:lnTo>
                  <a:pt x="0" y="432048"/>
                </a:lnTo>
                <a:lnTo>
                  <a:pt x="0" y="386329"/>
                </a:lnTo>
                <a:lnTo>
                  <a:pt x="386329" y="386329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4" name="KSO_Shape">
            <a:extLst>
              <a:ext uri="{FF2B5EF4-FFF2-40B4-BE49-F238E27FC236}">
                <a16:creationId xmlns="" xmlns:a16="http://schemas.microsoft.com/office/drawing/2014/main" id="{2D4135F2-ABE8-425F-B506-579321AA1BCC}"/>
              </a:ext>
            </a:extLst>
          </p:cNvPr>
          <p:cNvSpPr>
            <a:spLocks/>
          </p:cNvSpPr>
          <p:nvPr/>
        </p:nvSpPr>
        <p:spPr bwMode="auto">
          <a:xfrm>
            <a:off x="2982593" y="2444292"/>
            <a:ext cx="556739" cy="647769"/>
          </a:xfrm>
          <a:custGeom>
            <a:avLst/>
            <a:gdLst>
              <a:gd name="T0" fmla="*/ 894085 w 4268"/>
              <a:gd name="T1" fmla="*/ 1679836 h 5034"/>
              <a:gd name="T2" fmla="*/ 695736 w 4268"/>
              <a:gd name="T3" fmla="*/ 1585986 h 5034"/>
              <a:gd name="T4" fmla="*/ 499280 w 4268"/>
              <a:gd name="T5" fmla="*/ 1455429 h 5034"/>
              <a:gd name="T6" fmla="*/ 311151 w 4268"/>
              <a:gd name="T7" fmla="*/ 1274163 h 5034"/>
              <a:gd name="T8" fmla="*/ 154818 w 4268"/>
              <a:gd name="T9" fmla="*/ 1035375 h 5034"/>
              <a:gd name="T10" fmla="*/ 85169 w 4268"/>
              <a:gd name="T11" fmla="*/ 858272 h 5034"/>
              <a:gd name="T12" fmla="*/ 47316 w 4268"/>
              <a:gd name="T13" fmla="*/ 693656 h 5034"/>
              <a:gd name="T14" fmla="*/ 27633 w 4268"/>
              <a:gd name="T15" fmla="*/ 597914 h 5034"/>
              <a:gd name="T16" fmla="*/ 757 w 4268"/>
              <a:gd name="T17" fmla="*/ 830647 h 5034"/>
              <a:gd name="T18" fmla="*/ 11356 w 4268"/>
              <a:gd name="T19" fmla="*/ 1056567 h 5034"/>
              <a:gd name="T20" fmla="*/ 50723 w 4268"/>
              <a:gd name="T21" fmla="*/ 1251079 h 5034"/>
              <a:gd name="T22" fmla="*/ 127564 w 4268"/>
              <a:gd name="T23" fmla="*/ 1457700 h 5034"/>
              <a:gd name="T24" fmla="*/ 227117 w 4268"/>
              <a:gd name="T25" fmla="*/ 1628749 h 5034"/>
              <a:gd name="T26" fmla="*/ 332348 w 4268"/>
              <a:gd name="T27" fmla="*/ 1749467 h 5034"/>
              <a:gd name="T28" fmla="*/ 444771 w 4268"/>
              <a:gd name="T29" fmla="*/ 1832342 h 5034"/>
              <a:gd name="T30" fmla="*/ 560980 w 4268"/>
              <a:gd name="T31" fmla="*/ 1881538 h 5034"/>
              <a:gd name="T32" fmla="*/ 676431 w 4268"/>
              <a:gd name="T33" fmla="*/ 1903108 h 5034"/>
              <a:gd name="T34" fmla="*/ 843362 w 4268"/>
              <a:gd name="T35" fmla="*/ 1892512 h 5034"/>
              <a:gd name="T36" fmla="*/ 1038683 w 4268"/>
              <a:gd name="T37" fmla="*/ 1858832 h 5034"/>
              <a:gd name="T38" fmla="*/ 1322201 w 4268"/>
              <a:gd name="T39" fmla="*/ 1838775 h 5034"/>
              <a:gd name="T40" fmla="*/ 1516008 w 4268"/>
              <a:gd name="T41" fmla="*/ 1785039 h 5034"/>
              <a:gd name="T42" fmla="*/ 1579979 w 4268"/>
              <a:gd name="T43" fmla="*/ 1750602 h 5034"/>
              <a:gd name="T44" fmla="*/ 1398664 w 4268"/>
              <a:gd name="T45" fmla="*/ 1771037 h 5034"/>
              <a:gd name="T46" fmla="*/ 1156406 w 4268"/>
              <a:gd name="T47" fmla="*/ 1752872 h 5034"/>
              <a:gd name="T48" fmla="*/ 157089 w 4268"/>
              <a:gd name="T49" fmla="*/ 73036 h 5034"/>
              <a:gd name="T50" fmla="*/ 126807 w 4268"/>
              <a:gd name="T51" fmla="*/ 278522 h 5034"/>
              <a:gd name="T52" fmla="*/ 120751 w 4268"/>
              <a:gd name="T53" fmla="*/ 466979 h 5034"/>
              <a:gd name="T54" fmla="*/ 135135 w 4268"/>
              <a:gd name="T55" fmla="*/ 637271 h 5034"/>
              <a:gd name="T56" fmla="*/ 171474 w 4268"/>
              <a:gd name="T57" fmla="*/ 576344 h 5034"/>
              <a:gd name="T58" fmla="*/ 238473 w 4268"/>
              <a:gd name="T59" fmla="*/ 459788 h 5034"/>
              <a:gd name="T60" fmla="*/ 209705 w 4268"/>
              <a:gd name="T61" fmla="*/ 571803 h 5034"/>
              <a:gd name="T62" fmla="*/ 193428 w 4268"/>
              <a:gd name="T63" fmla="*/ 742095 h 5034"/>
              <a:gd name="T64" fmla="*/ 209326 w 4268"/>
              <a:gd name="T65" fmla="*/ 910495 h 5034"/>
              <a:gd name="T66" fmla="*/ 282761 w 4268"/>
              <a:gd name="T67" fmla="*/ 1059973 h 5034"/>
              <a:gd name="T68" fmla="*/ 341812 w 4268"/>
              <a:gd name="T69" fmla="*/ 1099330 h 5034"/>
              <a:gd name="T70" fmla="*/ 369066 w 4268"/>
              <a:gd name="T71" fmla="*/ 912765 h 5034"/>
              <a:gd name="T72" fmla="*/ 420924 w 4268"/>
              <a:gd name="T73" fmla="*/ 767449 h 5034"/>
              <a:gd name="T74" fmla="*/ 430009 w 4268"/>
              <a:gd name="T75" fmla="*/ 818537 h 5034"/>
              <a:gd name="T76" fmla="*/ 428116 w 4268"/>
              <a:gd name="T77" fmla="*/ 1022887 h 5034"/>
              <a:gd name="T78" fmla="*/ 465212 w 4268"/>
              <a:gd name="T79" fmla="*/ 1249565 h 5034"/>
              <a:gd name="T80" fmla="*/ 610567 w 4268"/>
              <a:gd name="T81" fmla="*/ 1416073 h 5034"/>
              <a:gd name="T82" fmla="*/ 668103 w 4268"/>
              <a:gd name="T83" fmla="*/ 1328278 h 5034"/>
              <a:gd name="T84" fmla="*/ 670753 w 4268"/>
              <a:gd name="T85" fmla="*/ 1121657 h 5034"/>
              <a:gd name="T86" fmla="*/ 705578 w 4268"/>
              <a:gd name="T87" fmla="*/ 961961 h 5034"/>
              <a:gd name="T88" fmla="*/ 719205 w 4268"/>
              <a:gd name="T89" fmla="*/ 1091004 h 5034"/>
              <a:gd name="T90" fmla="*/ 760464 w 4268"/>
              <a:gd name="T91" fmla="*/ 1298760 h 5034"/>
              <a:gd name="T92" fmla="*/ 840713 w 4268"/>
              <a:gd name="T93" fmla="*/ 1521654 h 5034"/>
              <a:gd name="T94" fmla="*/ 1029977 w 4268"/>
              <a:gd name="T95" fmla="*/ 1631776 h 5034"/>
              <a:gd name="T96" fmla="*/ 1163976 w 4268"/>
              <a:gd name="T97" fmla="*/ 1661672 h 5034"/>
              <a:gd name="T98" fmla="*/ 1198044 w 4268"/>
              <a:gd name="T99" fmla="*/ 1469052 h 5034"/>
              <a:gd name="T100" fmla="*/ 1196151 w 4268"/>
              <a:gd name="T101" fmla="*/ 1309735 h 5034"/>
              <a:gd name="T102" fmla="*/ 1159434 w 4268"/>
              <a:gd name="T103" fmla="*/ 1126198 h 5034"/>
              <a:gd name="T104" fmla="*/ 1071237 w 4268"/>
              <a:gd name="T105" fmla="*/ 931308 h 5034"/>
              <a:gd name="T106" fmla="*/ 914147 w 4268"/>
              <a:gd name="T107" fmla="*/ 737932 h 5034"/>
              <a:gd name="T108" fmla="*/ 674917 w 4268"/>
              <a:gd name="T109" fmla="*/ 549097 h 5034"/>
              <a:gd name="T110" fmla="*/ 403890 w 4268"/>
              <a:gd name="T111" fmla="*/ 298579 h 5034"/>
              <a:gd name="T112" fmla="*/ 239987 w 4268"/>
              <a:gd name="T113" fmla="*/ 101797 h 5034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0" t="0" r="r" b="b"/>
            <a:pathLst>
              <a:path w="4268" h="5034">
                <a:moveTo>
                  <a:pt x="2846" y="4597"/>
                </a:moveTo>
                <a:lnTo>
                  <a:pt x="2846" y="4597"/>
                </a:lnTo>
                <a:lnTo>
                  <a:pt x="2803" y="4585"/>
                </a:lnTo>
                <a:lnTo>
                  <a:pt x="2749" y="4571"/>
                </a:lnTo>
                <a:lnTo>
                  <a:pt x="2687" y="4553"/>
                </a:lnTo>
                <a:lnTo>
                  <a:pt x="2617" y="4531"/>
                </a:lnTo>
                <a:lnTo>
                  <a:pt x="2538" y="4504"/>
                </a:lnTo>
                <a:lnTo>
                  <a:pt x="2454" y="4474"/>
                </a:lnTo>
                <a:lnTo>
                  <a:pt x="2362" y="4439"/>
                </a:lnTo>
                <a:lnTo>
                  <a:pt x="2265" y="4399"/>
                </a:lnTo>
                <a:lnTo>
                  <a:pt x="2215" y="4378"/>
                </a:lnTo>
                <a:lnTo>
                  <a:pt x="2164" y="4355"/>
                </a:lnTo>
                <a:lnTo>
                  <a:pt x="2112" y="4331"/>
                </a:lnTo>
                <a:lnTo>
                  <a:pt x="2059" y="4305"/>
                </a:lnTo>
                <a:lnTo>
                  <a:pt x="2004" y="4279"/>
                </a:lnTo>
                <a:lnTo>
                  <a:pt x="1950" y="4251"/>
                </a:lnTo>
                <a:lnTo>
                  <a:pt x="1894" y="4222"/>
                </a:lnTo>
                <a:lnTo>
                  <a:pt x="1838" y="4191"/>
                </a:lnTo>
                <a:lnTo>
                  <a:pt x="1781" y="4158"/>
                </a:lnTo>
                <a:lnTo>
                  <a:pt x="1724" y="4125"/>
                </a:lnTo>
                <a:lnTo>
                  <a:pt x="1666" y="4089"/>
                </a:lnTo>
                <a:lnTo>
                  <a:pt x="1608" y="4052"/>
                </a:lnTo>
                <a:lnTo>
                  <a:pt x="1550" y="4014"/>
                </a:lnTo>
                <a:lnTo>
                  <a:pt x="1492" y="3974"/>
                </a:lnTo>
                <a:lnTo>
                  <a:pt x="1434" y="3933"/>
                </a:lnTo>
                <a:lnTo>
                  <a:pt x="1376" y="3891"/>
                </a:lnTo>
                <a:lnTo>
                  <a:pt x="1319" y="3846"/>
                </a:lnTo>
                <a:lnTo>
                  <a:pt x="1261" y="3800"/>
                </a:lnTo>
                <a:lnTo>
                  <a:pt x="1204" y="3752"/>
                </a:lnTo>
                <a:lnTo>
                  <a:pt x="1147" y="3702"/>
                </a:lnTo>
                <a:lnTo>
                  <a:pt x="1092" y="3651"/>
                </a:lnTo>
                <a:lnTo>
                  <a:pt x="1036" y="3598"/>
                </a:lnTo>
                <a:lnTo>
                  <a:pt x="981" y="3543"/>
                </a:lnTo>
                <a:lnTo>
                  <a:pt x="927" y="3487"/>
                </a:lnTo>
                <a:lnTo>
                  <a:pt x="874" y="3428"/>
                </a:lnTo>
                <a:lnTo>
                  <a:pt x="822" y="3367"/>
                </a:lnTo>
                <a:lnTo>
                  <a:pt x="770" y="3305"/>
                </a:lnTo>
                <a:lnTo>
                  <a:pt x="720" y="3241"/>
                </a:lnTo>
                <a:lnTo>
                  <a:pt x="671" y="3174"/>
                </a:lnTo>
                <a:lnTo>
                  <a:pt x="624" y="3106"/>
                </a:lnTo>
                <a:lnTo>
                  <a:pt x="577" y="3037"/>
                </a:lnTo>
                <a:lnTo>
                  <a:pt x="533" y="2965"/>
                </a:lnTo>
                <a:lnTo>
                  <a:pt x="489" y="2891"/>
                </a:lnTo>
                <a:lnTo>
                  <a:pt x="448" y="2814"/>
                </a:lnTo>
                <a:lnTo>
                  <a:pt x="409" y="2736"/>
                </a:lnTo>
                <a:lnTo>
                  <a:pt x="371" y="2656"/>
                </a:lnTo>
                <a:lnTo>
                  <a:pt x="334" y="2573"/>
                </a:lnTo>
                <a:lnTo>
                  <a:pt x="318" y="2531"/>
                </a:lnTo>
                <a:lnTo>
                  <a:pt x="301" y="2489"/>
                </a:lnTo>
                <a:lnTo>
                  <a:pt x="284" y="2445"/>
                </a:lnTo>
                <a:lnTo>
                  <a:pt x="268" y="2402"/>
                </a:lnTo>
                <a:lnTo>
                  <a:pt x="253" y="2357"/>
                </a:lnTo>
                <a:lnTo>
                  <a:pt x="238" y="2312"/>
                </a:lnTo>
                <a:lnTo>
                  <a:pt x="225" y="2268"/>
                </a:lnTo>
                <a:lnTo>
                  <a:pt x="212" y="2221"/>
                </a:lnTo>
                <a:lnTo>
                  <a:pt x="198" y="2175"/>
                </a:lnTo>
                <a:lnTo>
                  <a:pt x="186" y="2127"/>
                </a:lnTo>
                <a:lnTo>
                  <a:pt x="174" y="2080"/>
                </a:lnTo>
                <a:lnTo>
                  <a:pt x="163" y="2031"/>
                </a:lnTo>
                <a:lnTo>
                  <a:pt x="152" y="1983"/>
                </a:lnTo>
                <a:lnTo>
                  <a:pt x="142" y="1933"/>
                </a:lnTo>
                <a:lnTo>
                  <a:pt x="134" y="1884"/>
                </a:lnTo>
                <a:lnTo>
                  <a:pt x="125" y="1833"/>
                </a:lnTo>
                <a:lnTo>
                  <a:pt x="117" y="1781"/>
                </a:lnTo>
                <a:lnTo>
                  <a:pt x="110" y="1730"/>
                </a:lnTo>
                <a:lnTo>
                  <a:pt x="103" y="1678"/>
                </a:lnTo>
                <a:lnTo>
                  <a:pt x="98" y="1624"/>
                </a:lnTo>
                <a:lnTo>
                  <a:pt x="92" y="1571"/>
                </a:lnTo>
                <a:lnTo>
                  <a:pt x="88" y="1517"/>
                </a:lnTo>
                <a:lnTo>
                  <a:pt x="84" y="1533"/>
                </a:lnTo>
                <a:lnTo>
                  <a:pt x="73" y="1580"/>
                </a:lnTo>
                <a:lnTo>
                  <a:pt x="59" y="1654"/>
                </a:lnTo>
                <a:lnTo>
                  <a:pt x="50" y="1702"/>
                </a:lnTo>
                <a:lnTo>
                  <a:pt x="41" y="1756"/>
                </a:lnTo>
                <a:lnTo>
                  <a:pt x="33" y="1816"/>
                </a:lnTo>
                <a:lnTo>
                  <a:pt x="24" y="1881"/>
                </a:lnTo>
                <a:lnTo>
                  <a:pt x="18" y="1952"/>
                </a:lnTo>
                <a:lnTo>
                  <a:pt x="11" y="2028"/>
                </a:lnTo>
                <a:lnTo>
                  <a:pt x="5" y="2109"/>
                </a:lnTo>
                <a:lnTo>
                  <a:pt x="2" y="2195"/>
                </a:lnTo>
                <a:lnTo>
                  <a:pt x="0" y="2286"/>
                </a:lnTo>
                <a:lnTo>
                  <a:pt x="1" y="2379"/>
                </a:lnTo>
                <a:lnTo>
                  <a:pt x="3" y="2477"/>
                </a:lnTo>
                <a:lnTo>
                  <a:pt x="6" y="2528"/>
                </a:lnTo>
                <a:lnTo>
                  <a:pt x="9" y="2579"/>
                </a:lnTo>
                <a:lnTo>
                  <a:pt x="13" y="2631"/>
                </a:lnTo>
                <a:lnTo>
                  <a:pt x="18" y="2684"/>
                </a:lnTo>
                <a:lnTo>
                  <a:pt x="23" y="2737"/>
                </a:lnTo>
                <a:lnTo>
                  <a:pt x="30" y="2792"/>
                </a:lnTo>
                <a:lnTo>
                  <a:pt x="38" y="2847"/>
                </a:lnTo>
                <a:lnTo>
                  <a:pt x="45" y="2902"/>
                </a:lnTo>
                <a:lnTo>
                  <a:pt x="54" y="2958"/>
                </a:lnTo>
                <a:lnTo>
                  <a:pt x="65" y="3015"/>
                </a:lnTo>
                <a:lnTo>
                  <a:pt x="77" y="3072"/>
                </a:lnTo>
                <a:lnTo>
                  <a:pt x="89" y="3130"/>
                </a:lnTo>
                <a:lnTo>
                  <a:pt x="102" y="3189"/>
                </a:lnTo>
                <a:lnTo>
                  <a:pt x="117" y="3247"/>
                </a:lnTo>
                <a:lnTo>
                  <a:pt x="134" y="3306"/>
                </a:lnTo>
                <a:lnTo>
                  <a:pt x="150" y="3366"/>
                </a:lnTo>
                <a:lnTo>
                  <a:pt x="169" y="3425"/>
                </a:lnTo>
                <a:lnTo>
                  <a:pt x="188" y="3486"/>
                </a:lnTo>
                <a:lnTo>
                  <a:pt x="209" y="3546"/>
                </a:lnTo>
                <a:lnTo>
                  <a:pt x="232" y="3607"/>
                </a:lnTo>
                <a:lnTo>
                  <a:pt x="256" y="3667"/>
                </a:lnTo>
                <a:lnTo>
                  <a:pt x="282" y="3729"/>
                </a:lnTo>
                <a:lnTo>
                  <a:pt x="309" y="3790"/>
                </a:lnTo>
                <a:lnTo>
                  <a:pt x="337" y="3852"/>
                </a:lnTo>
                <a:lnTo>
                  <a:pt x="367" y="3913"/>
                </a:lnTo>
                <a:lnTo>
                  <a:pt x="399" y="3974"/>
                </a:lnTo>
                <a:lnTo>
                  <a:pt x="431" y="4036"/>
                </a:lnTo>
                <a:lnTo>
                  <a:pt x="467" y="4097"/>
                </a:lnTo>
                <a:lnTo>
                  <a:pt x="504" y="4158"/>
                </a:lnTo>
                <a:lnTo>
                  <a:pt x="542" y="4218"/>
                </a:lnTo>
                <a:lnTo>
                  <a:pt x="571" y="4262"/>
                </a:lnTo>
                <a:lnTo>
                  <a:pt x="600" y="4304"/>
                </a:lnTo>
                <a:lnTo>
                  <a:pt x="629" y="4346"/>
                </a:lnTo>
                <a:lnTo>
                  <a:pt x="659" y="4385"/>
                </a:lnTo>
                <a:lnTo>
                  <a:pt x="689" y="4423"/>
                </a:lnTo>
                <a:lnTo>
                  <a:pt x="720" y="4459"/>
                </a:lnTo>
                <a:lnTo>
                  <a:pt x="750" y="4495"/>
                </a:lnTo>
                <a:lnTo>
                  <a:pt x="782" y="4529"/>
                </a:lnTo>
                <a:lnTo>
                  <a:pt x="814" y="4562"/>
                </a:lnTo>
                <a:lnTo>
                  <a:pt x="845" y="4593"/>
                </a:lnTo>
                <a:lnTo>
                  <a:pt x="878" y="4623"/>
                </a:lnTo>
                <a:lnTo>
                  <a:pt x="910" y="4652"/>
                </a:lnTo>
                <a:lnTo>
                  <a:pt x="942" y="4680"/>
                </a:lnTo>
                <a:lnTo>
                  <a:pt x="976" y="4707"/>
                </a:lnTo>
                <a:lnTo>
                  <a:pt x="1008" y="4732"/>
                </a:lnTo>
                <a:lnTo>
                  <a:pt x="1042" y="4756"/>
                </a:lnTo>
                <a:lnTo>
                  <a:pt x="1075" y="4779"/>
                </a:lnTo>
                <a:lnTo>
                  <a:pt x="1108" y="4801"/>
                </a:lnTo>
                <a:lnTo>
                  <a:pt x="1142" y="4822"/>
                </a:lnTo>
                <a:lnTo>
                  <a:pt x="1175" y="4842"/>
                </a:lnTo>
                <a:lnTo>
                  <a:pt x="1210" y="4860"/>
                </a:lnTo>
                <a:lnTo>
                  <a:pt x="1243" y="4878"/>
                </a:lnTo>
                <a:lnTo>
                  <a:pt x="1277" y="4894"/>
                </a:lnTo>
                <a:lnTo>
                  <a:pt x="1311" y="4910"/>
                </a:lnTo>
                <a:lnTo>
                  <a:pt x="1346" y="4924"/>
                </a:lnTo>
                <a:lnTo>
                  <a:pt x="1380" y="4938"/>
                </a:lnTo>
                <a:lnTo>
                  <a:pt x="1414" y="4950"/>
                </a:lnTo>
                <a:lnTo>
                  <a:pt x="1449" y="4961"/>
                </a:lnTo>
                <a:lnTo>
                  <a:pt x="1482" y="4972"/>
                </a:lnTo>
                <a:lnTo>
                  <a:pt x="1517" y="4981"/>
                </a:lnTo>
                <a:lnTo>
                  <a:pt x="1550" y="4990"/>
                </a:lnTo>
                <a:lnTo>
                  <a:pt x="1585" y="4998"/>
                </a:lnTo>
                <a:lnTo>
                  <a:pt x="1618" y="5006"/>
                </a:lnTo>
                <a:lnTo>
                  <a:pt x="1653" y="5011"/>
                </a:lnTo>
                <a:lnTo>
                  <a:pt x="1686" y="5017"/>
                </a:lnTo>
                <a:lnTo>
                  <a:pt x="1720" y="5022"/>
                </a:lnTo>
                <a:lnTo>
                  <a:pt x="1753" y="5026"/>
                </a:lnTo>
                <a:lnTo>
                  <a:pt x="1787" y="5029"/>
                </a:lnTo>
                <a:lnTo>
                  <a:pt x="1820" y="5032"/>
                </a:lnTo>
                <a:lnTo>
                  <a:pt x="1852" y="5033"/>
                </a:lnTo>
                <a:lnTo>
                  <a:pt x="1886" y="5034"/>
                </a:lnTo>
                <a:lnTo>
                  <a:pt x="1918" y="5034"/>
                </a:lnTo>
                <a:lnTo>
                  <a:pt x="1983" y="5033"/>
                </a:lnTo>
                <a:lnTo>
                  <a:pt x="2047" y="5028"/>
                </a:lnTo>
                <a:lnTo>
                  <a:pt x="2108" y="5022"/>
                </a:lnTo>
                <a:lnTo>
                  <a:pt x="2169" y="5013"/>
                </a:lnTo>
                <a:lnTo>
                  <a:pt x="2228" y="5001"/>
                </a:lnTo>
                <a:lnTo>
                  <a:pt x="2286" y="4989"/>
                </a:lnTo>
                <a:lnTo>
                  <a:pt x="2343" y="4975"/>
                </a:lnTo>
                <a:lnTo>
                  <a:pt x="2397" y="4958"/>
                </a:lnTo>
                <a:lnTo>
                  <a:pt x="2449" y="4940"/>
                </a:lnTo>
                <a:lnTo>
                  <a:pt x="2501" y="4921"/>
                </a:lnTo>
                <a:lnTo>
                  <a:pt x="2549" y="4901"/>
                </a:lnTo>
                <a:lnTo>
                  <a:pt x="2648" y="4908"/>
                </a:lnTo>
                <a:lnTo>
                  <a:pt x="2744" y="4912"/>
                </a:lnTo>
                <a:lnTo>
                  <a:pt x="2839" y="4914"/>
                </a:lnTo>
                <a:lnTo>
                  <a:pt x="2930" y="4914"/>
                </a:lnTo>
                <a:lnTo>
                  <a:pt x="3018" y="4911"/>
                </a:lnTo>
                <a:lnTo>
                  <a:pt x="3104" y="4907"/>
                </a:lnTo>
                <a:lnTo>
                  <a:pt x="3188" y="4900"/>
                </a:lnTo>
                <a:lnTo>
                  <a:pt x="3268" y="4892"/>
                </a:lnTo>
                <a:lnTo>
                  <a:pt x="3346" y="4882"/>
                </a:lnTo>
                <a:lnTo>
                  <a:pt x="3421" y="4871"/>
                </a:lnTo>
                <a:lnTo>
                  <a:pt x="3493" y="4859"/>
                </a:lnTo>
                <a:lnTo>
                  <a:pt x="3563" y="4845"/>
                </a:lnTo>
                <a:lnTo>
                  <a:pt x="3628" y="4831"/>
                </a:lnTo>
                <a:lnTo>
                  <a:pt x="3692" y="4815"/>
                </a:lnTo>
                <a:lnTo>
                  <a:pt x="3752" y="4800"/>
                </a:lnTo>
                <a:lnTo>
                  <a:pt x="3809" y="4784"/>
                </a:lnTo>
                <a:lnTo>
                  <a:pt x="3864" y="4767"/>
                </a:lnTo>
                <a:lnTo>
                  <a:pt x="3914" y="4750"/>
                </a:lnTo>
                <a:lnTo>
                  <a:pt x="3962" y="4734"/>
                </a:lnTo>
                <a:lnTo>
                  <a:pt x="4005" y="4717"/>
                </a:lnTo>
                <a:lnTo>
                  <a:pt x="4047" y="4701"/>
                </a:lnTo>
                <a:lnTo>
                  <a:pt x="4085" y="4686"/>
                </a:lnTo>
                <a:lnTo>
                  <a:pt x="4149" y="4658"/>
                </a:lnTo>
                <a:lnTo>
                  <a:pt x="4201" y="4633"/>
                </a:lnTo>
                <a:lnTo>
                  <a:pt x="4237" y="4613"/>
                </a:lnTo>
                <a:lnTo>
                  <a:pt x="4268" y="4597"/>
                </a:lnTo>
                <a:lnTo>
                  <a:pt x="4222" y="4612"/>
                </a:lnTo>
                <a:lnTo>
                  <a:pt x="4174" y="4626"/>
                </a:lnTo>
                <a:lnTo>
                  <a:pt x="4125" y="4638"/>
                </a:lnTo>
                <a:lnTo>
                  <a:pt x="4073" y="4648"/>
                </a:lnTo>
                <a:lnTo>
                  <a:pt x="4022" y="4657"/>
                </a:lnTo>
                <a:lnTo>
                  <a:pt x="3969" y="4663"/>
                </a:lnTo>
                <a:lnTo>
                  <a:pt x="3915" y="4670"/>
                </a:lnTo>
                <a:lnTo>
                  <a:pt x="3860" y="4675"/>
                </a:lnTo>
                <a:lnTo>
                  <a:pt x="3806" y="4677"/>
                </a:lnTo>
                <a:lnTo>
                  <a:pt x="3751" y="4679"/>
                </a:lnTo>
                <a:lnTo>
                  <a:pt x="3695" y="4680"/>
                </a:lnTo>
                <a:lnTo>
                  <a:pt x="3641" y="4680"/>
                </a:lnTo>
                <a:lnTo>
                  <a:pt x="3586" y="4679"/>
                </a:lnTo>
                <a:lnTo>
                  <a:pt x="3531" y="4678"/>
                </a:lnTo>
                <a:lnTo>
                  <a:pt x="3478" y="4676"/>
                </a:lnTo>
                <a:lnTo>
                  <a:pt x="3425" y="4672"/>
                </a:lnTo>
                <a:lnTo>
                  <a:pt x="3323" y="4663"/>
                </a:lnTo>
                <a:lnTo>
                  <a:pt x="3226" y="4655"/>
                </a:lnTo>
                <a:lnTo>
                  <a:pt x="3136" y="4643"/>
                </a:lnTo>
                <a:lnTo>
                  <a:pt x="3055" y="4632"/>
                </a:lnTo>
                <a:lnTo>
                  <a:pt x="2985" y="4621"/>
                </a:lnTo>
                <a:lnTo>
                  <a:pt x="2924" y="4611"/>
                </a:lnTo>
                <a:lnTo>
                  <a:pt x="2846" y="4597"/>
                </a:lnTo>
                <a:close/>
                <a:moveTo>
                  <a:pt x="456" y="0"/>
                </a:moveTo>
                <a:lnTo>
                  <a:pt x="456" y="0"/>
                </a:lnTo>
                <a:lnTo>
                  <a:pt x="441" y="65"/>
                </a:lnTo>
                <a:lnTo>
                  <a:pt x="428" y="130"/>
                </a:lnTo>
                <a:lnTo>
                  <a:pt x="415" y="193"/>
                </a:lnTo>
                <a:lnTo>
                  <a:pt x="402" y="256"/>
                </a:lnTo>
                <a:lnTo>
                  <a:pt x="391" y="318"/>
                </a:lnTo>
                <a:lnTo>
                  <a:pt x="381" y="379"/>
                </a:lnTo>
                <a:lnTo>
                  <a:pt x="371" y="441"/>
                </a:lnTo>
                <a:lnTo>
                  <a:pt x="362" y="501"/>
                </a:lnTo>
                <a:lnTo>
                  <a:pt x="354" y="561"/>
                </a:lnTo>
                <a:lnTo>
                  <a:pt x="348" y="620"/>
                </a:lnTo>
                <a:lnTo>
                  <a:pt x="341" y="678"/>
                </a:lnTo>
                <a:lnTo>
                  <a:pt x="335" y="736"/>
                </a:lnTo>
                <a:lnTo>
                  <a:pt x="331" y="794"/>
                </a:lnTo>
                <a:lnTo>
                  <a:pt x="326" y="851"/>
                </a:lnTo>
                <a:lnTo>
                  <a:pt x="323" y="907"/>
                </a:lnTo>
                <a:lnTo>
                  <a:pt x="321" y="963"/>
                </a:lnTo>
                <a:lnTo>
                  <a:pt x="319" y="1019"/>
                </a:lnTo>
                <a:lnTo>
                  <a:pt x="318" y="1073"/>
                </a:lnTo>
                <a:lnTo>
                  <a:pt x="318" y="1127"/>
                </a:lnTo>
                <a:lnTo>
                  <a:pt x="318" y="1180"/>
                </a:lnTo>
                <a:lnTo>
                  <a:pt x="319" y="1234"/>
                </a:lnTo>
                <a:lnTo>
                  <a:pt x="320" y="1286"/>
                </a:lnTo>
                <a:lnTo>
                  <a:pt x="322" y="1338"/>
                </a:lnTo>
                <a:lnTo>
                  <a:pt x="325" y="1389"/>
                </a:lnTo>
                <a:lnTo>
                  <a:pt x="329" y="1439"/>
                </a:lnTo>
                <a:lnTo>
                  <a:pt x="333" y="1489"/>
                </a:lnTo>
                <a:lnTo>
                  <a:pt x="339" y="1539"/>
                </a:lnTo>
                <a:lnTo>
                  <a:pt x="344" y="1588"/>
                </a:lnTo>
                <a:lnTo>
                  <a:pt x="350" y="1636"/>
                </a:lnTo>
                <a:lnTo>
                  <a:pt x="357" y="1684"/>
                </a:lnTo>
                <a:lnTo>
                  <a:pt x="364" y="1732"/>
                </a:lnTo>
                <a:lnTo>
                  <a:pt x="372" y="1779"/>
                </a:lnTo>
                <a:lnTo>
                  <a:pt x="381" y="1742"/>
                </a:lnTo>
                <a:lnTo>
                  <a:pt x="390" y="1708"/>
                </a:lnTo>
                <a:lnTo>
                  <a:pt x="400" y="1673"/>
                </a:lnTo>
                <a:lnTo>
                  <a:pt x="410" y="1641"/>
                </a:lnTo>
                <a:lnTo>
                  <a:pt x="431" y="1580"/>
                </a:lnTo>
                <a:lnTo>
                  <a:pt x="453" y="1523"/>
                </a:lnTo>
                <a:lnTo>
                  <a:pt x="475" y="1471"/>
                </a:lnTo>
                <a:lnTo>
                  <a:pt x="497" y="1425"/>
                </a:lnTo>
                <a:lnTo>
                  <a:pt x="519" y="1382"/>
                </a:lnTo>
                <a:lnTo>
                  <a:pt x="540" y="1344"/>
                </a:lnTo>
                <a:lnTo>
                  <a:pt x="560" y="1312"/>
                </a:lnTo>
                <a:lnTo>
                  <a:pt x="579" y="1283"/>
                </a:lnTo>
                <a:lnTo>
                  <a:pt x="595" y="1259"/>
                </a:lnTo>
                <a:lnTo>
                  <a:pt x="610" y="1240"/>
                </a:lnTo>
                <a:lnTo>
                  <a:pt x="630" y="1215"/>
                </a:lnTo>
                <a:lnTo>
                  <a:pt x="638" y="1206"/>
                </a:lnTo>
                <a:lnTo>
                  <a:pt x="622" y="1249"/>
                </a:lnTo>
                <a:lnTo>
                  <a:pt x="608" y="1293"/>
                </a:lnTo>
                <a:lnTo>
                  <a:pt x="595" y="1338"/>
                </a:lnTo>
                <a:lnTo>
                  <a:pt x="583" y="1381"/>
                </a:lnTo>
                <a:lnTo>
                  <a:pt x="572" y="1425"/>
                </a:lnTo>
                <a:lnTo>
                  <a:pt x="562" y="1468"/>
                </a:lnTo>
                <a:lnTo>
                  <a:pt x="554" y="1511"/>
                </a:lnTo>
                <a:lnTo>
                  <a:pt x="546" y="1555"/>
                </a:lnTo>
                <a:lnTo>
                  <a:pt x="538" y="1598"/>
                </a:lnTo>
                <a:lnTo>
                  <a:pt x="533" y="1641"/>
                </a:lnTo>
                <a:lnTo>
                  <a:pt x="527" y="1683"/>
                </a:lnTo>
                <a:lnTo>
                  <a:pt x="523" y="1725"/>
                </a:lnTo>
                <a:lnTo>
                  <a:pt x="519" y="1766"/>
                </a:lnTo>
                <a:lnTo>
                  <a:pt x="516" y="1807"/>
                </a:lnTo>
                <a:lnTo>
                  <a:pt x="513" y="1885"/>
                </a:lnTo>
                <a:lnTo>
                  <a:pt x="511" y="1961"/>
                </a:lnTo>
                <a:lnTo>
                  <a:pt x="511" y="2033"/>
                </a:lnTo>
                <a:lnTo>
                  <a:pt x="513" y="2102"/>
                </a:lnTo>
                <a:lnTo>
                  <a:pt x="516" y="2164"/>
                </a:lnTo>
                <a:lnTo>
                  <a:pt x="521" y="2222"/>
                </a:lnTo>
                <a:lnTo>
                  <a:pt x="525" y="2274"/>
                </a:lnTo>
                <a:lnTo>
                  <a:pt x="530" y="2320"/>
                </a:lnTo>
                <a:lnTo>
                  <a:pt x="535" y="2359"/>
                </a:lnTo>
                <a:lnTo>
                  <a:pt x="553" y="2406"/>
                </a:lnTo>
                <a:lnTo>
                  <a:pt x="572" y="2453"/>
                </a:lnTo>
                <a:lnTo>
                  <a:pt x="592" y="2499"/>
                </a:lnTo>
                <a:lnTo>
                  <a:pt x="613" y="2543"/>
                </a:lnTo>
                <a:lnTo>
                  <a:pt x="633" y="2588"/>
                </a:lnTo>
                <a:lnTo>
                  <a:pt x="656" y="2631"/>
                </a:lnTo>
                <a:lnTo>
                  <a:pt x="678" y="2675"/>
                </a:lnTo>
                <a:lnTo>
                  <a:pt x="700" y="2717"/>
                </a:lnTo>
                <a:lnTo>
                  <a:pt x="724" y="2760"/>
                </a:lnTo>
                <a:lnTo>
                  <a:pt x="747" y="2801"/>
                </a:lnTo>
                <a:lnTo>
                  <a:pt x="772" y="2841"/>
                </a:lnTo>
                <a:lnTo>
                  <a:pt x="796" y="2881"/>
                </a:lnTo>
                <a:lnTo>
                  <a:pt x="822" y="2920"/>
                </a:lnTo>
                <a:lnTo>
                  <a:pt x="847" y="2959"/>
                </a:lnTo>
                <a:lnTo>
                  <a:pt x="873" y="2997"/>
                </a:lnTo>
                <a:lnTo>
                  <a:pt x="900" y="3034"/>
                </a:lnTo>
                <a:lnTo>
                  <a:pt x="901" y="2968"/>
                </a:lnTo>
                <a:lnTo>
                  <a:pt x="903" y="2905"/>
                </a:lnTo>
                <a:lnTo>
                  <a:pt x="907" y="2842"/>
                </a:lnTo>
                <a:lnTo>
                  <a:pt x="912" y="2782"/>
                </a:lnTo>
                <a:lnTo>
                  <a:pt x="918" y="2723"/>
                </a:lnTo>
                <a:lnTo>
                  <a:pt x="926" y="2666"/>
                </a:lnTo>
                <a:lnTo>
                  <a:pt x="933" y="2611"/>
                </a:lnTo>
                <a:lnTo>
                  <a:pt x="942" y="2559"/>
                </a:lnTo>
                <a:lnTo>
                  <a:pt x="953" y="2508"/>
                </a:lnTo>
                <a:lnTo>
                  <a:pt x="963" y="2458"/>
                </a:lnTo>
                <a:lnTo>
                  <a:pt x="975" y="2412"/>
                </a:lnTo>
                <a:lnTo>
                  <a:pt x="987" y="2366"/>
                </a:lnTo>
                <a:lnTo>
                  <a:pt x="999" y="2323"/>
                </a:lnTo>
                <a:lnTo>
                  <a:pt x="1011" y="2282"/>
                </a:lnTo>
                <a:lnTo>
                  <a:pt x="1025" y="2243"/>
                </a:lnTo>
                <a:lnTo>
                  <a:pt x="1038" y="2206"/>
                </a:lnTo>
                <a:lnTo>
                  <a:pt x="1050" y="2171"/>
                </a:lnTo>
                <a:lnTo>
                  <a:pt x="1064" y="2138"/>
                </a:lnTo>
                <a:lnTo>
                  <a:pt x="1088" y="2079"/>
                </a:lnTo>
                <a:lnTo>
                  <a:pt x="1112" y="2028"/>
                </a:lnTo>
                <a:lnTo>
                  <a:pt x="1133" y="1987"/>
                </a:lnTo>
                <a:lnTo>
                  <a:pt x="1151" y="1954"/>
                </a:lnTo>
                <a:lnTo>
                  <a:pt x="1164" y="1930"/>
                </a:lnTo>
                <a:lnTo>
                  <a:pt x="1175" y="1911"/>
                </a:lnTo>
                <a:lnTo>
                  <a:pt x="1163" y="1974"/>
                </a:lnTo>
                <a:lnTo>
                  <a:pt x="1152" y="2037"/>
                </a:lnTo>
                <a:lnTo>
                  <a:pt x="1143" y="2099"/>
                </a:lnTo>
                <a:lnTo>
                  <a:pt x="1136" y="2163"/>
                </a:lnTo>
                <a:lnTo>
                  <a:pt x="1130" y="2225"/>
                </a:lnTo>
                <a:lnTo>
                  <a:pt x="1126" y="2287"/>
                </a:lnTo>
                <a:lnTo>
                  <a:pt x="1123" y="2348"/>
                </a:lnTo>
                <a:lnTo>
                  <a:pt x="1122" y="2409"/>
                </a:lnTo>
                <a:lnTo>
                  <a:pt x="1121" y="2470"/>
                </a:lnTo>
                <a:lnTo>
                  <a:pt x="1122" y="2530"/>
                </a:lnTo>
                <a:lnTo>
                  <a:pt x="1124" y="2588"/>
                </a:lnTo>
                <a:lnTo>
                  <a:pt x="1127" y="2646"/>
                </a:lnTo>
                <a:lnTo>
                  <a:pt x="1131" y="2703"/>
                </a:lnTo>
                <a:lnTo>
                  <a:pt x="1136" y="2758"/>
                </a:lnTo>
                <a:lnTo>
                  <a:pt x="1142" y="2813"/>
                </a:lnTo>
                <a:lnTo>
                  <a:pt x="1147" y="2866"/>
                </a:lnTo>
                <a:lnTo>
                  <a:pt x="1154" y="2917"/>
                </a:lnTo>
                <a:lnTo>
                  <a:pt x="1162" y="2967"/>
                </a:lnTo>
                <a:lnTo>
                  <a:pt x="1178" y="3063"/>
                </a:lnTo>
                <a:lnTo>
                  <a:pt x="1194" y="3151"/>
                </a:lnTo>
                <a:lnTo>
                  <a:pt x="1211" y="3230"/>
                </a:lnTo>
                <a:lnTo>
                  <a:pt x="1229" y="3302"/>
                </a:lnTo>
                <a:lnTo>
                  <a:pt x="1245" y="3364"/>
                </a:lnTo>
                <a:lnTo>
                  <a:pt x="1259" y="3415"/>
                </a:lnTo>
                <a:lnTo>
                  <a:pt x="1270" y="3456"/>
                </a:lnTo>
                <a:lnTo>
                  <a:pt x="1338" y="3518"/>
                </a:lnTo>
                <a:lnTo>
                  <a:pt x="1406" y="3578"/>
                </a:lnTo>
                <a:lnTo>
                  <a:pt x="1474" y="3635"/>
                </a:lnTo>
                <a:lnTo>
                  <a:pt x="1543" y="3690"/>
                </a:lnTo>
                <a:lnTo>
                  <a:pt x="1613" y="3742"/>
                </a:lnTo>
                <a:lnTo>
                  <a:pt x="1683" y="3792"/>
                </a:lnTo>
                <a:lnTo>
                  <a:pt x="1752" y="3839"/>
                </a:lnTo>
                <a:lnTo>
                  <a:pt x="1822" y="3885"/>
                </a:lnTo>
                <a:lnTo>
                  <a:pt x="1807" y="3807"/>
                </a:lnTo>
                <a:lnTo>
                  <a:pt x="1793" y="3730"/>
                </a:lnTo>
                <a:lnTo>
                  <a:pt x="1782" y="3655"/>
                </a:lnTo>
                <a:lnTo>
                  <a:pt x="1773" y="3582"/>
                </a:lnTo>
                <a:lnTo>
                  <a:pt x="1765" y="3510"/>
                </a:lnTo>
                <a:lnTo>
                  <a:pt x="1761" y="3441"/>
                </a:lnTo>
                <a:lnTo>
                  <a:pt x="1758" y="3374"/>
                </a:lnTo>
                <a:lnTo>
                  <a:pt x="1755" y="3309"/>
                </a:lnTo>
                <a:lnTo>
                  <a:pt x="1755" y="3246"/>
                </a:lnTo>
                <a:lnTo>
                  <a:pt x="1757" y="3186"/>
                </a:lnTo>
                <a:lnTo>
                  <a:pt x="1759" y="3127"/>
                </a:lnTo>
                <a:lnTo>
                  <a:pt x="1762" y="3070"/>
                </a:lnTo>
                <a:lnTo>
                  <a:pt x="1767" y="3016"/>
                </a:lnTo>
                <a:lnTo>
                  <a:pt x="1772" y="2964"/>
                </a:lnTo>
                <a:lnTo>
                  <a:pt x="1779" y="2915"/>
                </a:lnTo>
                <a:lnTo>
                  <a:pt x="1786" y="2868"/>
                </a:lnTo>
                <a:lnTo>
                  <a:pt x="1793" y="2823"/>
                </a:lnTo>
                <a:lnTo>
                  <a:pt x="1801" y="2781"/>
                </a:lnTo>
                <a:lnTo>
                  <a:pt x="1809" y="2742"/>
                </a:lnTo>
                <a:lnTo>
                  <a:pt x="1818" y="2705"/>
                </a:lnTo>
                <a:lnTo>
                  <a:pt x="1835" y="2639"/>
                </a:lnTo>
                <a:lnTo>
                  <a:pt x="1850" y="2584"/>
                </a:lnTo>
                <a:lnTo>
                  <a:pt x="1864" y="2542"/>
                </a:lnTo>
                <a:lnTo>
                  <a:pt x="1875" y="2511"/>
                </a:lnTo>
                <a:lnTo>
                  <a:pt x="1885" y="2485"/>
                </a:lnTo>
                <a:lnTo>
                  <a:pt x="1884" y="2552"/>
                </a:lnTo>
                <a:lnTo>
                  <a:pt x="1884" y="2620"/>
                </a:lnTo>
                <a:lnTo>
                  <a:pt x="1886" y="2686"/>
                </a:lnTo>
                <a:lnTo>
                  <a:pt x="1889" y="2753"/>
                </a:lnTo>
                <a:lnTo>
                  <a:pt x="1894" y="2819"/>
                </a:lnTo>
                <a:lnTo>
                  <a:pt x="1900" y="2883"/>
                </a:lnTo>
                <a:lnTo>
                  <a:pt x="1908" y="2948"/>
                </a:lnTo>
                <a:lnTo>
                  <a:pt x="1917" y="3012"/>
                </a:lnTo>
                <a:lnTo>
                  <a:pt x="1928" y="3075"/>
                </a:lnTo>
                <a:lnTo>
                  <a:pt x="1939" y="3137"/>
                </a:lnTo>
                <a:lnTo>
                  <a:pt x="1952" y="3198"/>
                </a:lnTo>
                <a:lnTo>
                  <a:pt x="1965" y="3258"/>
                </a:lnTo>
                <a:lnTo>
                  <a:pt x="1979" y="3317"/>
                </a:lnTo>
                <a:lnTo>
                  <a:pt x="1993" y="3375"/>
                </a:lnTo>
                <a:lnTo>
                  <a:pt x="2009" y="3432"/>
                </a:lnTo>
                <a:lnTo>
                  <a:pt x="2024" y="3487"/>
                </a:lnTo>
                <a:lnTo>
                  <a:pt x="2041" y="3541"/>
                </a:lnTo>
                <a:lnTo>
                  <a:pt x="2057" y="3594"/>
                </a:lnTo>
                <a:lnTo>
                  <a:pt x="2073" y="3644"/>
                </a:lnTo>
                <a:lnTo>
                  <a:pt x="2091" y="3694"/>
                </a:lnTo>
                <a:lnTo>
                  <a:pt x="2125" y="3787"/>
                </a:lnTo>
                <a:lnTo>
                  <a:pt x="2158" y="3873"/>
                </a:lnTo>
                <a:lnTo>
                  <a:pt x="2190" y="3951"/>
                </a:lnTo>
                <a:lnTo>
                  <a:pt x="2221" y="4021"/>
                </a:lnTo>
                <a:lnTo>
                  <a:pt x="2248" y="4081"/>
                </a:lnTo>
                <a:lnTo>
                  <a:pt x="2272" y="4131"/>
                </a:lnTo>
                <a:lnTo>
                  <a:pt x="2354" y="4169"/>
                </a:lnTo>
                <a:lnTo>
                  <a:pt x="2435" y="4204"/>
                </a:lnTo>
                <a:lnTo>
                  <a:pt x="2512" y="4235"/>
                </a:lnTo>
                <a:lnTo>
                  <a:pt x="2586" y="4264"/>
                </a:lnTo>
                <a:lnTo>
                  <a:pt x="2656" y="4290"/>
                </a:lnTo>
                <a:lnTo>
                  <a:pt x="2721" y="4312"/>
                </a:lnTo>
                <a:lnTo>
                  <a:pt x="2783" y="4332"/>
                </a:lnTo>
                <a:lnTo>
                  <a:pt x="2839" y="4350"/>
                </a:lnTo>
                <a:lnTo>
                  <a:pt x="2890" y="4365"/>
                </a:lnTo>
                <a:lnTo>
                  <a:pt x="2936" y="4378"/>
                </a:lnTo>
                <a:lnTo>
                  <a:pt x="3008" y="4397"/>
                </a:lnTo>
                <a:lnTo>
                  <a:pt x="3054" y="4407"/>
                </a:lnTo>
                <a:lnTo>
                  <a:pt x="3069" y="4410"/>
                </a:lnTo>
                <a:lnTo>
                  <a:pt x="3075" y="4391"/>
                </a:lnTo>
                <a:lnTo>
                  <a:pt x="3091" y="4339"/>
                </a:lnTo>
                <a:lnTo>
                  <a:pt x="3101" y="4300"/>
                </a:lnTo>
                <a:lnTo>
                  <a:pt x="3112" y="4253"/>
                </a:lnTo>
                <a:lnTo>
                  <a:pt x="3123" y="4200"/>
                </a:lnTo>
                <a:lnTo>
                  <a:pt x="3134" y="4139"/>
                </a:lnTo>
                <a:lnTo>
                  <a:pt x="3144" y="4073"/>
                </a:lnTo>
                <a:lnTo>
                  <a:pt x="3154" y="4001"/>
                </a:lnTo>
                <a:lnTo>
                  <a:pt x="3162" y="3923"/>
                </a:lnTo>
                <a:lnTo>
                  <a:pt x="3165" y="3882"/>
                </a:lnTo>
                <a:lnTo>
                  <a:pt x="3168" y="3839"/>
                </a:lnTo>
                <a:lnTo>
                  <a:pt x="3170" y="3796"/>
                </a:lnTo>
                <a:lnTo>
                  <a:pt x="3171" y="3751"/>
                </a:lnTo>
                <a:lnTo>
                  <a:pt x="3171" y="3705"/>
                </a:lnTo>
                <a:lnTo>
                  <a:pt x="3171" y="3659"/>
                </a:lnTo>
                <a:lnTo>
                  <a:pt x="3170" y="3611"/>
                </a:lnTo>
                <a:lnTo>
                  <a:pt x="3168" y="3562"/>
                </a:lnTo>
                <a:lnTo>
                  <a:pt x="3164" y="3512"/>
                </a:lnTo>
                <a:lnTo>
                  <a:pt x="3160" y="3461"/>
                </a:lnTo>
                <a:lnTo>
                  <a:pt x="3154" y="3410"/>
                </a:lnTo>
                <a:lnTo>
                  <a:pt x="3148" y="3359"/>
                </a:lnTo>
                <a:lnTo>
                  <a:pt x="3140" y="3305"/>
                </a:lnTo>
                <a:lnTo>
                  <a:pt x="3131" y="3251"/>
                </a:lnTo>
                <a:lnTo>
                  <a:pt x="3121" y="3198"/>
                </a:lnTo>
                <a:lnTo>
                  <a:pt x="3109" y="3143"/>
                </a:lnTo>
                <a:lnTo>
                  <a:pt x="3095" y="3087"/>
                </a:lnTo>
                <a:lnTo>
                  <a:pt x="3080" y="3032"/>
                </a:lnTo>
                <a:lnTo>
                  <a:pt x="3063" y="2976"/>
                </a:lnTo>
                <a:lnTo>
                  <a:pt x="3045" y="2919"/>
                </a:lnTo>
                <a:lnTo>
                  <a:pt x="3025" y="2863"/>
                </a:lnTo>
                <a:lnTo>
                  <a:pt x="3003" y="2805"/>
                </a:lnTo>
                <a:lnTo>
                  <a:pt x="2979" y="2748"/>
                </a:lnTo>
                <a:lnTo>
                  <a:pt x="2953" y="2692"/>
                </a:lnTo>
                <a:lnTo>
                  <a:pt x="2926" y="2634"/>
                </a:lnTo>
                <a:lnTo>
                  <a:pt x="2895" y="2576"/>
                </a:lnTo>
                <a:lnTo>
                  <a:pt x="2864" y="2519"/>
                </a:lnTo>
                <a:lnTo>
                  <a:pt x="2830" y="2461"/>
                </a:lnTo>
                <a:lnTo>
                  <a:pt x="2793" y="2403"/>
                </a:lnTo>
                <a:lnTo>
                  <a:pt x="2755" y="2346"/>
                </a:lnTo>
                <a:lnTo>
                  <a:pt x="2714" y="2288"/>
                </a:lnTo>
                <a:lnTo>
                  <a:pt x="2670" y="2231"/>
                </a:lnTo>
                <a:lnTo>
                  <a:pt x="2624" y="2174"/>
                </a:lnTo>
                <a:lnTo>
                  <a:pt x="2576" y="2117"/>
                </a:lnTo>
                <a:lnTo>
                  <a:pt x="2525" y="2061"/>
                </a:lnTo>
                <a:lnTo>
                  <a:pt x="2472" y="2006"/>
                </a:lnTo>
                <a:lnTo>
                  <a:pt x="2415" y="1950"/>
                </a:lnTo>
                <a:lnTo>
                  <a:pt x="2356" y="1895"/>
                </a:lnTo>
                <a:lnTo>
                  <a:pt x="2293" y="1842"/>
                </a:lnTo>
                <a:lnTo>
                  <a:pt x="2228" y="1788"/>
                </a:lnTo>
                <a:lnTo>
                  <a:pt x="2160" y="1735"/>
                </a:lnTo>
                <a:lnTo>
                  <a:pt x="2089" y="1682"/>
                </a:lnTo>
                <a:lnTo>
                  <a:pt x="1983" y="1605"/>
                </a:lnTo>
                <a:lnTo>
                  <a:pt x="1881" y="1528"/>
                </a:lnTo>
                <a:lnTo>
                  <a:pt x="1783" y="1451"/>
                </a:lnTo>
                <a:lnTo>
                  <a:pt x="1688" y="1374"/>
                </a:lnTo>
                <a:lnTo>
                  <a:pt x="1598" y="1297"/>
                </a:lnTo>
                <a:lnTo>
                  <a:pt x="1511" y="1222"/>
                </a:lnTo>
                <a:lnTo>
                  <a:pt x="1429" y="1147"/>
                </a:lnTo>
                <a:lnTo>
                  <a:pt x="1349" y="1073"/>
                </a:lnTo>
                <a:lnTo>
                  <a:pt x="1274" y="1000"/>
                </a:lnTo>
                <a:lnTo>
                  <a:pt x="1201" y="928"/>
                </a:lnTo>
                <a:lnTo>
                  <a:pt x="1132" y="858"/>
                </a:lnTo>
                <a:lnTo>
                  <a:pt x="1067" y="789"/>
                </a:lnTo>
                <a:lnTo>
                  <a:pt x="1006" y="722"/>
                </a:lnTo>
                <a:lnTo>
                  <a:pt x="948" y="657"/>
                </a:lnTo>
                <a:lnTo>
                  <a:pt x="893" y="594"/>
                </a:lnTo>
                <a:lnTo>
                  <a:pt x="842" y="533"/>
                </a:lnTo>
                <a:lnTo>
                  <a:pt x="794" y="475"/>
                </a:lnTo>
                <a:lnTo>
                  <a:pt x="749" y="420"/>
                </a:lnTo>
                <a:lnTo>
                  <a:pt x="708" y="366"/>
                </a:lnTo>
                <a:lnTo>
                  <a:pt x="670" y="316"/>
                </a:lnTo>
                <a:lnTo>
                  <a:pt x="634" y="269"/>
                </a:lnTo>
                <a:lnTo>
                  <a:pt x="603" y="225"/>
                </a:lnTo>
                <a:lnTo>
                  <a:pt x="550" y="147"/>
                </a:lnTo>
                <a:lnTo>
                  <a:pt x="508" y="85"/>
                </a:lnTo>
                <a:lnTo>
                  <a:pt x="479" y="39"/>
                </a:lnTo>
                <a:lnTo>
                  <a:pt x="456" y="0"/>
                </a:lnTo>
                <a:close/>
              </a:path>
            </a:pathLst>
          </a:custGeom>
          <a:solidFill>
            <a:srgbClr val="F4B183"/>
          </a:solidFill>
          <a:ln>
            <a:noFill/>
          </a:ln>
          <a:extLst/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4371</TotalTime>
  <Words>703</Words>
  <Application>Microsoft Office PowerPoint</Application>
  <PresentationFormat>宽屏</PresentationFormat>
  <Paragraphs>150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 Unicode MS</vt:lpstr>
      <vt:lpstr>Dense</vt:lpstr>
      <vt:lpstr>等线</vt:lpstr>
      <vt:lpstr>等线 Light</vt:lpstr>
      <vt:lpstr>黑体</vt:lpstr>
      <vt:lpstr>宋体</vt:lpstr>
      <vt:lpstr>宋体-18030</vt:lpstr>
      <vt:lpstr>微软雅黑</vt:lpstr>
      <vt:lpstr>微软雅黑 Light</vt:lpstr>
      <vt:lpstr>Arial</vt:lpstr>
      <vt:lpstr>Calibri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黑色简洁</dc:title>
  <dc:creator>www.1ppt.com</dc:creator>
  <cp:keywords>第一PPT模板网-WWW.1PPT.COM</cp:keywords>
  <dc:description>www.1ppt.com</dc:description>
  <cp:lastModifiedBy>Windows 用户</cp:lastModifiedBy>
  <cp:revision>235</cp:revision>
  <dcterms:created xsi:type="dcterms:W3CDTF">2017-06-21T08:21:13Z</dcterms:created>
  <dcterms:modified xsi:type="dcterms:W3CDTF">2021-11-23T09:19:11Z</dcterms:modified>
</cp:coreProperties>
</file>