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4" r:id="rId2"/>
    <p:sldId id="300" r:id="rId3"/>
    <p:sldId id="517" r:id="rId4"/>
    <p:sldId id="480" r:id="rId5"/>
    <p:sldId id="518" r:id="rId6"/>
    <p:sldId id="519" r:id="rId7"/>
    <p:sldId id="521" r:id="rId8"/>
    <p:sldId id="522" r:id="rId9"/>
    <p:sldId id="524" r:id="rId10"/>
    <p:sldId id="500" r:id="rId11"/>
    <p:sldId id="525" r:id="rId12"/>
    <p:sldId id="526" r:id="rId13"/>
    <p:sldId id="527" r:id="rId14"/>
    <p:sldId id="501" r:id="rId15"/>
    <p:sldId id="530" r:id="rId16"/>
    <p:sldId id="528" r:id="rId17"/>
    <p:sldId id="529" r:id="rId18"/>
    <p:sldId id="446" r:id="rId19"/>
    <p:sldId id="279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  <a:srgbClr val="FF00FF"/>
    <a:srgbClr val="00FF00"/>
    <a:srgbClr val="FF9900"/>
    <a:srgbClr val="2A2827"/>
    <a:srgbClr val="E7C5AE"/>
    <a:srgbClr val="888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3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50B36-9D4A-468C-8410-95B1900814AF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98910-327C-4EAC-AB95-1250C2EE6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91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458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416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448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178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174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180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783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806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907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580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900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150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422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003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139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783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856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891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112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D0F9E42-F9D7-4C60-A57F-7B43DAB9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48337574-F13C-45F3-9852-D6D7BA0D2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AD7B5407-D8F4-4821-A185-0AA59BE6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B2610358-DB10-434D-97A5-F61C95D7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2914CE9-C3EE-4D56-84C2-6EF49A54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83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CF203FF-6B8D-4D88-A5FE-2C4C8A14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3AE0CDA-0B8B-4D29-A282-6E39664AD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EACD78AA-1C3D-40A0-A9F8-25FAB6C6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52296139-374D-4D22-AF1C-3B136D1D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36CDD1D6-7DF0-497A-963E-9F4D7EB7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91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5614FA1-A850-4200-BFB8-E57801EA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741A292-A949-42F0-9BAF-F8BF941FA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018F77C-FFAC-4BF1-84FB-F6BA8B493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C8FEECD9-8BCD-4E86-9D45-05D685F2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8B49A7C-2F33-4AC8-86D6-17EE028C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6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610C2C5-7446-4188-B8B2-24F08ED8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7B9E4E7-F091-4B6E-9762-062EF23E5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96659D5B-F34C-4E6A-9069-5205D85DB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90BAECE3-5B6E-43E8-91F4-E09059E1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8999DD0F-FC30-4484-ACCC-F37FCBEB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F374CD93-9F63-4BF7-ADC1-D8B6683C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28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7185375-792C-4634-A289-5FAEA842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148DF4EF-F992-4483-82FA-13709AA60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9E510978-59F2-472A-8412-C9F983CDF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1B1A449E-BF48-471C-81BE-7C769B730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801AD99D-CE3E-4FF3-8DAA-06DE6D354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0827E751-DCA1-4EA7-B1BE-BD971D13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0EBA1F3B-6DBD-4800-8125-931B7969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3CC9BC08-EB6C-4F6D-91D5-83336937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46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9BED87E-BC58-42BE-AD81-3BBA67D9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B025C3A0-6B7F-4C15-995E-689FF929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4A9E1EFD-3D3C-41A8-AA29-C0188C9C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337AF1C2-A64D-497E-88FD-8291E47E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01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EFC028E2-DBE9-4B66-A719-D75A9AF3A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4DA90BB4-00EC-4298-9AFC-78599431A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3AA2E427-D671-4019-B801-499C7F58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45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0E5DDBB-2059-4844-B59C-8AC509D57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0E8E58FE-2A80-43E9-916E-59900112D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E771CA6E-F12A-4682-95E6-A756C2003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CC34F04C-0323-4477-B74C-5BD46340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1D06BA59-DD98-45C2-A486-63D19EFF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A6CEECF6-F2EA-4546-9E4D-B49EDC9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87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D0B7697-9D7C-4867-B5AD-95908B34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C75CF749-8C47-420E-8A3E-439711EB5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B13B6E65-478B-41DE-9F9C-E9ED1CE03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837693AB-EA7A-42E1-9126-8D11E3E9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08B81EF9-9079-4FDD-B003-27E25B33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CAF4EB10-9F92-4D36-A8CE-12536AFB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38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53DF850-13DD-4C22-9F7E-68D77C73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94D8F41C-E583-49A7-96F9-090045C36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2C8DFDA6-74FA-48D9-9B07-F62B9255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E693C984-3066-4EA1-B0C7-BEE57301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DF336CFB-6DE0-451E-9CB1-512A7AE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9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B0095FE0-9EB5-404E-8EDC-678051CC8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D9D693F2-F5F0-41A3-91DE-699E22380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6AAEF03-EEDA-4B0A-ACFD-716EA2C2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2EDB8F8D-DFAC-4182-8167-590F37F4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9759DB9-FCF5-4E7D-AD2D-81B8FAB7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77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8370" y="126928"/>
            <a:ext cx="9041230" cy="1126050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84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8F404207-36D3-4051-AB07-176E3EBC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CBB39DFF-BE2D-45F8-91EA-22D9B3A50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65EFC4B-D78B-4EAA-886B-13E5F2AE5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3BE32043-75CC-4E33-BF77-E883A1E2B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65300B5E-A5DB-4554-AC2C-1943E9ECF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37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="" xmlns:a16="http://schemas.microsoft.com/office/drawing/2014/main" id="{68D56DBF-52F8-4AA4-B877-9C93B61E2C36}"/>
              </a:ext>
            </a:extLst>
          </p:cNvPr>
          <p:cNvSpPr txBox="1"/>
          <p:nvPr/>
        </p:nvSpPr>
        <p:spPr>
          <a:xfrm>
            <a:off x="1185334" y="2641890"/>
            <a:ext cx="10018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同步计数器</a:t>
            </a:r>
            <a:endParaRPr lang="en-US" altLang="zh-CN" sz="5400" b="1" dirty="0">
              <a:solidFill>
                <a:srgbClr val="F4B18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9" name="KSO_Shape">
            <a:extLst>
              <a:ext uri="{FF2B5EF4-FFF2-40B4-BE49-F238E27FC236}">
                <a16:creationId xmlns="" xmlns:a16="http://schemas.microsoft.com/office/drawing/2014/main" id="{4E49163D-DFAB-41F1-AACE-58EEE9068C80}"/>
              </a:ext>
            </a:extLst>
          </p:cNvPr>
          <p:cNvSpPr/>
          <p:nvPr/>
        </p:nvSpPr>
        <p:spPr>
          <a:xfrm>
            <a:off x="1664753" y="1398932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>
            <a:extLst>
              <a:ext uri="{FF2B5EF4-FFF2-40B4-BE49-F238E27FC236}">
                <a16:creationId xmlns="" xmlns:a16="http://schemas.microsoft.com/office/drawing/2014/main" id="{B1C3E434-2A4B-4365-B940-77631D63F6B9}"/>
              </a:ext>
            </a:extLst>
          </p:cNvPr>
          <p:cNvSpPr/>
          <p:nvPr/>
        </p:nvSpPr>
        <p:spPr>
          <a:xfrm rot="10800000">
            <a:off x="10090891" y="5430507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>
            <a:extLst>
              <a:ext uri="{FF2B5EF4-FFF2-40B4-BE49-F238E27FC236}">
                <a16:creationId xmlns="" xmlns:a16="http://schemas.microsoft.com/office/drawing/2014/main" id="{2D4135F2-ABE8-425F-B506-579321AA1BCC}"/>
              </a:ext>
            </a:extLst>
          </p:cNvPr>
          <p:cNvSpPr>
            <a:spLocks/>
          </p:cNvSpPr>
          <p:nvPr/>
        </p:nvSpPr>
        <p:spPr bwMode="auto">
          <a:xfrm>
            <a:off x="1664752" y="1287475"/>
            <a:ext cx="224441" cy="291998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E103A22C-9FB4-4E6A-A98A-B94881471114}"/>
              </a:ext>
            </a:extLst>
          </p:cNvPr>
          <p:cNvSpPr txBox="1"/>
          <p:nvPr/>
        </p:nvSpPr>
        <p:spPr>
          <a:xfrm>
            <a:off x="2929676" y="4873858"/>
            <a:ext cx="6647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E7C5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主讲人：</a:t>
            </a:r>
            <a:r>
              <a:rPr lang="en-US" altLang="zh-CN" sz="2400" b="1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xxx</a:t>
            </a:r>
            <a:endParaRPr lang="en-US" sz="2400" b="1" dirty="0">
              <a:solidFill>
                <a:srgbClr val="E7C5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="" xmlns:a16="http://schemas.microsoft.com/office/drawing/2014/main" id="{6ACC7DA8-9234-4BAC-A657-EEB77B531E62}"/>
              </a:ext>
            </a:extLst>
          </p:cNvPr>
          <p:cNvSpPr txBox="1"/>
          <p:nvPr/>
        </p:nvSpPr>
        <p:spPr>
          <a:xfrm>
            <a:off x="7228374" y="5628499"/>
            <a:ext cx="270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266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验证计数器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74LS161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的逻辑功能</a:t>
            </a:r>
            <a:endParaRPr lang="en-US" sz="2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实现模</a:t>
            </a:r>
            <a:r>
              <a:rPr lang="en-US" altLang="zh-CN" sz="2800" dirty="0">
                <a:latin typeface="宋体-18030" pitchFamily="49" charset="-122"/>
                <a:ea typeface="宋体-18030" pitchFamily="49" charset="-122"/>
              </a:rPr>
              <a:t>M10</a:t>
            </a:r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的计数器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1.1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设计二十五进制的计数器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1118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验证计数器</a:t>
            </a:r>
            <a:r>
              <a:rPr lang="en-US" altLang="zh-CN" dirty="0"/>
              <a:t>74LS161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实现模</a:t>
            </a:r>
            <a:r>
              <a:rPr lang="en-US" altLang="zh-CN" sz="2800" dirty="0">
                <a:latin typeface="宋体-18030" pitchFamily="49" charset="-122"/>
                <a:ea typeface="宋体-18030" pitchFamily="49" charset="-122"/>
              </a:rPr>
              <a:t>M10</a:t>
            </a:r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的计数器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设计二十五进制的计数器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5329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验证计数器逻辑功能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" y="1685850"/>
            <a:ext cx="3647418" cy="470898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31266" y="1772707"/>
            <a:ext cx="6197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74LS161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位二进制的同步置位异步清零的加法计数器。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CLR*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为异步清零端；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LOAD*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为同步置入控制端；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ENP,ENT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为计数控制端；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RCO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为进位信号；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D0-D3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位外加输入数据；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Q0-Q3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为数据输出端；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CLK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为时钟输入端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电源与地，隐藏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30782" y="1030688"/>
            <a:ext cx="5112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计数器</a:t>
            </a:r>
            <a:r>
              <a:rPr lang="en-US" altLang="zh-CN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74LS161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51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验证计数器逻辑功能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48" y="1538954"/>
            <a:ext cx="10562235" cy="521253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430782" y="1030688"/>
            <a:ext cx="5112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74LS161</a:t>
            </a:r>
            <a:r>
              <a:rPr lang="zh-CN" altLang="en-US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逻辑功能测试原理图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10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验证计数器逻辑功能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45" y="3149865"/>
            <a:ext cx="11144250" cy="3390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28637" y="1383009"/>
            <a:ext cx="11253258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清零端</a:t>
            </a:r>
            <a:r>
              <a:rPr lang="en-US" altLang="zh-CN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CR=“0”</a:t>
            </a: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，观察并记录计数器输出；</a:t>
            </a:r>
            <a:endParaRPr lang="en-US" altLang="zh-CN" sz="20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125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CR=“1”</a:t>
            </a: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</a:t>
            </a:r>
            <a:r>
              <a:rPr lang="en-US" altLang="zh-CN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LD=“0”</a:t>
            </a: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时，在</a:t>
            </a:r>
            <a:r>
              <a:rPr lang="en-US" altLang="zh-CN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信号上升沿作用后</a:t>
            </a: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，观察并记录输出端状态，并与数据输入端的状态比较；</a:t>
            </a:r>
            <a:endParaRPr lang="en-US" altLang="zh-CN" sz="20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125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CR=LD=EP=ET=“1”</a:t>
            </a: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端连续加脉冲</a:t>
            </a: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上升</a:t>
            </a: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沿，观察并记录输出端状态。</a:t>
            </a:r>
            <a:endParaRPr lang="en-US" altLang="zh-CN" sz="20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125000"/>
              </a:lnSpc>
            </a:pPr>
            <a:endParaRPr lang="en-US" altLang="zh-CN" sz="20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9856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验证计数器</a:t>
            </a:r>
            <a:r>
              <a:rPr lang="en-US" altLang="zh-CN" dirty="0"/>
              <a:t>74LS161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实现模</a:t>
            </a:r>
            <a:r>
              <a:rPr lang="en-US" altLang="zh-CN" sz="2800" dirty="0">
                <a:latin typeface="宋体-18030" pitchFamily="49" charset="-122"/>
                <a:ea typeface="宋体-18030" pitchFamily="49" charset="-122"/>
              </a:rPr>
              <a:t>M10</a:t>
            </a:r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的计数器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设计二十五进制的计数器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6695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验证计数器</a:t>
            </a:r>
            <a:r>
              <a:rPr lang="en-US" altLang="zh-CN" dirty="0"/>
              <a:t>74LS161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实现模</a:t>
            </a:r>
            <a:r>
              <a:rPr lang="en-US" altLang="zh-CN" dirty="0"/>
              <a:t>M10</a:t>
            </a:r>
            <a:r>
              <a:rPr lang="zh-CN" altLang="en-US" dirty="0"/>
              <a:t>的计数器实验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设计二十五进制的计数器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5472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实现模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M10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的计数器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537102" y="1437354"/>
            <a:ext cx="112532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1.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利用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74LS161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的清零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端实现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模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M10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计数器。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>
              <a:lnSpc>
                <a:spcPct val="125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分析：模为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，即当计数器从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0000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计数到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1010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时，输出端又返回到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0000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，也就是计数到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1010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后，输出值又重新清零为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0000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，重新开始对脉冲上升沿计数。</a:t>
            </a: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603" y="2914682"/>
            <a:ext cx="7823663" cy="383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5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实现模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M10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的计数器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884235" y="2057882"/>
            <a:ext cx="100292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2.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利用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74LS161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的置数端实现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模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M10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计数器。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>
              <a:lnSpc>
                <a:spcPct val="125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分析：计数器计数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次后，到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1111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状态时，产生的进位信号译码后，反馈到置数端。计数器从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0110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状态开始加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计数，计数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个脉冲后，输出状态为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1111,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；此时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RCO=Q3•Q2•Q1•Q0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ENT=1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LOAD*=0;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在第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个脉冲后，输出状态被置成输入（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0110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），同时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LOAD*=1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RCO=0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。新的计数周期又从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0110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开始。</a:t>
            </a: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418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实现模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M10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的计数器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615459" y="1127345"/>
            <a:ext cx="7149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2.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利用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74LS161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的置数端实现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模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M10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计数器。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91" y="1744132"/>
            <a:ext cx="10609567" cy="492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8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验证计数器</a:t>
            </a:r>
            <a:r>
              <a:rPr lang="en-US" altLang="zh-CN" dirty="0"/>
              <a:t>74LS161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实现模</a:t>
            </a:r>
            <a:r>
              <a:rPr lang="en-US" altLang="zh-CN" dirty="0"/>
              <a:t>M10</a:t>
            </a:r>
            <a:r>
              <a:rPr lang="zh-CN" altLang="en-US" dirty="0"/>
              <a:t>的计数器实验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设计二十五进制的计数器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1012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验证计数器</a:t>
            </a:r>
            <a:r>
              <a:rPr lang="en-US" altLang="zh-CN" dirty="0"/>
              <a:t>74LS161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实现模</a:t>
            </a:r>
            <a:r>
              <a:rPr lang="en-US" altLang="zh-CN" dirty="0"/>
              <a:t>M10</a:t>
            </a:r>
            <a:r>
              <a:rPr lang="zh-CN" altLang="en-US" dirty="0"/>
              <a:t>的计数器实验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设计二十五进制的计数器实验</a:t>
            </a:r>
            <a:endParaRPr lang="en-US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0543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6659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设计二十五进制的计数器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1045028" y="1670530"/>
            <a:ext cx="9622972" cy="4061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利用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74LS161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和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74LS04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设计二十五进制的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计数器，即利用同步置数法实现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M=25</a:t>
            </a: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的计数器。</a:t>
            </a:r>
            <a:endParaRPr lang="en-US" altLang="zh-CN" sz="2400" b="1" dirty="0" smtClean="0">
              <a:solidFill>
                <a:schemeClr val="bg1"/>
              </a:solidFill>
              <a:ea typeface="宋体-18030" pitchFamily="49" charset="-122"/>
            </a:endParaRPr>
          </a:p>
          <a:p>
            <a:pPr indent="457200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分析：</a:t>
            </a:r>
            <a:r>
              <a:rPr lang="en-US" altLang="zh-CN" sz="2400" b="1" dirty="0" smtClean="0">
                <a:solidFill>
                  <a:schemeClr val="bg1"/>
                </a:solidFill>
                <a:ea typeface="宋体-18030" pitchFamily="49" charset="-122"/>
              </a:rPr>
              <a:t>25</a:t>
            </a: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已经超过了单片计数器的计数范围，需要多片级联。两片级联计数最大次数为</a:t>
            </a:r>
            <a:r>
              <a:rPr lang="en-US" altLang="zh-CN" sz="2400" b="1" dirty="0" smtClean="0">
                <a:solidFill>
                  <a:schemeClr val="bg1"/>
                </a:solidFill>
                <a:ea typeface="宋体-18030" pitchFamily="49" charset="-122"/>
              </a:rPr>
              <a:t>256</a:t>
            </a: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，则计数初值为</a:t>
            </a:r>
            <a:r>
              <a:rPr lang="en-US" altLang="zh-CN" sz="2400" b="1" dirty="0" smtClean="0">
                <a:solidFill>
                  <a:schemeClr val="bg1"/>
                </a:solidFill>
                <a:ea typeface="宋体-18030" pitchFamily="49" charset="-122"/>
              </a:rPr>
              <a:t>256-25=231</a:t>
            </a: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，即</a:t>
            </a:r>
            <a:r>
              <a:rPr lang="en-US" altLang="zh-CN" sz="2400" b="1" dirty="0" smtClean="0">
                <a:solidFill>
                  <a:schemeClr val="bg1"/>
                </a:solidFill>
                <a:ea typeface="宋体-18030" pitchFamily="49" charset="-122"/>
              </a:rPr>
              <a:t>1110 0111B</a:t>
            </a: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。</a:t>
            </a:r>
            <a:endParaRPr lang="en-US" altLang="zh-CN" sz="2400" b="1" dirty="0" smtClean="0">
              <a:solidFill>
                <a:schemeClr val="bg1"/>
              </a:solidFill>
              <a:ea typeface="宋体-18030" pitchFamily="49" charset="-122"/>
            </a:endParaRPr>
          </a:p>
          <a:p>
            <a:pPr indent="457200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低位计数器的进位输出</a:t>
            </a:r>
            <a:r>
              <a:rPr lang="en-US" altLang="zh-CN" sz="2400" b="1" dirty="0" smtClean="0">
                <a:solidFill>
                  <a:schemeClr val="bg1"/>
                </a:solidFill>
                <a:ea typeface="宋体-18030" pitchFamily="49" charset="-122"/>
              </a:rPr>
              <a:t>RCO1</a:t>
            </a: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控制高位计数器的使能</a:t>
            </a:r>
            <a:r>
              <a:rPr lang="en-US" altLang="zh-CN" sz="2400" b="1" dirty="0" smtClean="0">
                <a:solidFill>
                  <a:schemeClr val="bg1"/>
                </a:solidFill>
                <a:ea typeface="宋体-18030" pitchFamily="49" charset="-122"/>
              </a:rPr>
              <a:t>ENT</a:t>
            </a: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，仅当低位计数器状态计到全“</a:t>
            </a:r>
            <a:r>
              <a:rPr lang="en-US" altLang="zh-CN" sz="2400" b="1" dirty="0" smtClean="0">
                <a:solidFill>
                  <a:schemeClr val="bg1"/>
                </a:solidFill>
                <a:ea typeface="宋体-18030" pitchFamily="49" charset="-122"/>
              </a:rPr>
              <a:t>1</a:t>
            </a: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”时，其进位</a:t>
            </a:r>
            <a:r>
              <a:rPr lang="en-US" altLang="zh-CN" sz="2400" b="1" dirty="0" smtClean="0">
                <a:solidFill>
                  <a:schemeClr val="bg1"/>
                </a:solidFill>
                <a:ea typeface="宋体-18030" pitchFamily="49" charset="-122"/>
              </a:rPr>
              <a:t>RCO1=1</a:t>
            </a: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，才能是高位计数器有效加</a:t>
            </a:r>
            <a:r>
              <a:rPr lang="en-US" altLang="zh-CN" sz="2400" b="1" dirty="0" smtClean="0">
                <a:solidFill>
                  <a:schemeClr val="bg1"/>
                </a:solidFill>
                <a:ea typeface="宋体-18030" pitchFamily="49" charset="-122"/>
              </a:rPr>
              <a:t>1.</a:t>
            </a: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高位计数器的输出为</a:t>
            </a:r>
            <a:r>
              <a:rPr lang="en-US" altLang="zh-CN" sz="2400" b="1" dirty="0" smtClean="0">
                <a:solidFill>
                  <a:schemeClr val="bg1"/>
                </a:solidFill>
                <a:ea typeface="宋体-18030" pitchFamily="49" charset="-122"/>
              </a:rPr>
              <a:t>Q7-Q4</a:t>
            </a:r>
            <a:r>
              <a:rPr lang="zh-CN" altLang="en-US" sz="2400" b="1" dirty="0" smtClean="0">
                <a:solidFill>
                  <a:schemeClr val="bg1"/>
                </a:solidFill>
                <a:ea typeface="宋体-18030" pitchFamily="49" charset="-122"/>
              </a:rPr>
              <a:t>，低位计数器的输出为</a:t>
            </a:r>
            <a:r>
              <a:rPr lang="en-US" altLang="zh-CN" sz="2400" b="1" dirty="0" smtClean="0">
                <a:solidFill>
                  <a:schemeClr val="bg1"/>
                </a:solidFill>
                <a:ea typeface="宋体-18030" pitchFamily="49" charset="-122"/>
              </a:rPr>
              <a:t>Q3-Q0</a:t>
            </a:r>
            <a:r>
              <a:rPr lang="zh-CN" altLang="en-US" sz="2400" b="1" dirty="0">
                <a:solidFill>
                  <a:schemeClr val="bg1"/>
                </a:solidFill>
                <a:ea typeface="宋体-18030" pitchFamily="49" charset="-122"/>
              </a:rPr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9394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6659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设计二十五进制的计数器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711" y="104333"/>
            <a:ext cx="9016996" cy="66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2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验证计数器</a:t>
            </a:r>
            <a:r>
              <a:rPr lang="en-US" altLang="zh-CN" dirty="0"/>
              <a:t>74LS161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实现模</a:t>
            </a:r>
            <a:r>
              <a:rPr lang="en-US" altLang="zh-CN" dirty="0"/>
              <a:t>M10</a:t>
            </a:r>
            <a:r>
              <a:rPr lang="zh-CN" altLang="en-US" dirty="0"/>
              <a:t>的计数器实验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设计二十五进制的计数器实验</a:t>
            </a:r>
            <a:endParaRPr lang="en-US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5027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验证计数器</a:t>
            </a:r>
            <a:r>
              <a:rPr lang="en-US" altLang="zh-CN" dirty="0"/>
              <a:t>74LS161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实现模</a:t>
            </a:r>
            <a:r>
              <a:rPr lang="en-US" altLang="zh-CN" dirty="0"/>
              <a:t>M10</a:t>
            </a:r>
            <a:r>
              <a:rPr lang="zh-CN" altLang="en-US" dirty="0"/>
              <a:t>的计数器实验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设计二十五进制的计数器实验</a:t>
            </a:r>
            <a:endParaRPr lang="en-US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1.4</a:t>
            </a: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下一实验内容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32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187695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下一次实验内容</a:t>
              </a:r>
              <a:endParaRPr lang="en-US" altLang="zh-CN" sz="3200" b="1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2728383" y="2178643"/>
            <a:ext cx="62378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测试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74LS194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的逻辑功能；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移存型计数器；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位环形计数器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/4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位扭环形计数器。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549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4">
            <a:extLst>
              <a:ext uri="{FF2B5EF4-FFF2-40B4-BE49-F238E27FC236}">
                <a16:creationId xmlns="" xmlns:a16="http://schemas.microsoft.com/office/drawing/2014/main" id="{E103A22C-9FB4-4E6A-A98A-B94881471114}"/>
              </a:ext>
            </a:extLst>
          </p:cNvPr>
          <p:cNvSpPr txBox="1"/>
          <p:nvPr/>
        </p:nvSpPr>
        <p:spPr>
          <a:xfrm>
            <a:off x="4609767" y="2795304"/>
            <a:ext cx="2728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rgbClr val="F4B183"/>
                </a:solidFill>
                <a:latin typeface="微软雅黑 Light" panose="020B0502040204020203" pitchFamily="34" charset="-122"/>
              </a:rPr>
              <a:t>谢谢</a:t>
            </a:r>
            <a:endParaRPr lang="en-US" sz="6600" b="1" dirty="0">
              <a:solidFill>
                <a:srgbClr val="F4B183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29" name="KSO_Shape">
            <a:extLst>
              <a:ext uri="{FF2B5EF4-FFF2-40B4-BE49-F238E27FC236}">
                <a16:creationId xmlns="" xmlns:a16="http://schemas.microsoft.com/office/drawing/2014/main" id="{4E49163D-DFAB-41F1-AACE-58EEE9068C80}"/>
              </a:ext>
            </a:extLst>
          </p:cNvPr>
          <p:cNvSpPr/>
          <p:nvPr/>
        </p:nvSpPr>
        <p:spPr>
          <a:xfrm>
            <a:off x="2599935" y="2157468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>
            <a:extLst>
              <a:ext uri="{FF2B5EF4-FFF2-40B4-BE49-F238E27FC236}">
                <a16:creationId xmlns="" xmlns:a16="http://schemas.microsoft.com/office/drawing/2014/main" id="{B1C3E434-2A4B-4365-B940-77631D63F6B9}"/>
              </a:ext>
            </a:extLst>
          </p:cNvPr>
          <p:cNvSpPr/>
          <p:nvPr/>
        </p:nvSpPr>
        <p:spPr>
          <a:xfrm rot="10800000">
            <a:off x="8821660" y="3878991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>
            <a:extLst>
              <a:ext uri="{FF2B5EF4-FFF2-40B4-BE49-F238E27FC236}">
                <a16:creationId xmlns="" xmlns:a16="http://schemas.microsoft.com/office/drawing/2014/main" id="{2D4135F2-ABE8-425F-B506-579321AA1BCC}"/>
              </a:ext>
            </a:extLst>
          </p:cNvPr>
          <p:cNvSpPr>
            <a:spLocks/>
          </p:cNvSpPr>
          <p:nvPr/>
        </p:nvSpPr>
        <p:spPr bwMode="auto">
          <a:xfrm>
            <a:off x="2982593" y="2444292"/>
            <a:ext cx="556739" cy="647769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4604</TotalTime>
  <Words>754</Words>
  <Application>Microsoft Office PowerPoint</Application>
  <PresentationFormat>宽屏</PresentationFormat>
  <Paragraphs>131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 Unicode MS</vt:lpstr>
      <vt:lpstr>Dense</vt:lpstr>
      <vt:lpstr>等线</vt:lpstr>
      <vt:lpstr>等线 Light</vt:lpstr>
      <vt:lpstr>黑体</vt:lpstr>
      <vt:lpstr>宋体</vt:lpstr>
      <vt:lpstr>宋体-18030</vt:lpstr>
      <vt:lpstr>微软雅黑</vt:lpstr>
      <vt:lpstr>微软雅黑 Light</vt:lpstr>
      <vt:lpstr>Arial</vt:lpstr>
      <vt:lpstr>Calibri</vt:lpstr>
      <vt:lpstr>Times New Roman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黑色简洁</dc:title>
  <dc:creator>www.1ppt.com</dc:creator>
  <cp:keywords>第一PPT模板网-WWW.1PPT.COM</cp:keywords>
  <dc:description>www.1ppt.com</dc:description>
  <cp:lastModifiedBy>Windows 用户</cp:lastModifiedBy>
  <cp:revision>253</cp:revision>
  <dcterms:created xsi:type="dcterms:W3CDTF">2017-06-21T08:21:13Z</dcterms:created>
  <dcterms:modified xsi:type="dcterms:W3CDTF">2021-11-23T14:52:20Z</dcterms:modified>
</cp:coreProperties>
</file>