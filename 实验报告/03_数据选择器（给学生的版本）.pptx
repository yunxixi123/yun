
<file path=[Content_Types].xml><?xml version="1.0" encoding="utf-8"?>
<Types xmlns="http://schemas.openxmlformats.org/package/2006/content-types">
  <Default Extension="jpeg" ContentType="image/jpeg"/>
  <Default Extension="JPG" ContentType="image/.jpg"/>
  <Default Extension="emf" ContentType="image/x-emf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"/>
  </p:notesMasterIdLst>
  <p:sldIdLst>
    <p:sldId id="274" r:id="rId3"/>
    <p:sldId id="300" r:id="rId5"/>
    <p:sldId id="479" r:id="rId6"/>
    <p:sldId id="480" r:id="rId7"/>
    <p:sldId id="481" r:id="rId8"/>
    <p:sldId id="448" r:id="rId9"/>
    <p:sldId id="483" r:id="rId10"/>
    <p:sldId id="484" r:id="rId11"/>
    <p:sldId id="450" r:id="rId12"/>
    <p:sldId id="459" r:id="rId13"/>
    <p:sldId id="485" r:id="rId14"/>
    <p:sldId id="486" r:id="rId15"/>
    <p:sldId id="317" r:id="rId16"/>
    <p:sldId id="487" r:id="rId17"/>
    <p:sldId id="488" r:id="rId18"/>
    <p:sldId id="489" r:id="rId19"/>
    <p:sldId id="490" r:id="rId20"/>
    <p:sldId id="491" r:id="rId21"/>
    <p:sldId id="492" r:id="rId22"/>
    <p:sldId id="493" r:id="rId23"/>
    <p:sldId id="462" r:id="rId24"/>
    <p:sldId id="494" r:id="rId25"/>
    <p:sldId id="495" r:id="rId26"/>
    <p:sldId id="496" r:id="rId27"/>
    <p:sldId id="497" r:id="rId28"/>
    <p:sldId id="498" r:id="rId29"/>
    <p:sldId id="446" r:id="rId30"/>
    <p:sldId id="279" r:id="rId31"/>
  </p:sldIdLst>
  <p:sldSz cx="12192000" cy="6858000"/>
  <p:notesSz cx="6858000" cy="9144000"/>
  <p:custDataLst>
    <p:tags r:id="rId35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00FF"/>
    <a:srgbClr val="00FF00"/>
    <a:srgbClr val="F4B183"/>
    <a:srgbClr val="FF9900"/>
    <a:srgbClr val="2A2827"/>
    <a:srgbClr val="E7C5AE"/>
    <a:srgbClr val="88888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2838BEF-8BB2-4498-84A7-C5851F593DF1}" styleName="中度样式 4 - 强调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5"/>
              </a:solidFill>
            </a:ln>
          </a:top>
        </a:tcBdr>
        <a:fill>
          <a:solidFill>
            <a:schemeClr val="accent5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5">
              <a:tint val="20000"/>
            </a:schemeClr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0030" autoAdjust="0"/>
    <p:restoredTop sz="94660"/>
  </p:normalViewPr>
  <p:slideViewPr>
    <p:cSldViewPr snapToGrid="0" showGuides="1">
      <p:cViewPr varScale="1">
        <p:scale>
          <a:sx n="121" d="100"/>
          <a:sy n="121" d="100"/>
        </p:scale>
        <p:origin x="826" y="86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91" d="100"/>
        <a:sy n="91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5" Type="http://schemas.openxmlformats.org/officeDocument/2006/relationships/tags" Target="tags/tag1.xml"/><Relationship Id="rId34" Type="http://schemas.openxmlformats.org/officeDocument/2006/relationships/tableStyles" Target="tableStyles.xml"/><Relationship Id="rId33" Type="http://schemas.openxmlformats.org/officeDocument/2006/relationships/viewProps" Target="viewProps.xml"/><Relationship Id="rId32" Type="http://schemas.openxmlformats.org/officeDocument/2006/relationships/presProps" Target="presProps.xml"/><Relationship Id="rId31" Type="http://schemas.openxmlformats.org/officeDocument/2006/relationships/slide" Target="slides/slide28.xml"/><Relationship Id="rId30" Type="http://schemas.openxmlformats.org/officeDocument/2006/relationships/slide" Target="slides/slide27.xml"/><Relationship Id="rId3" Type="http://schemas.openxmlformats.org/officeDocument/2006/relationships/slide" Target="slides/slide1.xml"/><Relationship Id="rId29" Type="http://schemas.openxmlformats.org/officeDocument/2006/relationships/slide" Target="slides/slide26.xml"/><Relationship Id="rId28" Type="http://schemas.openxmlformats.org/officeDocument/2006/relationships/slide" Target="slides/slide25.xml"/><Relationship Id="rId27" Type="http://schemas.openxmlformats.org/officeDocument/2006/relationships/slide" Target="slides/slide24.xml"/><Relationship Id="rId26" Type="http://schemas.openxmlformats.org/officeDocument/2006/relationships/slide" Target="slides/slide23.xml"/><Relationship Id="rId25" Type="http://schemas.openxmlformats.org/officeDocument/2006/relationships/slide" Target="slides/slide22.xml"/><Relationship Id="rId24" Type="http://schemas.openxmlformats.org/officeDocument/2006/relationships/slide" Target="slides/slide21.xml"/><Relationship Id="rId23" Type="http://schemas.openxmlformats.org/officeDocument/2006/relationships/slide" Target="slides/slide20.xml"/><Relationship Id="rId22" Type="http://schemas.openxmlformats.org/officeDocument/2006/relationships/slide" Target="slides/slide19.xml"/><Relationship Id="rId21" Type="http://schemas.openxmlformats.org/officeDocument/2006/relationships/slide" Target="slides/slide18.xml"/><Relationship Id="rId20" Type="http://schemas.openxmlformats.org/officeDocument/2006/relationships/slide" Target="slides/slide17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4A50B36-9D4A-468C-8410-95B1900814AF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6F98910-327C-4EAC-AB95-1250C2EE6400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5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6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7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8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9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0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2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3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4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5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6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7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8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6F98910-327C-4EAC-AB95-1250C2EE6400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6F98910-327C-4EAC-AB95-1250C2EE6400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6F98910-327C-4EAC-AB95-1250C2EE6400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6F98910-327C-4EAC-AB95-1250C2EE6400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6F98910-327C-4EAC-AB95-1250C2EE6400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6F98910-327C-4EAC-AB95-1250C2EE6400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6F98910-327C-4EAC-AB95-1250C2EE6400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6F98910-327C-4EAC-AB95-1250C2EE6400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6F98910-327C-4EAC-AB95-1250C2EE6400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6F98910-327C-4EAC-AB95-1250C2EE6400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6F98910-327C-4EAC-AB95-1250C2EE6400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6F98910-327C-4EAC-AB95-1250C2EE6400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6F98910-327C-4EAC-AB95-1250C2EE6400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6F98910-327C-4EAC-AB95-1250C2EE6400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6F98910-327C-4EAC-AB95-1250C2EE6400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6F98910-327C-4EAC-AB95-1250C2EE6400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6F98910-327C-4EAC-AB95-1250C2EE6400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6F98910-327C-4EAC-AB95-1250C2EE6400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6F98910-327C-4EAC-AB95-1250C2EE6400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6F98910-327C-4EAC-AB95-1250C2EE6400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6F98910-327C-4EAC-AB95-1250C2EE6400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6F98910-327C-4EAC-AB95-1250C2EE6400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6F98910-327C-4EAC-AB95-1250C2EE6400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6F98910-327C-4EAC-AB95-1250C2EE6400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6F98910-327C-4EAC-AB95-1250C2EE6400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6F98910-327C-4EAC-AB95-1250C2EE6400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6F98910-327C-4EAC-AB95-1250C2EE6400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6F98910-327C-4EAC-AB95-1250C2EE6400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 hasCustomPrompt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单击以编辑母版副标题样式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A7ECF6-13F7-4665-8CC8-E6D7D0DC7252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276810-A8C4-4E47-9E58-14159F80C21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 advTm="5000">
        <p:random/>
      </p:transition>
    </mc:Choice>
    <mc:Fallback>
      <p:transition spd="slow" advTm="5000">
        <p:random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 hasCustomPrompt="1"/>
          </p:nvPr>
        </p:nvSpPr>
        <p:spPr/>
        <p:txBody>
          <a:bodyPr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A7ECF6-13F7-4665-8CC8-E6D7D0DC7252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276810-A8C4-4E47-9E58-14159F80C21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 advTm="5000">
        <p:random/>
      </p:transition>
    </mc:Choice>
    <mc:Fallback>
      <p:transition spd="slow" advTm="5000">
        <p:random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编辑母版文本样式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A7ECF6-13F7-4665-8CC8-E6D7D0DC7252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276810-A8C4-4E47-9E58-14159F80C21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 advTm="5000">
        <p:random/>
      </p:transition>
    </mc:Choice>
    <mc:Fallback>
      <p:transition spd="slow" advTm="5000">
        <p:random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 hasCustomPrompt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 hasCustomPrompt="1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A7ECF6-13F7-4665-8CC8-E6D7D0DC7252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276810-A8C4-4E47-9E58-14159F80C21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 advTm="5000">
        <p:random/>
      </p:transition>
    </mc:Choice>
    <mc:Fallback>
      <p:transition spd="slow" advTm="5000">
        <p:random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 hasCustomPrompt="1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 hasCustomPrompt="1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A7ECF6-13F7-4665-8CC8-E6D7D0DC7252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276810-A8C4-4E47-9E58-14159F80C21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 advTm="5000">
        <p:random/>
      </p:transition>
    </mc:Choice>
    <mc:Fallback>
      <p:transition spd="slow" advTm="5000">
        <p:random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A7ECF6-13F7-4665-8CC8-E6D7D0DC7252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276810-A8C4-4E47-9E58-14159F80C21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 advTm="5000">
        <p:random/>
      </p:transition>
    </mc:Choice>
    <mc:Fallback>
      <p:transition spd="slow" advTm="5000">
        <p:random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A7ECF6-13F7-4665-8CC8-E6D7D0DC7252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276810-A8C4-4E47-9E58-14159F80C21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 advTm="5000">
        <p:random/>
      </p:transition>
    </mc:Choice>
    <mc:Fallback>
      <p:transition spd="slow" advTm="5000">
        <p:random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 hasCustomPrompt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 hasCustomPrompt="1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A7ECF6-13F7-4665-8CC8-E6D7D0DC7252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276810-A8C4-4E47-9E58-14159F80C21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 advTm="5000">
        <p:random/>
      </p:transition>
    </mc:Choice>
    <mc:Fallback>
      <p:transition spd="slow" advTm="5000">
        <p:random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 hasCustomPrompt="1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A7ECF6-13F7-4665-8CC8-E6D7D0DC7252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276810-A8C4-4E47-9E58-14159F80C21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 advTm="5000">
        <p:random/>
      </p:transition>
    </mc:Choice>
    <mc:Fallback>
      <p:transition spd="slow" advTm="5000">
        <p:random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 hasCustomPrompt="1"/>
          </p:nvPr>
        </p:nvSpPr>
        <p:spPr/>
        <p:txBody>
          <a:bodyPr vert="eaVert"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A7ECF6-13F7-4665-8CC8-E6D7D0DC7252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276810-A8C4-4E47-9E58-14159F80C21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 advTm="5000">
        <p:random/>
      </p:transition>
    </mc:Choice>
    <mc:Fallback>
      <p:transition spd="slow" advTm="5000">
        <p:random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 hasCustomPrompt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A7ECF6-13F7-4665-8CC8-E6D7D0DC7252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276810-A8C4-4E47-9E58-14159F80C21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 advTm="5000">
        <p:random/>
      </p:transition>
    </mc:Choice>
    <mc:Fallback>
      <p:transition spd="slow" advTm="5000">
        <p:random/>
      </p:transition>
    </mc:Fallback>
  </mc:AlternateConten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/>
          <p:cNvSpPr>
            <a:spLocks noGrp="1"/>
          </p:cNvSpPr>
          <p:nvPr>
            <p:ph type="title" hasCustomPrompt="1"/>
          </p:nvPr>
        </p:nvSpPr>
        <p:spPr>
          <a:xfrm>
            <a:off x="458370" y="126928"/>
            <a:ext cx="9041230" cy="1126050"/>
          </a:xfrm>
        </p:spPr>
        <p:txBody>
          <a:bodyPr>
            <a:noAutofit/>
          </a:bodyPr>
          <a:lstStyle>
            <a:lvl1pPr algn="l">
              <a:defRPr sz="40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 advTm="5000">
        <p:random/>
      </p:transition>
    </mc:Choice>
    <mc:Fallback>
      <p:transition spd="slow" advTm="5000">
        <p:random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4" Type="http://schemas.openxmlformats.org/officeDocument/2006/relationships/theme" Target="../theme/theme1.xml"/><Relationship Id="rId13" Type="http://schemas.openxmlformats.org/officeDocument/2006/relationships/image" Target="../media/image1.jpeg"/><Relationship Id="rId12" Type="http://schemas.openxmlformats.org/officeDocument/2006/relationships/slideLayout" Target="../slideLayouts/slideLayout12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 cstate="screen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CA7ECF6-13F7-4665-8CC8-E6D7D0DC7252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B276810-A8C4-4E47-9E58-14159F80C21C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mc:AlternateContent xmlns:mc="http://schemas.openxmlformats.org/markup-compatibility/2006">
    <mc:Choice xmlns:p14="http://schemas.microsoft.com/office/powerpoint/2010/main" Requires="p14">
      <p:transition spd="slow" p14:dur="1500" advTm="5000">
        <p:random/>
      </p:transition>
    </mc:Choice>
    <mc:Fallback>
      <p:transition spd="slow" advTm="5000">
        <p:random/>
      </p:transition>
    </mc:Fallback>
  </mc:AlternateConten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4.xml"/><Relationship Id="rId3" Type="http://schemas.openxmlformats.org/officeDocument/2006/relationships/slideLayout" Target="../slideLayouts/slideLayout12.xml"/><Relationship Id="rId2" Type="http://schemas.openxmlformats.org/officeDocument/2006/relationships/image" Target="../media/image3.png"/><Relationship Id="rId1" Type="http://schemas.openxmlformats.org/officeDocument/2006/relationships/image" Target="../media/image2.jpe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.xml"/><Relationship Id="rId2" Type="http://schemas.openxmlformats.org/officeDocument/2006/relationships/slideLayout" Target="../slideLayouts/slideLayout12.xml"/><Relationship Id="rId1" Type="http://schemas.openxmlformats.org/officeDocument/2006/relationships/image" Target="../media/image4.png"/></Relationships>
</file>

<file path=ppt/slides/_rels/slide6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6.xml"/><Relationship Id="rId5" Type="http://schemas.openxmlformats.org/officeDocument/2006/relationships/slideLayout" Target="../slideLayouts/slideLayout12.xml"/><Relationship Id="rId4" Type="http://schemas.openxmlformats.org/officeDocument/2006/relationships/image" Target="../media/image8.emf"/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image" Target="../media/image5.png"/></Relationships>
</file>

<file path=ppt/slides/_rels/slide7.xml.rels><?xml version="1.0" encoding="UTF-8" standalone="yes"?>
<Relationships xmlns="http://schemas.openxmlformats.org/package/2006/relationships"><Relationship Id="rId7" Type="http://schemas.openxmlformats.org/officeDocument/2006/relationships/notesSlide" Target="../notesSlides/notesSlide7.xml"/><Relationship Id="rId6" Type="http://schemas.openxmlformats.org/officeDocument/2006/relationships/slideLayout" Target="../slideLayouts/slideLayout12.xml"/><Relationship Id="rId5" Type="http://schemas.openxmlformats.org/officeDocument/2006/relationships/image" Target="../media/image10.emf"/><Relationship Id="rId4" Type="http://schemas.openxmlformats.org/officeDocument/2006/relationships/image" Target="../media/image9.emf"/><Relationship Id="rId3" Type="http://schemas.openxmlformats.org/officeDocument/2006/relationships/image" Target="../media/image8.emf"/><Relationship Id="rId2" Type="http://schemas.openxmlformats.org/officeDocument/2006/relationships/image" Target="../media/image7.png"/><Relationship Id="rId1" Type="http://schemas.openxmlformats.org/officeDocument/2006/relationships/image" Target="../media/image6.png"/></Relationships>
</file>

<file path=ppt/slides/_rels/slide8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8.xml"/><Relationship Id="rId4" Type="http://schemas.openxmlformats.org/officeDocument/2006/relationships/slideLayout" Target="../slideLayouts/slideLayout12.xml"/><Relationship Id="rId3" Type="http://schemas.openxmlformats.org/officeDocument/2006/relationships/image" Target="../media/image12.emf"/><Relationship Id="rId2" Type="http://schemas.openxmlformats.org/officeDocument/2006/relationships/image" Target="../media/image11.emf"/><Relationship Id="rId1" Type="http://schemas.openxmlformats.org/officeDocument/2006/relationships/image" Target="../media/image6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2.xml"/></Relationships>
</file>

<file path=ppt/slides/_rels/slide15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15.xml"/><Relationship Id="rId4" Type="http://schemas.openxmlformats.org/officeDocument/2006/relationships/slideLayout" Target="../slideLayouts/slideLayout12.xml"/><Relationship Id="rId3" Type="http://schemas.openxmlformats.org/officeDocument/2006/relationships/image" Target="../media/image15.emf"/><Relationship Id="rId2" Type="http://schemas.openxmlformats.org/officeDocument/2006/relationships/image" Target="../media/image14.emf"/><Relationship Id="rId1" Type="http://schemas.openxmlformats.org/officeDocument/2006/relationships/image" Target="../media/image13.emf"/></Relationships>
</file>

<file path=ppt/slides/_rels/slide16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16.xml"/><Relationship Id="rId5" Type="http://schemas.openxmlformats.org/officeDocument/2006/relationships/slideLayout" Target="../slideLayouts/slideLayout12.xml"/><Relationship Id="rId4" Type="http://schemas.openxmlformats.org/officeDocument/2006/relationships/image" Target="../media/image16.png"/><Relationship Id="rId3" Type="http://schemas.openxmlformats.org/officeDocument/2006/relationships/image" Target="../media/image15.emf"/><Relationship Id="rId2" Type="http://schemas.openxmlformats.org/officeDocument/2006/relationships/image" Target="../media/image14.emf"/><Relationship Id="rId1" Type="http://schemas.openxmlformats.org/officeDocument/2006/relationships/image" Target="../media/image13.emf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extBox 4"/>
          <p:cNvSpPr txBox="1"/>
          <p:nvPr/>
        </p:nvSpPr>
        <p:spPr>
          <a:xfrm>
            <a:off x="1185334" y="2641890"/>
            <a:ext cx="10018006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5400" b="1" dirty="0">
                <a:solidFill>
                  <a:srgbClr val="F4B183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数据选择器</a:t>
            </a:r>
            <a:endParaRPr lang="en-US" altLang="zh-CN" sz="5400" b="1" dirty="0">
              <a:solidFill>
                <a:srgbClr val="F4B183"/>
              </a:solidFill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</p:txBody>
      </p:sp>
      <p:sp>
        <p:nvSpPr>
          <p:cNvPr id="29" name="KSO_Shape"/>
          <p:cNvSpPr/>
          <p:nvPr/>
        </p:nvSpPr>
        <p:spPr>
          <a:xfrm>
            <a:off x="1664753" y="1398932"/>
            <a:ext cx="765316" cy="765316"/>
          </a:xfrm>
          <a:custGeom>
            <a:avLst/>
            <a:gdLst>
              <a:gd name="connsiteX0" fmla="*/ 386329 w 1380180"/>
              <a:gd name="connsiteY0" fmla="*/ 0 h 1380181"/>
              <a:gd name="connsiteX1" fmla="*/ 432048 w 1380180"/>
              <a:gd name="connsiteY1" fmla="*/ 0 h 1380181"/>
              <a:gd name="connsiteX2" fmla="*/ 432048 w 1380180"/>
              <a:gd name="connsiteY2" fmla="*/ 386329 h 1380181"/>
              <a:gd name="connsiteX3" fmla="*/ 1380180 w 1380180"/>
              <a:gd name="connsiteY3" fmla="*/ 386329 h 1380181"/>
              <a:gd name="connsiteX4" fmla="*/ 1380180 w 1380180"/>
              <a:gd name="connsiteY4" fmla="*/ 432048 h 1380181"/>
              <a:gd name="connsiteX5" fmla="*/ 432048 w 1380180"/>
              <a:gd name="connsiteY5" fmla="*/ 432048 h 1380181"/>
              <a:gd name="connsiteX6" fmla="*/ 432048 w 1380180"/>
              <a:gd name="connsiteY6" fmla="*/ 1380181 h 1380181"/>
              <a:gd name="connsiteX7" fmla="*/ 386329 w 1380180"/>
              <a:gd name="connsiteY7" fmla="*/ 1380181 h 1380181"/>
              <a:gd name="connsiteX8" fmla="*/ 386329 w 1380180"/>
              <a:gd name="connsiteY8" fmla="*/ 432048 h 1380181"/>
              <a:gd name="connsiteX9" fmla="*/ 0 w 1380180"/>
              <a:gd name="connsiteY9" fmla="*/ 432048 h 1380181"/>
              <a:gd name="connsiteX10" fmla="*/ 0 w 1380180"/>
              <a:gd name="connsiteY10" fmla="*/ 386329 h 1380181"/>
              <a:gd name="connsiteX11" fmla="*/ 386329 w 1380180"/>
              <a:gd name="connsiteY11" fmla="*/ 386329 h 138018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1380180" h="1380181">
                <a:moveTo>
                  <a:pt x="386329" y="0"/>
                </a:moveTo>
                <a:lnTo>
                  <a:pt x="432048" y="0"/>
                </a:lnTo>
                <a:lnTo>
                  <a:pt x="432048" y="386329"/>
                </a:lnTo>
                <a:lnTo>
                  <a:pt x="1380180" y="386329"/>
                </a:lnTo>
                <a:lnTo>
                  <a:pt x="1380180" y="432048"/>
                </a:lnTo>
                <a:lnTo>
                  <a:pt x="432048" y="432048"/>
                </a:lnTo>
                <a:lnTo>
                  <a:pt x="432048" y="1380181"/>
                </a:lnTo>
                <a:lnTo>
                  <a:pt x="386329" y="1380181"/>
                </a:lnTo>
                <a:lnTo>
                  <a:pt x="386329" y="432048"/>
                </a:lnTo>
                <a:lnTo>
                  <a:pt x="0" y="432048"/>
                </a:lnTo>
                <a:lnTo>
                  <a:pt x="0" y="386329"/>
                </a:lnTo>
                <a:lnTo>
                  <a:pt x="386329" y="386329"/>
                </a:lnTo>
                <a:close/>
              </a:path>
            </a:pathLst>
          </a:custGeom>
          <a:solidFill>
            <a:schemeClr val="tx1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>
            <a:scene3d>
              <a:camera prst="orthographicFront"/>
              <a:lightRig rig="threePt" dir="t"/>
            </a:scene3d>
            <a:sp3d>
              <a:contourClr>
                <a:srgbClr val="FFFFFF"/>
              </a:contourClr>
            </a:sp3d>
          </a:bodyPr>
          <a:lstStyle>
            <a:defPPr>
              <a:defRPr lang="zh-CN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>
              <a:solidFill>
                <a:srgbClr val="FFFFFF"/>
              </a:solidFill>
            </a:endParaRPr>
          </a:p>
        </p:txBody>
      </p:sp>
      <p:sp>
        <p:nvSpPr>
          <p:cNvPr id="31" name="KSO_Shape"/>
          <p:cNvSpPr/>
          <p:nvPr/>
        </p:nvSpPr>
        <p:spPr>
          <a:xfrm rot="10800000">
            <a:off x="10090891" y="5430507"/>
            <a:ext cx="765316" cy="765316"/>
          </a:xfrm>
          <a:custGeom>
            <a:avLst/>
            <a:gdLst>
              <a:gd name="connsiteX0" fmla="*/ 386329 w 1380180"/>
              <a:gd name="connsiteY0" fmla="*/ 0 h 1380181"/>
              <a:gd name="connsiteX1" fmla="*/ 432048 w 1380180"/>
              <a:gd name="connsiteY1" fmla="*/ 0 h 1380181"/>
              <a:gd name="connsiteX2" fmla="*/ 432048 w 1380180"/>
              <a:gd name="connsiteY2" fmla="*/ 386329 h 1380181"/>
              <a:gd name="connsiteX3" fmla="*/ 1380180 w 1380180"/>
              <a:gd name="connsiteY3" fmla="*/ 386329 h 1380181"/>
              <a:gd name="connsiteX4" fmla="*/ 1380180 w 1380180"/>
              <a:gd name="connsiteY4" fmla="*/ 432048 h 1380181"/>
              <a:gd name="connsiteX5" fmla="*/ 432048 w 1380180"/>
              <a:gd name="connsiteY5" fmla="*/ 432048 h 1380181"/>
              <a:gd name="connsiteX6" fmla="*/ 432048 w 1380180"/>
              <a:gd name="connsiteY6" fmla="*/ 1380181 h 1380181"/>
              <a:gd name="connsiteX7" fmla="*/ 386329 w 1380180"/>
              <a:gd name="connsiteY7" fmla="*/ 1380181 h 1380181"/>
              <a:gd name="connsiteX8" fmla="*/ 386329 w 1380180"/>
              <a:gd name="connsiteY8" fmla="*/ 432048 h 1380181"/>
              <a:gd name="connsiteX9" fmla="*/ 0 w 1380180"/>
              <a:gd name="connsiteY9" fmla="*/ 432048 h 1380181"/>
              <a:gd name="connsiteX10" fmla="*/ 0 w 1380180"/>
              <a:gd name="connsiteY10" fmla="*/ 386329 h 1380181"/>
              <a:gd name="connsiteX11" fmla="*/ 386329 w 1380180"/>
              <a:gd name="connsiteY11" fmla="*/ 386329 h 138018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1380180" h="1380181">
                <a:moveTo>
                  <a:pt x="386329" y="0"/>
                </a:moveTo>
                <a:lnTo>
                  <a:pt x="432048" y="0"/>
                </a:lnTo>
                <a:lnTo>
                  <a:pt x="432048" y="386329"/>
                </a:lnTo>
                <a:lnTo>
                  <a:pt x="1380180" y="386329"/>
                </a:lnTo>
                <a:lnTo>
                  <a:pt x="1380180" y="432048"/>
                </a:lnTo>
                <a:lnTo>
                  <a:pt x="432048" y="432048"/>
                </a:lnTo>
                <a:lnTo>
                  <a:pt x="432048" y="1380181"/>
                </a:lnTo>
                <a:lnTo>
                  <a:pt x="386329" y="1380181"/>
                </a:lnTo>
                <a:lnTo>
                  <a:pt x="386329" y="432048"/>
                </a:lnTo>
                <a:lnTo>
                  <a:pt x="0" y="432048"/>
                </a:lnTo>
                <a:lnTo>
                  <a:pt x="0" y="386329"/>
                </a:lnTo>
                <a:lnTo>
                  <a:pt x="386329" y="386329"/>
                </a:lnTo>
                <a:close/>
              </a:path>
            </a:pathLst>
          </a:custGeom>
          <a:solidFill>
            <a:schemeClr val="tx1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>
            <a:scene3d>
              <a:camera prst="orthographicFront"/>
              <a:lightRig rig="threePt" dir="t"/>
            </a:scene3d>
            <a:sp3d>
              <a:contourClr>
                <a:srgbClr val="FFFFFF"/>
              </a:contourClr>
            </a:sp3d>
          </a:bodyPr>
          <a:lstStyle>
            <a:defPPr>
              <a:defRPr lang="zh-CN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>
              <a:solidFill>
                <a:srgbClr val="FFFFFF"/>
              </a:solidFill>
            </a:endParaRPr>
          </a:p>
        </p:txBody>
      </p:sp>
      <p:sp>
        <p:nvSpPr>
          <p:cNvPr id="34" name="KSO_Shape"/>
          <p:cNvSpPr/>
          <p:nvPr/>
        </p:nvSpPr>
        <p:spPr bwMode="auto">
          <a:xfrm>
            <a:off x="1664752" y="1287475"/>
            <a:ext cx="224441" cy="291998"/>
          </a:xfrm>
          <a:custGeom>
            <a:avLst/>
            <a:gdLst>
              <a:gd name="T0" fmla="*/ 894085 w 4268"/>
              <a:gd name="T1" fmla="*/ 1679836 h 5034"/>
              <a:gd name="T2" fmla="*/ 695736 w 4268"/>
              <a:gd name="T3" fmla="*/ 1585986 h 5034"/>
              <a:gd name="T4" fmla="*/ 499280 w 4268"/>
              <a:gd name="T5" fmla="*/ 1455429 h 5034"/>
              <a:gd name="T6" fmla="*/ 311151 w 4268"/>
              <a:gd name="T7" fmla="*/ 1274163 h 5034"/>
              <a:gd name="T8" fmla="*/ 154818 w 4268"/>
              <a:gd name="T9" fmla="*/ 1035375 h 5034"/>
              <a:gd name="T10" fmla="*/ 85169 w 4268"/>
              <a:gd name="T11" fmla="*/ 858272 h 5034"/>
              <a:gd name="T12" fmla="*/ 47316 w 4268"/>
              <a:gd name="T13" fmla="*/ 693656 h 5034"/>
              <a:gd name="T14" fmla="*/ 27633 w 4268"/>
              <a:gd name="T15" fmla="*/ 597914 h 5034"/>
              <a:gd name="T16" fmla="*/ 757 w 4268"/>
              <a:gd name="T17" fmla="*/ 830647 h 5034"/>
              <a:gd name="T18" fmla="*/ 11356 w 4268"/>
              <a:gd name="T19" fmla="*/ 1056567 h 5034"/>
              <a:gd name="T20" fmla="*/ 50723 w 4268"/>
              <a:gd name="T21" fmla="*/ 1251079 h 5034"/>
              <a:gd name="T22" fmla="*/ 127564 w 4268"/>
              <a:gd name="T23" fmla="*/ 1457700 h 5034"/>
              <a:gd name="T24" fmla="*/ 227117 w 4268"/>
              <a:gd name="T25" fmla="*/ 1628749 h 5034"/>
              <a:gd name="T26" fmla="*/ 332348 w 4268"/>
              <a:gd name="T27" fmla="*/ 1749467 h 5034"/>
              <a:gd name="T28" fmla="*/ 444771 w 4268"/>
              <a:gd name="T29" fmla="*/ 1832342 h 5034"/>
              <a:gd name="T30" fmla="*/ 560980 w 4268"/>
              <a:gd name="T31" fmla="*/ 1881538 h 5034"/>
              <a:gd name="T32" fmla="*/ 676431 w 4268"/>
              <a:gd name="T33" fmla="*/ 1903108 h 5034"/>
              <a:gd name="T34" fmla="*/ 843362 w 4268"/>
              <a:gd name="T35" fmla="*/ 1892512 h 5034"/>
              <a:gd name="T36" fmla="*/ 1038683 w 4268"/>
              <a:gd name="T37" fmla="*/ 1858832 h 5034"/>
              <a:gd name="T38" fmla="*/ 1322201 w 4268"/>
              <a:gd name="T39" fmla="*/ 1838775 h 5034"/>
              <a:gd name="T40" fmla="*/ 1516008 w 4268"/>
              <a:gd name="T41" fmla="*/ 1785039 h 5034"/>
              <a:gd name="T42" fmla="*/ 1579979 w 4268"/>
              <a:gd name="T43" fmla="*/ 1750602 h 5034"/>
              <a:gd name="T44" fmla="*/ 1398664 w 4268"/>
              <a:gd name="T45" fmla="*/ 1771037 h 5034"/>
              <a:gd name="T46" fmla="*/ 1156406 w 4268"/>
              <a:gd name="T47" fmla="*/ 1752872 h 5034"/>
              <a:gd name="T48" fmla="*/ 157089 w 4268"/>
              <a:gd name="T49" fmla="*/ 73036 h 5034"/>
              <a:gd name="T50" fmla="*/ 126807 w 4268"/>
              <a:gd name="T51" fmla="*/ 278522 h 5034"/>
              <a:gd name="T52" fmla="*/ 120751 w 4268"/>
              <a:gd name="T53" fmla="*/ 466979 h 5034"/>
              <a:gd name="T54" fmla="*/ 135135 w 4268"/>
              <a:gd name="T55" fmla="*/ 637271 h 5034"/>
              <a:gd name="T56" fmla="*/ 171474 w 4268"/>
              <a:gd name="T57" fmla="*/ 576344 h 5034"/>
              <a:gd name="T58" fmla="*/ 238473 w 4268"/>
              <a:gd name="T59" fmla="*/ 459788 h 5034"/>
              <a:gd name="T60" fmla="*/ 209705 w 4268"/>
              <a:gd name="T61" fmla="*/ 571803 h 5034"/>
              <a:gd name="T62" fmla="*/ 193428 w 4268"/>
              <a:gd name="T63" fmla="*/ 742095 h 5034"/>
              <a:gd name="T64" fmla="*/ 209326 w 4268"/>
              <a:gd name="T65" fmla="*/ 910495 h 5034"/>
              <a:gd name="T66" fmla="*/ 282761 w 4268"/>
              <a:gd name="T67" fmla="*/ 1059973 h 5034"/>
              <a:gd name="T68" fmla="*/ 341812 w 4268"/>
              <a:gd name="T69" fmla="*/ 1099330 h 5034"/>
              <a:gd name="T70" fmla="*/ 369066 w 4268"/>
              <a:gd name="T71" fmla="*/ 912765 h 5034"/>
              <a:gd name="T72" fmla="*/ 420924 w 4268"/>
              <a:gd name="T73" fmla="*/ 767449 h 5034"/>
              <a:gd name="T74" fmla="*/ 430009 w 4268"/>
              <a:gd name="T75" fmla="*/ 818537 h 5034"/>
              <a:gd name="T76" fmla="*/ 428116 w 4268"/>
              <a:gd name="T77" fmla="*/ 1022887 h 5034"/>
              <a:gd name="T78" fmla="*/ 465212 w 4268"/>
              <a:gd name="T79" fmla="*/ 1249565 h 5034"/>
              <a:gd name="T80" fmla="*/ 610567 w 4268"/>
              <a:gd name="T81" fmla="*/ 1416073 h 5034"/>
              <a:gd name="T82" fmla="*/ 668103 w 4268"/>
              <a:gd name="T83" fmla="*/ 1328278 h 5034"/>
              <a:gd name="T84" fmla="*/ 670753 w 4268"/>
              <a:gd name="T85" fmla="*/ 1121657 h 5034"/>
              <a:gd name="T86" fmla="*/ 705578 w 4268"/>
              <a:gd name="T87" fmla="*/ 961961 h 5034"/>
              <a:gd name="T88" fmla="*/ 719205 w 4268"/>
              <a:gd name="T89" fmla="*/ 1091004 h 5034"/>
              <a:gd name="T90" fmla="*/ 760464 w 4268"/>
              <a:gd name="T91" fmla="*/ 1298760 h 5034"/>
              <a:gd name="T92" fmla="*/ 840713 w 4268"/>
              <a:gd name="T93" fmla="*/ 1521654 h 5034"/>
              <a:gd name="T94" fmla="*/ 1029977 w 4268"/>
              <a:gd name="T95" fmla="*/ 1631776 h 5034"/>
              <a:gd name="T96" fmla="*/ 1163976 w 4268"/>
              <a:gd name="T97" fmla="*/ 1661672 h 5034"/>
              <a:gd name="T98" fmla="*/ 1198044 w 4268"/>
              <a:gd name="T99" fmla="*/ 1469052 h 5034"/>
              <a:gd name="T100" fmla="*/ 1196151 w 4268"/>
              <a:gd name="T101" fmla="*/ 1309735 h 5034"/>
              <a:gd name="T102" fmla="*/ 1159434 w 4268"/>
              <a:gd name="T103" fmla="*/ 1126198 h 5034"/>
              <a:gd name="T104" fmla="*/ 1071237 w 4268"/>
              <a:gd name="T105" fmla="*/ 931308 h 5034"/>
              <a:gd name="T106" fmla="*/ 914147 w 4268"/>
              <a:gd name="T107" fmla="*/ 737932 h 5034"/>
              <a:gd name="T108" fmla="*/ 674917 w 4268"/>
              <a:gd name="T109" fmla="*/ 549097 h 5034"/>
              <a:gd name="T110" fmla="*/ 403890 w 4268"/>
              <a:gd name="T111" fmla="*/ 298579 h 5034"/>
              <a:gd name="T112" fmla="*/ 239987 w 4268"/>
              <a:gd name="T113" fmla="*/ 101797 h 5034"/>
              <a:gd name="T114" fmla="*/ 0 60000 65536"/>
              <a:gd name="T115" fmla="*/ 0 60000 65536"/>
              <a:gd name="T116" fmla="*/ 0 60000 65536"/>
              <a:gd name="T117" fmla="*/ 0 60000 65536"/>
              <a:gd name="T118" fmla="*/ 0 60000 65536"/>
              <a:gd name="T119" fmla="*/ 0 60000 65536"/>
              <a:gd name="T120" fmla="*/ 0 60000 65536"/>
              <a:gd name="T121" fmla="*/ 0 60000 65536"/>
              <a:gd name="T122" fmla="*/ 0 60000 65536"/>
              <a:gd name="T123" fmla="*/ 0 60000 65536"/>
              <a:gd name="T124" fmla="*/ 0 60000 65536"/>
              <a:gd name="T125" fmla="*/ 0 60000 65536"/>
              <a:gd name="T126" fmla="*/ 0 60000 65536"/>
              <a:gd name="T127" fmla="*/ 0 60000 65536"/>
              <a:gd name="T128" fmla="*/ 0 60000 65536"/>
              <a:gd name="T129" fmla="*/ 0 60000 65536"/>
              <a:gd name="T130" fmla="*/ 0 60000 65536"/>
              <a:gd name="T131" fmla="*/ 0 60000 65536"/>
              <a:gd name="T132" fmla="*/ 0 60000 65536"/>
              <a:gd name="T133" fmla="*/ 0 60000 65536"/>
              <a:gd name="T134" fmla="*/ 0 60000 65536"/>
              <a:gd name="T135" fmla="*/ 0 60000 65536"/>
              <a:gd name="T136" fmla="*/ 0 60000 65536"/>
              <a:gd name="T137" fmla="*/ 0 60000 65536"/>
              <a:gd name="T138" fmla="*/ 0 60000 65536"/>
              <a:gd name="T139" fmla="*/ 0 60000 65536"/>
              <a:gd name="T140" fmla="*/ 0 60000 65536"/>
              <a:gd name="T141" fmla="*/ 0 60000 65536"/>
              <a:gd name="T142" fmla="*/ 0 60000 65536"/>
              <a:gd name="T143" fmla="*/ 0 60000 65536"/>
              <a:gd name="T144" fmla="*/ 0 60000 65536"/>
              <a:gd name="T145" fmla="*/ 0 60000 65536"/>
              <a:gd name="T146" fmla="*/ 0 60000 65536"/>
              <a:gd name="T147" fmla="*/ 0 60000 65536"/>
              <a:gd name="T148" fmla="*/ 0 60000 65536"/>
              <a:gd name="T149" fmla="*/ 0 60000 65536"/>
              <a:gd name="T150" fmla="*/ 0 60000 65536"/>
              <a:gd name="T151" fmla="*/ 0 60000 65536"/>
              <a:gd name="T152" fmla="*/ 0 60000 65536"/>
              <a:gd name="T153" fmla="*/ 0 60000 65536"/>
              <a:gd name="T154" fmla="*/ 0 60000 65536"/>
              <a:gd name="T155" fmla="*/ 0 60000 65536"/>
              <a:gd name="T156" fmla="*/ 0 60000 65536"/>
              <a:gd name="T157" fmla="*/ 0 60000 65536"/>
              <a:gd name="T158" fmla="*/ 0 60000 65536"/>
              <a:gd name="T159" fmla="*/ 0 60000 65536"/>
              <a:gd name="T160" fmla="*/ 0 60000 65536"/>
              <a:gd name="T161" fmla="*/ 0 60000 65536"/>
              <a:gd name="T162" fmla="*/ 0 60000 65536"/>
              <a:gd name="T163" fmla="*/ 0 60000 65536"/>
              <a:gd name="T164" fmla="*/ 0 60000 65536"/>
              <a:gd name="T165" fmla="*/ 0 60000 65536"/>
              <a:gd name="T166" fmla="*/ 0 60000 65536"/>
              <a:gd name="T167" fmla="*/ 0 60000 65536"/>
              <a:gd name="T168" fmla="*/ 0 60000 65536"/>
              <a:gd name="T169" fmla="*/ 0 60000 65536"/>
              <a:gd name="T170" fmla="*/ 0 60000 65536"/>
            </a:gdLst>
            <a:ahLst/>
            <a:cxnLst>
              <a:cxn ang="T114">
                <a:pos x="T0" y="T1"/>
              </a:cxn>
              <a:cxn ang="T115">
                <a:pos x="T2" y="T3"/>
              </a:cxn>
              <a:cxn ang="T116">
                <a:pos x="T4" y="T5"/>
              </a:cxn>
              <a:cxn ang="T117">
                <a:pos x="T6" y="T7"/>
              </a:cxn>
              <a:cxn ang="T118">
                <a:pos x="T8" y="T9"/>
              </a:cxn>
              <a:cxn ang="T119">
                <a:pos x="T10" y="T11"/>
              </a:cxn>
              <a:cxn ang="T120">
                <a:pos x="T12" y="T13"/>
              </a:cxn>
              <a:cxn ang="T121">
                <a:pos x="T14" y="T15"/>
              </a:cxn>
              <a:cxn ang="T122">
                <a:pos x="T16" y="T17"/>
              </a:cxn>
              <a:cxn ang="T123">
                <a:pos x="T18" y="T19"/>
              </a:cxn>
              <a:cxn ang="T124">
                <a:pos x="T20" y="T21"/>
              </a:cxn>
              <a:cxn ang="T125">
                <a:pos x="T22" y="T23"/>
              </a:cxn>
              <a:cxn ang="T126">
                <a:pos x="T24" y="T25"/>
              </a:cxn>
              <a:cxn ang="T127">
                <a:pos x="T26" y="T27"/>
              </a:cxn>
              <a:cxn ang="T128">
                <a:pos x="T28" y="T29"/>
              </a:cxn>
              <a:cxn ang="T129">
                <a:pos x="T30" y="T31"/>
              </a:cxn>
              <a:cxn ang="T130">
                <a:pos x="T32" y="T33"/>
              </a:cxn>
              <a:cxn ang="T131">
                <a:pos x="T34" y="T35"/>
              </a:cxn>
              <a:cxn ang="T132">
                <a:pos x="T36" y="T37"/>
              </a:cxn>
              <a:cxn ang="T133">
                <a:pos x="T38" y="T39"/>
              </a:cxn>
              <a:cxn ang="T134">
                <a:pos x="T40" y="T41"/>
              </a:cxn>
              <a:cxn ang="T135">
                <a:pos x="T42" y="T43"/>
              </a:cxn>
              <a:cxn ang="T136">
                <a:pos x="T44" y="T45"/>
              </a:cxn>
              <a:cxn ang="T137">
                <a:pos x="T46" y="T47"/>
              </a:cxn>
              <a:cxn ang="T138">
                <a:pos x="T48" y="T49"/>
              </a:cxn>
              <a:cxn ang="T139">
                <a:pos x="T50" y="T51"/>
              </a:cxn>
              <a:cxn ang="T140">
                <a:pos x="T52" y="T53"/>
              </a:cxn>
              <a:cxn ang="T141">
                <a:pos x="T54" y="T55"/>
              </a:cxn>
              <a:cxn ang="T142">
                <a:pos x="T56" y="T57"/>
              </a:cxn>
              <a:cxn ang="T143">
                <a:pos x="T58" y="T59"/>
              </a:cxn>
              <a:cxn ang="T144">
                <a:pos x="T60" y="T61"/>
              </a:cxn>
              <a:cxn ang="T145">
                <a:pos x="T62" y="T63"/>
              </a:cxn>
              <a:cxn ang="T146">
                <a:pos x="T64" y="T65"/>
              </a:cxn>
              <a:cxn ang="T147">
                <a:pos x="T66" y="T67"/>
              </a:cxn>
              <a:cxn ang="T148">
                <a:pos x="T68" y="T69"/>
              </a:cxn>
              <a:cxn ang="T149">
                <a:pos x="T70" y="T71"/>
              </a:cxn>
              <a:cxn ang="T150">
                <a:pos x="T72" y="T73"/>
              </a:cxn>
              <a:cxn ang="T151">
                <a:pos x="T74" y="T75"/>
              </a:cxn>
              <a:cxn ang="T152">
                <a:pos x="T76" y="T77"/>
              </a:cxn>
              <a:cxn ang="T153">
                <a:pos x="T78" y="T79"/>
              </a:cxn>
              <a:cxn ang="T154">
                <a:pos x="T80" y="T81"/>
              </a:cxn>
              <a:cxn ang="T155">
                <a:pos x="T82" y="T83"/>
              </a:cxn>
              <a:cxn ang="T156">
                <a:pos x="T84" y="T85"/>
              </a:cxn>
              <a:cxn ang="T157">
                <a:pos x="T86" y="T87"/>
              </a:cxn>
              <a:cxn ang="T158">
                <a:pos x="T88" y="T89"/>
              </a:cxn>
              <a:cxn ang="T159">
                <a:pos x="T90" y="T91"/>
              </a:cxn>
              <a:cxn ang="T160">
                <a:pos x="T92" y="T93"/>
              </a:cxn>
              <a:cxn ang="T161">
                <a:pos x="T94" y="T95"/>
              </a:cxn>
              <a:cxn ang="T162">
                <a:pos x="T96" y="T97"/>
              </a:cxn>
              <a:cxn ang="T163">
                <a:pos x="T98" y="T99"/>
              </a:cxn>
              <a:cxn ang="T164">
                <a:pos x="T100" y="T101"/>
              </a:cxn>
              <a:cxn ang="T165">
                <a:pos x="T102" y="T103"/>
              </a:cxn>
              <a:cxn ang="T166">
                <a:pos x="T104" y="T105"/>
              </a:cxn>
              <a:cxn ang="T167">
                <a:pos x="T106" y="T107"/>
              </a:cxn>
              <a:cxn ang="T168">
                <a:pos x="T108" y="T109"/>
              </a:cxn>
              <a:cxn ang="T169">
                <a:pos x="T110" y="T111"/>
              </a:cxn>
              <a:cxn ang="T170">
                <a:pos x="T112" y="T113"/>
              </a:cxn>
            </a:cxnLst>
            <a:rect l="0" t="0" r="r" b="b"/>
            <a:pathLst>
              <a:path w="4268" h="5034">
                <a:moveTo>
                  <a:pt x="2846" y="4597"/>
                </a:moveTo>
                <a:lnTo>
                  <a:pt x="2846" y="4597"/>
                </a:lnTo>
                <a:lnTo>
                  <a:pt x="2803" y="4585"/>
                </a:lnTo>
                <a:lnTo>
                  <a:pt x="2749" y="4571"/>
                </a:lnTo>
                <a:lnTo>
                  <a:pt x="2687" y="4553"/>
                </a:lnTo>
                <a:lnTo>
                  <a:pt x="2617" y="4531"/>
                </a:lnTo>
                <a:lnTo>
                  <a:pt x="2538" y="4504"/>
                </a:lnTo>
                <a:lnTo>
                  <a:pt x="2454" y="4474"/>
                </a:lnTo>
                <a:lnTo>
                  <a:pt x="2362" y="4439"/>
                </a:lnTo>
                <a:lnTo>
                  <a:pt x="2265" y="4399"/>
                </a:lnTo>
                <a:lnTo>
                  <a:pt x="2215" y="4378"/>
                </a:lnTo>
                <a:lnTo>
                  <a:pt x="2164" y="4355"/>
                </a:lnTo>
                <a:lnTo>
                  <a:pt x="2112" y="4331"/>
                </a:lnTo>
                <a:lnTo>
                  <a:pt x="2059" y="4305"/>
                </a:lnTo>
                <a:lnTo>
                  <a:pt x="2004" y="4279"/>
                </a:lnTo>
                <a:lnTo>
                  <a:pt x="1950" y="4251"/>
                </a:lnTo>
                <a:lnTo>
                  <a:pt x="1894" y="4222"/>
                </a:lnTo>
                <a:lnTo>
                  <a:pt x="1838" y="4191"/>
                </a:lnTo>
                <a:lnTo>
                  <a:pt x="1781" y="4158"/>
                </a:lnTo>
                <a:lnTo>
                  <a:pt x="1724" y="4125"/>
                </a:lnTo>
                <a:lnTo>
                  <a:pt x="1666" y="4089"/>
                </a:lnTo>
                <a:lnTo>
                  <a:pt x="1608" y="4052"/>
                </a:lnTo>
                <a:lnTo>
                  <a:pt x="1550" y="4014"/>
                </a:lnTo>
                <a:lnTo>
                  <a:pt x="1492" y="3974"/>
                </a:lnTo>
                <a:lnTo>
                  <a:pt x="1434" y="3933"/>
                </a:lnTo>
                <a:lnTo>
                  <a:pt x="1376" y="3891"/>
                </a:lnTo>
                <a:lnTo>
                  <a:pt x="1319" y="3846"/>
                </a:lnTo>
                <a:lnTo>
                  <a:pt x="1261" y="3800"/>
                </a:lnTo>
                <a:lnTo>
                  <a:pt x="1204" y="3752"/>
                </a:lnTo>
                <a:lnTo>
                  <a:pt x="1147" y="3702"/>
                </a:lnTo>
                <a:lnTo>
                  <a:pt x="1092" y="3651"/>
                </a:lnTo>
                <a:lnTo>
                  <a:pt x="1036" y="3598"/>
                </a:lnTo>
                <a:lnTo>
                  <a:pt x="981" y="3543"/>
                </a:lnTo>
                <a:lnTo>
                  <a:pt x="927" y="3487"/>
                </a:lnTo>
                <a:lnTo>
                  <a:pt x="874" y="3428"/>
                </a:lnTo>
                <a:lnTo>
                  <a:pt x="822" y="3367"/>
                </a:lnTo>
                <a:lnTo>
                  <a:pt x="770" y="3305"/>
                </a:lnTo>
                <a:lnTo>
                  <a:pt x="720" y="3241"/>
                </a:lnTo>
                <a:lnTo>
                  <a:pt x="671" y="3174"/>
                </a:lnTo>
                <a:lnTo>
                  <a:pt x="624" y="3106"/>
                </a:lnTo>
                <a:lnTo>
                  <a:pt x="577" y="3037"/>
                </a:lnTo>
                <a:lnTo>
                  <a:pt x="533" y="2965"/>
                </a:lnTo>
                <a:lnTo>
                  <a:pt x="489" y="2891"/>
                </a:lnTo>
                <a:lnTo>
                  <a:pt x="448" y="2814"/>
                </a:lnTo>
                <a:lnTo>
                  <a:pt x="409" y="2736"/>
                </a:lnTo>
                <a:lnTo>
                  <a:pt x="371" y="2656"/>
                </a:lnTo>
                <a:lnTo>
                  <a:pt x="334" y="2573"/>
                </a:lnTo>
                <a:lnTo>
                  <a:pt x="318" y="2531"/>
                </a:lnTo>
                <a:lnTo>
                  <a:pt x="301" y="2489"/>
                </a:lnTo>
                <a:lnTo>
                  <a:pt x="284" y="2445"/>
                </a:lnTo>
                <a:lnTo>
                  <a:pt x="268" y="2402"/>
                </a:lnTo>
                <a:lnTo>
                  <a:pt x="253" y="2357"/>
                </a:lnTo>
                <a:lnTo>
                  <a:pt x="238" y="2312"/>
                </a:lnTo>
                <a:lnTo>
                  <a:pt x="225" y="2268"/>
                </a:lnTo>
                <a:lnTo>
                  <a:pt x="212" y="2221"/>
                </a:lnTo>
                <a:lnTo>
                  <a:pt x="198" y="2175"/>
                </a:lnTo>
                <a:lnTo>
                  <a:pt x="186" y="2127"/>
                </a:lnTo>
                <a:lnTo>
                  <a:pt x="174" y="2080"/>
                </a:lnTo>
                <a:lnTo>
                  <a:pt x="163" y="2031"/>
                </a:lnTo>
                <a:lnTo>
                  <a:pt x="152" y="1983"/>
                </a:lnTo>
                <a:lnTo>
                  <a:pt x="142" y="1933"/>
                </a:lnTo>
                <a:lnTo>
                  <a:pt x="134" y="1884"/>
                </a:lnTo>
                <a:lnTo>
                  <a:pt x="125" y="1833"/>
                </a:lnTo>
                <a:lnTo>
                  <a:pt x="117" y="1781"/>
                </a:lnTo>
                <a:lnTo>
                  <a:pt x="110" y="1730"/>
                </a:lnTo>
                <a:lnTo>
                  <a:pt x="103" y="1678"/>
                </a:lnTo>
                <a:lnTo>
                  <a:pt x="98" y="1624"/>
                </a:lnTo>
                <a:lnTo>
                  <a:pt x="92" y="1571"/>
                </a:lnTo>
                <a:lnTo>
                  <a:pt x="88" y="1517"/>
                </a:lnTo>
                <a:lnTo>
                  <a:pt x="84" y="1533"/>
                </a:lnTo>
                <a:lnTo>
                  <a:pt x="73" y="1580"/>
                </a:lnTo>
                <a:lnTo>
                  <a:pt x="59" y="1654"/>
                </a:lnTo>
                <a:lnTo>
                  <a:pt x="50" y="1702"/>
                </a:lnTo>
                <a:lnTo>
                  <a:pt x="41" y="1756"/>
                </a:lnTo>
                <a:lnTo>
                  <a:pt x="33" y="1816"/>
                </a:lnTo>
                <a:lnTo>
                  <a:pt x="24" y="1881"/>
                </a:lnTo>
                <a:lnTo>
                  <a:pt x="18" y="1952"/>
                </a:lnTo>
                <a:lnTo>
                  <a:pt x="11" y="2028"/>
                </a:lnTo>
                <a:lnTo>
                  <a:pt x="5" y="2109"/>
                </a:lnTo>
                <a:lnTo>
                  <a:pt x="2" y="2195"/>
                </a:lnTo>
                <a:lnTo>
                  <a:pt x="0" y="2286"/>
                </a:lnTo>
                <a:lnTo>
                  <a:pt x="1" y="2379"/>
                </a:lnTo>
                <a:lnTo>
                  <a:pt x="3" y="2477"/>
                </a:lnTo>
                <a:lnTo>
                  <a:pt x="6" y="2528"/>
                </a:lnTo>
                <a:lnTo>
                  <a:pt x="9" y="2579"/>
                </a:lnTo>
                <a:lnTo>
                  <a:pt x="13" y="2631"/>
                </a:lnTo>
                <a:lnTo>
                  <a:pt x="18" y="2684"/>
                </a:lnTo>
                <a:lnTo>
                  <a:pt x="23" y="2737"/>
                </a:lnTo>
                <a:lnTo>
                  <a:pt x="30" y="2792"/>
                </a:lnTo>
                <a:lnTo>
                  <a:pt x="38" y="2847"/>
                </a:lnTo>
                <a:lnTo>
                  <a:pt x="45" y="2902"/>
                </a:lnTo>
                <a:lnTo>
                  <a:pt x="54" y="2958"/>
                </a:lnTo>
                <a:lnTo>
                  <a:pt x="65" y="3015"/>
                </a:lnTo>
                <a:lnTo>
                  <a:pt x="77" y="3072"/>
                </a:lnTo>
                <a:lnTo>
                  <a:pt x="89" y="3130"/>
                </a:lnTo>
                <a:lnTo>
                  <a:pt x="102" y="3189"/>
                </a:lnTo>
                <a:lnTo>
                  <a:pt x="117" y="3247"/>
                </a:lnTo>
                <a:lnTo>
                  <a:pt x="134" y="3306"/>
                </a:lnTo>
                <a:lnTo>
                  <a:pt x="150" y="3366"/>
                </a:lnTo>
                <a:lnTo>
                  <a:pt x="169" y="3425"/>
                </a:lnTo>
                <a:lnTo>
                  <a:pt x="188" y="3486"/>
                </a:lnTo>
                <a:lnTo>
                  <a:pt x="209" y="3546"/>
                </a:lnTo>
                <a:lnTo>
                  <a:pt x="232" y="3607"/>
                </a:lnTo>
                <a:lnTo>
                  <a:pt x="256" y="3667"/>
                </a:lnTo>
                <a:lnTo>
                  <a:pt x="282" y="3729"/>
                </a:lnTo>
                <a:lnTo>
                  <a:pt x="309" y="3790"/>
                </a:lnTo>
                <a:lnTo>
                  <a:pt x="337" y="3852"/>
                </a:lnTo>
                <a:lnTo>
                  <a:pt x="367" y="3913"/>
                </a:lnTo>
                <a:lnTo>
                  <a:pt x="399" y="3974"/>
                </a:lnTo>
                <a:lnTo>
                  <a:pt x="431" y="4036"/>
                </a:lnTo>
                <a:lnTo>
                  <a:pt x="467" y="4097"/>
                </a:lnTo>
                <a:lnTo>
                  <a:pt x="504" y="4158"/>
                </a:lnTo>
                <a:lnTo>
                  <a:pt x="542" y="4218"/>
                </a:lnTo>
                <a:lnTo>
                  <a:pt x="571" y="4262"/>
                </a:lnTo>
                <a:lnTo>
                  <a:pt x="600" y="4304"/>
                </a:lnTo>
                <a:lnTo>
                  <a:pt x="629" y="4346"/>
                </a:lnTo>
                <a:lnTo>
                  <a:pt x="659" y="4385"/>
                </a:lnTo>
                <a:lnTo>
                  <a:pt x="689" y="4423"/>
                </a:lnTo>
                <a:lnTo>
                  <a:pt x="720" y="4459"/>
                </a:lnTo>
                <a:lnTo>
                  <a:pt x="750" y="4495"/>
                </a:lnTo>
                <a:lnTo>
                  <a:pt x="782" y="4529"/>
                </a:lnTo>
                <a:lnTo>
                  <a:pt x="814" y="4562"/>
                </a:lnTo>
                <a:lnTo>
                  <a:pt x="845" y="4593"/>
                </a:lnTo>
                <a:lnTo>
                  <a:pt x="878" y="4623"/>
                </a:lnTo>
                <a:lnTo>
                  <a:pt x="910" y="4652"/>
                </a:lnTo>
                <a:lnTo>
                  <a:pt x="942" y="4680"/>
                </a:lnTo>
                <a:lnTo>
                  <a:pt x="976" y="4707"/>
                </a:lnTo>
                <a:lnTo>
                  <a:pt x="1008" y="4732"/>
                </a:lnTo>
                <a:lnTo>
                  <a:pt x="1042" y="4756"/>
                </a:lnTo>
                <a:lnTo>
                  <a:pt x="1075" y="4779"/>
                </a:lnTo>
                <a:lnTo>
                  <a:pt x="1108" y="4801"/>
                </a:lnTo>
                <a:lnTo>
                  <a:pt x="1142" y="4822"/>
                </a:lnTo>
                <a:lnTo>
                  <a:pt x="1175" y="4842"/>
                </a:lnTo>
                <a:lnTo>
                  <a:pt x="1210" y="4860"/>
                </a:lnTo>
                <a:lnTo>
                  <a:pt x="1243" y="4878"/>
                </a:lnTo>
                <a:lnTo>
                  <a:pt x="1277" y="4894"/>
                </a:lnTo>
                <a:lnTo>
                  <a:pt x="1311" y="4910"/>
                </a:lnTo>
                <a:lnTo>
                  <a:pt x="1346" y="4924"/>
                </a:lnTo>
                <a:lnTo>
                  <a:pt x="1380" y="4938"/>
                </a:lnTo>
                <a:lnTo>
                  <a:pt x="1414" y="4950"/>
                </a:lnTo>
                <a:lnTo>
                  <a:pt x="1449" y="4961"/>
                </a:lnTo>
                <a:lnTo>
                  <a:pt x="1482" y="4972"/>
                </a:lnTo>
                <a:lnTo>
                  <a:pt x="1517" y="4981"/>
                </a:lnTo>
                <a:lnTo>
                  <a:pt x="1550" y="4990"/>
                </a:lnTo>
                <a:lnTo>
                  <a:pt x="1585" y="4998"/>
                </a:lnTo>
                <a:lnTo>
                  <a:pt x="1618" y="5006"/>
                </a:lnTo>
                <a:lnTo>
                  <a:pt x="1653" y="5011"/>
                </a:lnTo>
                <a:lnTo>
                  <a:pt x="1686" y="5017"/>
                </a:lnTo>
                <a:lnTo>
                  <a:pt x="1720" y="5022"/>
                </a:lnTo>
                <a:lnTo>
                  <a:pt x="1753" y="5026"/>
                </a:lnTo>
                <a:lnTo>
                  <a:pt x="1787" y="5029"/>
                </a:lnTo>
                <a:lnTo>
                  <a:pt x="1820" y="5032"/>
                </a:lnTo>
                <a:lnTo>
                  <a:pt x="1852" y="5033"/>
                </a:lnTo>
                <a:lnTo>
                  <a:pt x="1886" y="5034"/>
                </a:lnTo>
                <a:lnTo>
                  <a:pt x="1918" y="5034"/>
                </a:lnTo>
                <a:lnTo>
                  <a:pt x="1983" y="5033"/>
                </a:lnTo>
                <a:lnTo>
                  <a:pt x="2047" y="5028"/>
                </a:lnTo>
                <a:lnTo>
                  <a:pt x="2108" y="5022"/>
                </a:lnTo>
                <a:lnTo>
                  <a:pt x="2169" y="5013"/>
                </a:lnTo>
                <a:lnTo>
                  <a:pt x="2228" y="5001"/>
                </a:lnTo>
                <a:lnTo>
                  <a:pt x="2286" y="4989"/>
                </a:lnTo>
                <a:lnTo>
                  <a:pt x="2343" y="4975"/>
                </a:lnTo>
                <a:lnTo>
                  <a:pt x="2397" y="4958"/>
                </a:lnTo>
                <a:lnTo>
                  <a:pt x="2449" y="4940"/>
                </a:lnTo>
                <a:lnTo>
                  <a:pt x="2501" y="4921"/>
                </a:lnTo>
                <a:lnTo>
                  <a:pt x="2549" y="4901"/>
                </a:lnTo>
                <a:lnTo>
                  <a:pt x="2648" y="4908"/>
                </a:lnTo>
                <a:lnTo>
                  <a:pt x="2744" y="4912"/>
                </a:lnTo>
                <a:lnTo>
                  <a:pt x="2839" y="4914"/>
                </a:lnTo>
                <a:lnTo>
                  <a:pt x="2930" y="4914"/>
                </a:lnTo>
                <a:lnTo>
                  <a:pt x="3018" y="4911"/>
                </a:lnTo>
                <a:lnTo>
                  <a:pt x="3104" y="4907"/>
                </a:lnTo>
                <a:lnTo>
                  <a:pt x="3188" y="4900"/>
                </a:lnTo>
                <a:lnTo>
                  <a:pt x="3268" y="4892"/>
                </a:lnTo>
                <a:lnTo>
                  <a:pt x="3346" y="4882"/>
                </a:lnTo>
                <a:lnTo>
                  <a:pt x="3421" y="4871"/>
                </a:lnTo>
                <a:lnTo>
                  <a:pt x="3493" y="4859"/>
                </a:lnTo>
                <a:lnTo>
                  <a:pt x="3563" y="4845"/>
                </a:lnTo>
                <a:lnTo>
                  <a:pt x="3628" y="4831"/>
                </a:lnTo>
                <a:lnTo>
                  <a:pt x="3692" y="4815"/>
                </a:lnTo>
                <a:lnTo>
                  <a:pt x="3752" y="4800"/>
                </a:lnTo>
                <a:lnTo>
                  <a:pt x="3809" y="4784"/>
                </a:lnTo>
                <a:lnTo>
                  <a:pt x="3864" y="4767"/>
                </a:lnTo>
                <a:lnTo>
                  <a:pt x="3914" y="4750"/>
                </a:lnTo>
                <a:lnTo>
                  <a:pt x="3962" y="4734"/>
                </a:lnTo>
                <a:lnTo>
                  <a:pt x="4005" y="4717"/>
                </a:lnTo>
                <a:lnTo>
                  <a:pt x="4047" y="4701"/>
                </a:lnTo>
                <a:lnTo>
                  <a:pt x="4085" y="4686"/>
                </a:lnTo>
                <a:lnTo>
                  <a:pt x="4149" y="4658"/>
                </a:lnTo>
                <a:lnTo>
                  <a:pt x="4201" y="4633"/>
                </a:lnTo>
                <a:lnTo>
                  <a:pt x="4237" y="4613"/>
                </a:lnTo>
                <a:lnTo>
                  <a:pt x="4268" y="4597"/>
                </a:lnTo>
                <a:lnTo>
                  <a:pt x="4222" y="4612"/>
                </a:lnTo>
                <a:lnTo>
                  <a:pt x="4174" y="4626"/>
                </a:lnTo>
                <a:lnTo>
                  <a:pt x="4125" y="4638"/>
                </a:lnTo>
                <a:lnTo>
                  <a:pt x="4073" y="4648"/>
                </a:lnTo>
                <a:lnTo>
                  <a:pt x="4022" y="4657"/>
                </a:lnTo>
                <a:lnTo>
                  <a:pt x="3969" y="4663"/>
                </a:lnTo>
                <a:lnTo>
                  <a:pt x="3915" y="4670"/>
                </a:lnTo>
                <a:lnTo>
                  <a:pt x="3860" y="4675"/>
                </a:lnTo>
                <a:lnTo>
                  <a:pt x="3806" y="4677"/>
                </a:lnTo>
                <a:lnTo>
                  <a:pt x="3751" y="4679"/>
                </a:lnTo>
                <a:lnTo>
                  <a:pt x="3695" y="4680"/>
                </a:lnTo>
                <a:lnTo>
                  <a:pt x="3641" y="4680"/>
                </a:lnTo>
                <a:lnTo>
                  <a:pt x="3586" y="4679"/>
                </a:lnTo>
                <a:lnTo>
                  <a:pt x="3531" y="4678"/>
                </a:lnTo>
                <a:lnTo>
                  <a:pt x="3478" y="4676"/>
                </a:lnTo>
                <a:lnTo>
                  <a:pt x="3425" y="4672"/>
                </a:lnTo>
                <a:lnTo>
                  <a:pt x="3323" y="4663"/>
                </a:lnTo>
                <a:lnTo>
                  <a:pt x="3226" y="4655"/>
                </a:lnTo>
                <a:lnTo>
                  <a:pt x="3136" y="4643"/>
                </a:lnTo>
                <a:lnTo>
                  <a:pt x="3055" y="4632"/>
                </a:lnTo>
                <a:lnTo>
                  <a:pt x="2985" y="4621"/>
                </a:lnTo>
                <a:lnTo>
                  <a:pt x="2924" y="4611"/>
                </a:lnTo>
                <a:lnTo>
                  <a:pt x="2846" y="4597"/>
                </a:lnTo>
                <a:close/>
                <a:moveTo>
                  <a:pt x="456" y="0"/>
                </a:moveTo>
                <a:lnTo>
                  <a:pt x="456" y="0"/>
                </a:lnTo>
                <a:lnTo>
                  <a:pt x="441" y="65"/>
                </a:lnTo>
                <a:lnTo>
                  <a:pt x="428" y="130"/>
                </a:lnTo>
                <a:lnTo>
                  <a:pt x="415" y="193"/>
                </a:lnTo>
                <a:lnTo>
                  <a:pt x="402" y="256"/>
                </a:lnTo>
                <a:lnTo>
                  <a:pt x="391" y="318"/>
                </a:lnTo>
                <a:lnTo>
                  <a:pt x="381" y="379"/>
                </a:lnTo>
                <a:lnTo>
                  <a:pt x="371" y="441"/>
                </a:lnTo>
                <a:lnTo>
                  <a:pt x="362" y="501"/>
                </a:lnTo>
                <a:lnTo>
                  <a:pt x="354" y="561"/>
                </a:lnTo>
                <a:lnTo>
                  <a:pt x="348" y="620"/>
                </a:lnTo>
                <a:lnTo>
                  <a:pt x="341" y="678"/>
                </a:lnTo>
                <a:lnTo>
                  <a:pt x="335" y="736"/>
                </a:lnTo>
                <a:lnTo>
                  <a:pt x="331" y="794"/>
                </a:lnTo>
                <a:lnTo>
                  <a:pt x="326" y="851"/>
                </a:lnTo>
                <a:lnTo>
                  <a:pt x="323" y="907"/>
                </a:lnTo>
                <a:lnTo>
                  <a:pt x="321" y="963"/>
                </a:lnTo>
                <a:lnTo>
                  <a:pt x="319" y="1019"/>
                </a:lnTo>
                <a:lnTo>
                  <a:pt x="318" y="1073"/>
                </a:lnTo>
                <a:lnTo>
                  <a:pt x="318" y="1127"/>
                </a:lnTo>
                <a:lnTo>
                  <a:pt x="318" y="1180"/>
                </a:lnTo>
                <a:lnTo>
                  <a:pt x="319" y="1234"/>
                </a:lnTo>
                <a:lnTo>
                  <a:pt x="320" y="1286"/>
                </a:lnTo>
                <a:lnTo>
                  <a:pt x="322" y="1338"/>
                </a:lnTo>
                <a:lnTo>
                  <a:pt x="325" y="1389"/>
                </a:lnTo>
                <a:lnTo>
                  <a:pt x="329" y="1439"/>
                </a:lnTo>
                <a:lnTo>
                  <a:pt x="333" y="1489"/>
                </a:lnTo>
                <a:lnTo>
                  <a:pt x="339" y="1539"/>
                </a:lnTo>
                <a:lnTo>
                  <a:pt x="344" y="1588"/>
                </a:lnTo>
                <a:lnTo>
                  <a:pt x="350" y="1636"/>
                </a:lnTo>
                <a:lnTo>
                  <a:pt x="357" y="1684"/>
                </a:lnTo>
                <a:lnTo>
                  <a:pt x="364" y="1732"/>
                </a:lnTo>
                <a:lnTo>
                  <a:pt x="372" y="1779"/>
                </a:lnTo>
                <a:lnTo>
                  <a:pt x="381" y="1742"/>
                </a:lnTo>
                <a:lnTo>
                  <a:pt x="390" y="1708"/>
                </a:lnTo>
                <a:lnTo>
                  <a:pt x="400" y="1673"/>
                </a:lnTo>
                <a:lnTo>
                  <a:pt x="410" y="1641"/>
                </a:lnTo>
                <a:lnTo>
                  <a:pt x="431" y="1580"/>
                </a:lnTo>
                <a:lnTo>
                  <a:pt x="453" y="1523"/>
                </a:lnTo>
                <a:lnTo>
                  <a:pt x="475" y="1471"/>
                </a:lnTo>
                <a:lnTo>
                  <a:pt x="497" y="1425"/>
                </a:lnTo>
                <a:lnTo>
                  <a:pt x="519" y="1382"/>
                </a:lnTo>
                <a:lnTo>
                  <a:pt x="540" y="1344"/>
                </a:lnTo>
                <a:lnTo>
                  <a:pt x="560" y="1312"/>
                </a:lnTo>
                <a:lnTo>
                  <a:pt x="579" y="1283"/>
                </a:lnTo>
                <a:lnTo>
                  <a:pt x="595" y="1259"/>
                </a:lnTo>
                <a:lnTo>
                  <a:pt x="610" y="1240"/>
                </a:lnTo>
                <a:lnTo>
                  <a:pt x="630" y="1215"/>
                </a:lnTo>
                <a:lnTo>
                  <a:pt x="638" y="1206"/>
                </a:lnTo>
                <a:lnTo>
                  <a:pt x="622" y="1249"/>
                </a:lnTo>
                <a:lnTo>
                  <a:pt x="608" y="1293"/>
                </a:lnTo>
                <a:lnTo>
                  <a:pt x="595" y="1338"/>
                </a:lnTo>
                <a:lnTo>
                  <a:pt x="583" y="1381"/>
                </a:lnTo>
                <a:lnTo>
                  <a:pt x="572" y="1425"/>
                </a:lnTo>
                <a:lnTo>
                  <a:pt x="562" y="1468"/>
                </a:lnTo>
                <a:lnTo>
                  <a:pt x="554" y="1511"/>
                </a:lnTo>
                <a:lnTo>
                  <a:pt x="546" y="1555"/>
                </a:lnTo>
                <a:lnTo>
                  <a:pt x="538" y="1598"/>
                </a:lnTo>
                <a:lnTo>
                  <a:pt x="533" y="1641"/>
                </a:lnTo>
                <a:lnTo>
                  <a:pt x="527" y="1683"/>
                </a:lnTo>
                <a:lnTo>
                  <a:pt x="523" y="1725"/>
                </a:lnTo>
                <a:lnTo>
                  <a:pt x="519" y="1766"/>
                </a:lnTo>
                <a:lnTo>
                  <a:pt x="516" y="1807"/>
                </a:lnTo>
                <a:lnTo>
                  <a:pt x="513" y="1885"/>
                </a:lnTo>
                <a:lnTo>
                  <a:pt x="511" y="1961"/>
                </a:lnTo>
                <a:lnTo>
                  <a:pt x="511" y="2033"/>
                </a:lnTo>
                <a:lnTo>
                  <a:pt x="513" y="2102"/>
                </a:lnTo>
                <a:lnTo>
                  <a:pt x="516" y="2164"/>
                </a:lnTo>
                <a:lnTo>
                  <a:pt x="521" y="2222"/>
                </a:lnTo>
                <a:lnTo>
                  <a:pt x="525" y="2274"/>
                </a:lnTo>
                <a:lnTo>
                  <a:pt x="530" y="2320"/>
                </a:lnTo>
                <a:lnTo>
                  <a:pt x="535" y="2359"/>
                </a:lnTo>
                <a:lnTo>
                  <a:pt x="553" y="2406"/>
                </a:lnTo>
                <a:lnTo>
                  <a:pt x="572" y="2453"/>
                </a:lnTo>
                <a:lnTo>
                  <a:pt x="592" y="2499"/>
                </a:lnTo>
                <a:lnTo>
                  <a:pt x="613" y="2543"/>
                </a:lnTo>
                <a:lnTo>
                  <a:pt x="633" y="2588"/>
                </a:lnTo>
                <a:lnTo>
                  <a:pt x="656" y="2631"/>
                </a:lnTo>
                <a:lnTo>
                  <a:pt x="678" y="2675"/>
                </a:lnTo>
                <a:lnTo>
                  <a:pt x="700" y="2717"/>
                </a:lnTo>
                <a:lnTo>
                  <a:pt x="724" y="2760"/>
                </a:lnTo>
                <a:lnTo>
                  <a:pt x="747" y="2801"/>
                </a:lnTo>
                <a:lnTo>
                  <a:pt x="772" y="2841"/>
                </a:lnTo>
                <a:lnTo>
                  <a:pt x="796" y="2881"/>
                </a:lnTo>
                <a:lnTo>
                  <a:pt x="822" y="2920"/>
                </a:lnTo>
                <a:lnTo>
                  <a:pt x="847" y="2959"/>
                </a:lnTo>
                <a:lnTo>
                  <a:pt x="873" y="2997"/>
                </a:lnTo>
                <a:lnTo>
                  <a:pt x="900" y="3034"/>
                </a:lnTo>
                <a:lnTo>
                  <a:pt x="901" y="2968"/>
                </a:lnTo>
                <a:lnTo>
                  <a:pt x="903" y="2905"/>
                </a:lnTo>
                <a:lnTo>
                  <a:pt x="907" y="2842"/>
                </a:lnTo>
                <a:lnTo>
                  <a:pt x="912" y="2782"/>
                </a:lnTo>
                <a:lnTo>
                  <a:pt x="918" y="2723"/>
                </a:lnTo>
                <a:lnTo>
                  <a:pt x="926" y="2666"/>
                </a:lnTo>
                <a:lnTo>
                  <a:pt x="933" y="2611"/>
                </a:lnTo>
                <a:lnTo>
                  <a:pt x="942" y="2559"/>
                </a:lnTo>
                <a:lnTo>
                  <a:pt x="953" y="2508"/>
                </a:lnTo>
                <a:lnTo>
                  <a:pt x="963" y="2458"/>
                </a:lnTo>
                <a:lnTo>
                  <a:pt x="975" y="2412"/>
                </a:lnTo>
                <a:lnTo>
                  <a:pt x="987" y="2366"/>
                </a:lnTo>
                <a:lnTo>
                  <a:pt x="999" y="2323"/>
                </a:lnTo>
                <a:lnTo>
                  <a:pt x="1011" y="2282"/>
                </a:lnTo>
                <a:lnTo>
                  <a:pt x="1025" y="2243"/>
                </a:lnTo>
                <a:lnTo>
                  <a:pt x="1038" y="2206"/>
                </a:lnTo>
                <a:lnTo>
                  <a:pt x="1050" y="2171"/>
                </a:lnTo>
                <a:lnTo>
                  <a:pt x="1064" y="2138"/>
                </a:lnTo>
                <a:lnTo>
                  <a:pt x="1088" y="2079"/>
                </a:lnTo>
                <a:lnTo>
                  <a:pt x="1112" y="2028"/>
                </a:lnTo>
                <a:lnTo>
                  <a:pt x="1133" y="1987"/>
                </a:lnTo>
                <a:lnTo>
                  <a:pt x="1151" y="1954"/>
                </a:lnTo>
                <a:lnTo>
                  <a:pt x="1164" y="1930"/>
                </a:lnTo>
                <a:lnTo>
                  <a:pt x="1175" y="1911"/>
                </a:lnTo>
                <a:lnTo>
                  <a:pt x="1163" y="1974"/>
                </a:lnTo>
                <a:lnTo>
                  <a:pt x="1152" y="2037"/>
                </a:lnTo>
                <a:lnTo>
                  <a:pt x="1143" y="2099"/>
                </a:lnTo>
                <a:lnTo>
                  <a:pt x="1136" y="2163"/>
                </a:lnTo>
                <a:lnTo>
                  <a:pt x="1130" y="2225"/>
                </a:lnTo>
                <a:lnTo>
                  <a:pt x="1126" y="2287"/>
                </a:lnTo>
                <a:lnTo>
                  <a:pt x="1123" y="2348"/>
                </a:lnTo>
                <a:lnTo>
                  <a:pt x="1122" y="2409"/>
                </a:lnTo>
                <a:lnTo>
                  <a:pt x="1121" y="2470"/>
                </a:lnTo>
                <a:lnTo>
                  <a:pt x="1122" y="2530"/>
                </a:lnTo>
                <a:lnTo>
                  <a:pt x="1124" y="2588"/>
                </a:lnTo>
                <a:lnTo>
                  <a:pt x="1127" y="2646"/>
                </a:lnTo>
                <a:lnTo>
                  <a:pt x="1131" y="2703"/>
                </a:lnTo>
                <a:lnTo>
                  <a:pt x="1136" y="2758"/>
                </a:lnTo>
                <a:lnTo>
                  <a:pt x="1142" y="2813"/>
                </a:lnTo>
                <a:lnTo>
                  <a:pt x="1147" y="2866"/>
                </a:lnTo>
                <a:lnTo>
                  <a:pt x="1154" y="2917"/>
                </a:lnTo>
                <a:lnTo>
                  <a:pt x="1162" y="2967"/>
                </a:lnTo>
                <a:lnTo>
                  <a:pt x="1178" y="3063"/>
                </a:lnTo>
                <a:lnTo>
                  <a:pt x="1194" y="3151"/>
                </a:lnTo>
                <a:lnTo>
                  <a:pt x="1211" y="3230"/>
                </a:lnTo>
                <a:lnTo>
                  <a:pt x="1229" y="3302"/>
                </a:lnTo>
                <a:lnTo>
                  <a:pt x="1245" y="3364"/>
                </a:lnTo>
                <a:lnTo>
                  <a:pt x="1259" y="3415"/>
                </a:lnTo>
                <a:lnTo>
                  <a:pt x="1270" y="3456"/>
                </a:lnTo>
                <a:lnTo>
                  <a:pt x="1338" y="3518"/>
                </a:lnTo>
                <a:lnTo>
                  <a:pt x="1406" y="3578"/>
                </a:lnTo>
                <a:lnTo>
                  <a:pt x="1474" y="3635"/>
                </a:lnTo>
                <a:lnTo>
                  <a:pt x="1543" y="3690"/>
                </a:lnTo>
                <a:lnTo>
                  <a:pt x="1613" y="3742"/>
                </a:lnTo>
                <a:lnTo>
                  <a:pt x="1683" y="3792"/>
                </a:lnTo>
                <a:lnTo>
                  <a:pt x="1752" y="3839"/>
                </a:lnTo>
                <a:lnTo>
                  <a:pt x="1822" y="3885"/>
                </a:lnTo>
                <a:lnTo>
                  <a:pt x="1807" y="3807"/>
                </a:lnTo>
                <a:lnTo>
                  <a:pt x="1793" y="3730"/>
                </a:lnTo>
                <a:lnTo>
                  <a:pt x="1782" y="3655"/>
                </a:lnTo>
                <a:lnTo>
                  <a:pt x="1773" y="3582"/>
                </a:lnTo>
                <a:lnTo>
                  <a:pt x="1765" y="3510"/>
                </a:lnTo>
                <a:lnTo>
                  <a:pt x="1761" y="3441"/>
                </a:lnTo>
                <a:lnTo>
                  <a:pt x="1758" y="3374"/>
                </a:lnTo>
                <a:lnTo>
                  <a:pt x="1755" y="3309"/>
                </a:lnTo>
                <a:lnTo>
                  <a:pt x="1755" y="3246"/>
                </a:lnTo>
                <a:lnTo>
                  <a:pt x="1757" y="3186"/>
                </a:lnTo>
                <a:lnTo>
                  <a:pt x="1759" y="3127"/>
                </a:lnTo>
                <a:lnTo>
                  <a:pt x="1762" y="3070"/>
                </a:lnTo>
                <a:lnTo>
                  <a:pt x="1767" y="3016"/>
                </a:lnTo>
                <a:lnTo>
                  <a:pt x="1772" y="2964"/>
                </a:lnTo>
                <a:lnTo>
                  <a:pt x="1779" y="2915"/>
                </a:lnTo>
                <a:lnTo>
                  <a:pt x="1786" y="2868"/>
                </a:lnTo>
                <a:lnTo>
                  <a:pt x="1793" y="2823"/>
                </a:lnTo>
                <a:lnTo>
                  <a:pt x="1801" y="2781"/>
                </a:lnTo>
                <a:lnTo>
                  <a:pt x="1809" y="2742"/>
                </a:lnTo>
                <a:lnTo>
                  <a:pt x="1818" y="2705"/>
                </a:lnTo>
                <a:lnTo>
                  <a:pt x="1835" y="2639"/>
                </a:lnTo>
                <a:lnTo>
                  <a:pt x="1850" y="2584"/>
                </a:lnTo>
                <a:lnTo>
                  <a:pt x="1864" y="2542"/>
                </a:lnTo>
                <a:lnTo>
                  <a:pt x="1875" y="2511"/>
                </a:lnTo>
                <a:lnTo>
                  <a:pt x="1885" y="2485"/>
                </a:lnTo>
                <a:lnTo>
                  <a:pt x="1884" y="2552"/>
                </a:lnTo>
                <a:lnTo>
                  <a:pt x="1884" y="2620"/>
                </a:lnTo>
                <a:lnTo>
                  <a:pt x="1886" y="2686"/>
                </a:lnTo>
                <a:lnTo>
                  <a:pt x="1889" y="2753"/>
                </a:lnTo>
                <a:lnTo>
                  <a:pt x="1894" y="2819"/>
                </a:lnTo>
                <a:lnTo>
                  <a:pt x="1900" y="2883"/>
                </a:lnTo>
                <a:lnTo>
                  <a:pt x="1908" y="2948"/>
                </a:lnTo>
                <a:lnTo>
                  <a:pt x="1917" y="3012"/>
                </a:lnTo>
                <a:lnTo>
                  <a:pt x="1928" y="3075"/>
                </a:lnTo>
                <a:lnTo>
                  <a:pt x="1939" y="3137"/>
                </a:lnTo>
                <a:lnTo>
                  <a:pt x="1952" y="3198"/>
                </a:lnTo>
                <a:lnTo>
                  <a:pt x="1965" y="3258"/>
                </a:lnTo>
                <a:lnTo>
                  <a:pt x="1979" y="3317"/>
                </a:lnTo>
                <a:lnTo>
                  <a:pt x="1993" y="3375"/>
                </a:lnTo>
                <a:lnTo>
                  <a:pt x="2009" y="3432"/>
                </a:lnTo>
                <a:lnTo>
                  <a:pt x="2024" y="3487"/>
                </a:lnTo>
                <a:lnTo>
                  <a:pt x="2041" y="3541"/>
                </a:lnTo>
                <a:lnTo>
                  <a:pt x="2057" y="3594"/>
                </a:lnTo>
                <a:lnTo>
                  <a:pt x="2073" y="3644"/>
                </a:lnTo>
                <a:lnTo>
                  <a:pt x="2091" y="3694"/>
                </a:lnTo>
                <a:lnTo>
                  <a:pt x="2125" y="3787"/>
                </a:lnTo>
                <a:lnTo>
                  <a:pt x="2158" y="3873"/>
                </a:lnTo>
                <a:lnTo>
                  <a:pt x="2190" y="3951"/>
                </a:lnTo>
                <a:lnTo>
                  <a:pt x="2221" y="4021"/>
                </a:lnTo>
                <a:lnTo>
                  <a:pt x="2248" y="4081"/>
                </a:lnTo>
                <a:lnTo>
                  <a:pt x="2272" y="4131"/>
                </a:lnTo>
                <a:lnTo>
                  <a:pt x="2354" y="4169"/>
                </a:lnTo>
                <a:lnTo>
                  <a:pt x="2435" y="4204"/>
                </a:lnTo>
                <a:lnTo>
                  <a:pt x="2512" y="4235"/>
                </a:lnTo>
                <a:lnTo>
                  <a:pt x="2586" y="4264"/>
                </a:lnTo>
                <a:lnTo>
                  <a:pt x="2656" y="4290"/>
                </a:lnTo>
                <a:lnTo>
                  <a:pt x="2721" y="4312"/>
                </a:lnTo>
                <a:lnTo>
                  <a:pt x="2783" y="4332"/>
                </a:lnTo>
                <a:lnTo>
                  <a:pt x="2839" y="4350"/>
                </a:lnTo>
                <a:lnTo>
                  <a:pt x="2890" y="4365"/>
                </a:lnTo>
                <a:lnTo>
                  <a:pt x="2936" y="4378"/>
                </a:lnTo>
                <a:lnTo>
                  <a:pt x="3008" y="4397"/>
                </a:lnTo>
                <a:lnTo>
                  <a:pt x="3054" y="4407"/>
                </a:lnTo>
                <a:lnTo>
                  <a:pt x="3069" y="4410"/>
                </a:lnTo>
                <a:lnTo>
                  <a:pt x="3075" y="4391"/>
                </a:lnTo>
                <a:lnTo>
                  <a:pt x="3091" y="4339"/>
                </a:lnTo>
                <a:lnTo>
                  <a:pt x="3101" y="4300"/>
                </a:lnTo>
                <a:lnTo>
                  <a:pt x="3112" y="4253"/>
                </a:lnTo>
                <a:lnTo>
                  <a:pt x="3123" y="4200"/>
                </a:lnTo>
                <a:lnTo>
                  <a:pt x="3134" y="4139"/>
                </a:lnTo>
                <a:lnTo>
                  <a:pt x="3144" y="4073"/>
                </a:lnTo>
                <a:lnTo>
                  <a:pt x="3154" y="4001"/>
                </a:lnTo>
                <a:lnTo>
                  <a:pt x="3162" y="3923"/>
                </a:lnTo>
                <a:lnTo>
                  <a:pt x="3165" y="3882"/>
                </a:lnTo>
                <a:lnTo>
                  <a:pt x="3168" y="3839"/>
                </a:lnTo>
                <a:lnTo>
                  <a:pt x="3170" y="3796"/>
                </a:lnTo>
                <a:lnTo>
                  <a:pt x="3171" y="3751"/>
                </a:lnTo>
                <a:lnTo>
                  <a:pt x="3171" y="3705"/>
                </a:lnTo>
                <a:lnTo>
                  <a:pt x="3171" y="3659"/>
                </a:lnTo>
                <a:lnTo>
                  <a:pt x="3170" y="3611"/>
                </a:lnTo>
                <a:lnTo>
                  <a:pt x="3168" y="3562"/>
                </a:lnTo>
                <a:lnTo>
                  <a:pt x="3164" y="3512"/>
                </a:lnTo>
                <a:lnTo>
                  <a:pt x="3160" y="3461"/>
                </a:lnTo>
                <a:lnTo>
                  <a:pt x="3154" y="3410"/>
                </a:lnTo>
                <a:lnTo>
                  <a:pt x="3148" y="3359"/>
                </a:lnTo>
                <a:lnTo>
                  <a:pt x="3140" y="3305"/>
                </a:lnTo>
                <a:lnTo>
                  <a:pt x="3131" y="3251"/>
                </a:lnTo>
                <a:lnTo>
                  <a:pt x="3121" y="3198"/>
                </a:lnTo>
                <a:lnTo>
                  <a:pt x="3109" y="3143"/>
                </a:lnTo>
                <a:lnTo>
                  <a:pt x="3095" y="3087"/>
                </a:lnTo>
                <a:lnTo>
                  <a:pt x="3080" y="3032"/>
                </a:lnTo>
                <a:lnTo>
                  <a:pt x="3063" y="2976"/>
                </a:lnTo>
                <a:lnTo>
                  <a:pt x="3045" y="2919"/>
                </a:lnTo>
                <a:lnTo>
                  <a:pt x="3025" y="2863"/>
                </a:lnTo>
                <a:lnTo>
                  <a:pt x="3003" y="2805"/>
                </a:lnTo>
                <a:lnTo>
                  <a:pt x="2979" y="2748"/>
                </a:lnTo>
                <a:lnTo>
                  <a:pt x="2953" y="2692"/>
                </a:lnTo>
                <a:lnTo>
                  <a:pt x="2926" y="2634"/>
                </a:lnTo>
                <a:lnTo>
                  <a:pt x="2895" y="2576"/>
                </a:lnTo>
                <a:lnTo>
                  <a:pt x="2864" y="2519"/>
                </a:lnTo>
                <a:lnTo>
                  <a:pt x="2830" y="2461"/>
                </a:lnTo>
                <a:lnTo>
                  <a:pt x="2793" y="2403"/>
                </a:lnTo>
                <a:lnTo>
                  <a:pt x="2755" y="2346"/>
                </a:lnTo>
                <a:lnTo>
                  <a:pt x="2714" y="2288"/>
                </a:lnTo>
                <a:lnTo>
                  <a:pt x="2670" y="2231"/>
                </a:lnTo>
                <a:lnTo>
                  <a:pt x="2624" y="2174"/>
                </a:lnTo>
                <a:lnTo>
                  <a:pt x="2576" y="2117"/>
                </a:lnTo>
                <a:lnTo>
                  <a:pt x="2525" y="2061"/>
                </a:lnTo>
                <a:lnTo>
                  <a:pt x="2472" y="2006"/>
                </a:lnTo>
                <a:lnTo>
                  <a:pt x="2415" y="1950"/>
                </a:lnTo>
                <a:lnTo>
                  <a:pt x="2356" y="1895"/>
                </a:lnTo>
                <a:lnTo>
                  <a:pt x="2293" y="1842"/>
                </a:lnTo>
                <a:lnTo>
                  <a:pt x="2228" y="1788"/>
                </a:lnTo>
                <a:lnTo>
                  <a:pt x="2160" y="1735"/>
                </a:lnTo>
                <a:lnTo>
                  <a:pt x="2089" y="1682"/>
                </a:lnTo>
                <a:lnTo>
                  <a:pt x="1983" y="1605"/>
                </a:lnTo>
                <a:lnTo>
                  <a:pt x="1881" y="1528"/>
                </a:lnTo>
                <a:lnTo>
                  <a:pt x="1783" y="1451"/>
                </a:lnTo>
                <a:lnTo>
                  <a:pt x="1688" y="1374"/>
                </a:lnTo>
                <a:lnTo>
                  <a:pt x="1598" y="1297"/>
                </a:lnTo>
                <a:lnTo>
                  <a:pt x="1511" y="1222"/>
                </a:lnTo>
                <a:lnTo>
                  <a:pt x="1429" y="1147"/>
                </a:lnTo>
                <a:lnTo>
                  <a:pt x="1349" y="1073"/>
                </a:lnTo>
                <a:lnTo>
                  <a:pt x="1274" y="1000"/>
                </a:lnTo>
                <a:lnTo>
                  <a:pt x="1201" y="928"/>
                </a:lnTo>
                <a:lnTo>
                  <a:pt x="1132" y="858"/>
                </a:lnTo>
                <a:lnTo>
                  <a:pt x="1067" y="789"/>
                </a:lnTo>
                <a:lnTo>
                  <a:pt x="1006" y="722"/>
                </a:lnTo>
                <a:lnTo>
                  <a:pt x="948" y="657"/>
                </a:lnTo>
                <a:lnTo>
                  <a:pt x="893" y="594"/>
                </a:lnTo>
                <a:lnTo>
                  <a:pt x="842" y="533"/>
                </a:lnTo>
                <a:lnTo>
                  <a:pt x="794" y="475"/>
                </a:lnTo>
                <a:lnTo>
                  <a:pt x="749" y="420"/>
                </a:lnTo>
                <a:lnTo>
                  <a:pt x="708" y="366"/>
                </a:lnTo>
                <a:lnTo>
                  <a:pt x="670" y="316"/>
                </a:lnTo>
                <a:lnTo>
                  <a:pt x="634" y="269"/>
                </a:lnTo>
                <a:lnTo>
                  <a:pt x="603" y="225"/>
                </a:lnTo>
                <a:lnTo>
                  <a:pt x="550" y="147"/>
                </a:lnTo>
                <a:lnTo>
                  <a:pt x="508" y="85"/>
                </a:lnTo>
                <a:lnTo>
                  <a:pt x="479" y="39"/>
                </a:lnTo>
                <a:lnTo>
                  <a:pt x="456" y="0"/>
                </a:lnTo>
                <a:close/>
              </a:path>
            </a:pathLst>
          </a:custGeom>
          <a:solidFill>
            <a:srgbClr val="F4B183"/>
          </a:solidFill>
          <a:ln>
            <a:noFill/>
          </a:ln>
        </p:spPr>
        <p:txBody>
          <a:bodyPr anchor="ctr">
            <a:scene3d>
              <a:camera prst="orthographicFront"/>
              <a:lightRig rig="threePt" dir="t"/>
            </a:scene3d>
            <a:sp3d>
              <a:contourClr>
                <a:srgbClr val="FFFFFF"/>
              </a:contourClr>
            </a:sp3d>
          </a:bodyPr>
          <a:lstStyle>
            <a:defPPr>
              <a:defRPr lang="zh-CN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9pPr>
          </a:lstStyle>
          <a:p>
            <a:pPr algn="ctr">
              <a:defRPr/>
            </a:pPr>
            <a:endParaRPr lang="zh-CN" altLang="en-US">
              <a:solidFill>
                <a:srgbClr val="FFFFFF"/>
              </a:solidFill>
            </a:endParaRPr>
          </a:p>
        </p:txBody>
      </p:sp>
      <p:sp>
        <p:nvSpPr>
          <p:cNvPr id="8" name="TextBox 4"/>
          <p:cNvSpPr txBox="1"/>
          <p:nvPr/>
        </p:nvSpPr>
        <p:spPr>
          <a:xfrm>
            <a:off x="2929676" y="4873858"/>
            <a:ext cx="664785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2400" b="1" dirty="0">
                <a:solidFill>
                  <a:srgbClr val="E7C5AE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主讲人：</a:t>
            </a:r>
            <a:r>
              <a:rPr lang="en-US" altLang="zh-CN" sz="2400" b="1" dirty="0">
                <a:solidFill>
                  <a:srgbClr val="FFFF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xxx</a:t>
            </a:r>
            <a:endParaRPr lang="en-US" sz="2400" b="1" dirty="0">
              <a:solidFill>
                <a:srgbClr val="E7C5AE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9" name="TextBox 3"/>
          <p:cNvSpPr txBox="1"/>
          <p:nvPr/>
        </p:nvSpPr>
        <p:spPr>
          <a:xfrm>
            <a:off x="7228374" y="5628499"/>
            <a:ext cx="270743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chemeClr val="bg1">
                    <a:lumMod val="9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2021</a:t>
            </a:r>
            <a:r>
              <a:rPr lang="zh-CN" altLang="en-US" dirty="0">
                <a:solidFill>
                  <a:schemeClr val="bg1">
                    <a:lumMod val="9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年</a:t>
            </a:r>
            <a:r>
              <a:rPr lang="en-US" altLang="zh-CN" dirty="0">
                <a:solidFill>
                  <a:schemeClr val="bg1">
                    <a:lumMod val="9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xx</a:t>
            </a:r>
            <a:r>
              <a:rPr lang="zh-CN" altLang="en-US" dirty="0">
                <a:solidFill>
                  <a:schemeClr val="bg1">
                    <a:lumMod val="9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月</a:t>
            </a:r>
            <a:endParaRPr lang="en-US" dirty="0">
              <a:solidFill>
                <a:schemeClr val="bg1">
                  <a:lumMod val="9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25"/>
          <p:cNvSpPr txBox="1"/>
          <p:nvPr/>
        </p:nvSpPr>
        <p:spPr>
          <a:xfrm>
            <a:off x="4720021" y="2058356"/>
            <a:ext cx="512017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b="1" dirty="0">
                <a:solidFill>
                  <a:schemeClr val="bg1"/>
                </a:solidFill>
                <a:latin typeface="宋体-18030" pitchFamily="49" charset="-122"/>
                <a:ea typeface="宋体-18030" pitchFamily="49" charset="-122"/>
              </a:rPr>
              <a:t>用</a:t>
            </a:r>
            <a:r>
              <a:rPr lang="en-US" altLang="zh-CN" sz="2800" b="1" dirty="0">
                <a:solidFill>
                  <a:schemeClr val="bg1"/>
                </a:solidFill>
                <a:latin typeface="宋体-18030" pitchFamily="49" charset="-122"/>
                <a:ea typeface="宋体-18030" pitchFamily="49" charset="-122"/>
              </a:rPr>
              <a:t>74LS153</a:t>
            </a:r>
            <a:r>
              <a:rPr lang="zh-CN" altLang="en-US" sz="2800" b="1" dirty="0">
                <a:solidFill>
                  <a:schemeClr val="bg1"/>
                </a:solidFill>
                <a:latin typeface="宋体-18030" pitchFamily="49" charset="-122"/>
                <a:ea typeface="宋体-18030" pitchFamily="49" charset="-122"/>
              </a:rPr>
              <a:t>完成一位全加器实验</a:t>
            </a:r>
            <a:endParaRPr lang="en-US" sz="2800" dirty="0">
              <a:solidFill>
                <a:schemeClr val="bg1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6" name="TextBox 28"/>
          <p:cNvSpPr txBox="1"/>
          <p:nvPr/>
        </p:nvSpPr>
        <p:spPr>
          <a:xfrm>
            <a:off x="4720021" y="2807209"/>
            <a:ext cx="405095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>
              <a:defRPr sz="2400" b="1">
                <a:solidFill>
                  <a:schemeClr val="bg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1pPr>
          </a:lstStyle>
          <a:p>
            <a:r>
              <a:rPr lang="zh-CN" altLang="en-US" sz="2800" dirty="0">
                <a:latin typeface="宋体-18030" pitchFamily="49" charset="-122"/>
                <a:ea typeface="宋体-18030" pitchFamily="49" charset="-122"/>
              </a:rPr>
              <a:t>逻辑函数实现实验</a:t>
            </a:r>
            <a:endParaRPr lang="en-US" sz="2800" dirty="0"/>
          </a:p>
        </p:txBody>
      </p:sp>
      <p:sp>
        <p:nvSpPr>
          <p:cNvPr id="10" name="TextBox 35"/>
          <p:cNvSpPr txBox="1"/>
          <p:nvPr/>
        </p:nvSpPr>
        <p:spPr>
          <a:xfrm>
            <a:off x="4007431" y="2058356"/>
            <a:ext cx="575696" cy="510778"/>
          </a:xfrm>
          <a:prstGeom prst="round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>
                <a:solidFill>
                  <a:schemeClr val="tx1">
                    <a:lumMod val="95000"/>
                    <a:lumOff val="5000"/>
                  </a:schemeClr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1.1</a:t>
            </a:r>
            <a:endParaRPr lang="en-US" sz="2400" b="1" dirty="0">
              <a:solidFill>
                <a:schemeClr val="tx1">
                  <a:lumMod val="95000"/>
                  <a:lumOff val="5000"/>
                </a:schemeClr>
              </a:solidFill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</p:txBody>
      </p:sp>
      <p:sp>
        <p:nvSpPr>
          <p:cNvPr id="11" name="TextBox 36"/>
          <p:cNvSpPr txBox="1"/>
          <p:nvPr/>
        </p:nvSpPr>
        <p:spPr>
          <a:xfrm>
            <a:off x="4007431" y="2811059"/>
            <a:ext cx="596294" cy="510778"/>
          </a:xfrm>
          <a:prstGeom prst="round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pPr algn="ctr"/>
            <a:r>
              <a:rPr lang="en-US" sz="2400" b="1" dirty="0">
                <a:solidFill>
                  <a:schemeClr val="tx1">
                    <a:lumMod val="95000"/>
                    <a:lumOff val="5000"/>
                  </a:schemeClr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1.2</a:t>
            </a:r>
            <a:endParaRPr lang="en-US" sz="2400" b="1" dirty="0">
              <a:solidFill>
                <a:schemeClr val="tx1">
                  <a:lumMod val="95000"/>
                  <a:lumOff val="5000"/>
                </a:schemeClr>
              </a:solidFill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</p:txBody>
      </p:sp>
      <p:grpSp>
        <p:nvGrpSpPr>
          <p:cNvPr id="20" name="组合 19"/>
          <p:cNvGrpSpPr/>
          <p:nvPr/>
        </p:nvGrpSpPr>
        <p:grpSpPr>
          <a:xfrm>
            <a:off x="134487" y="634029"/>
            <a:ext cx="10533513" cy="523220"/>
            <a:chOff x="134487" y="634029"/>
            <a:chExt cx="10533513" cy="523220"/>
          </a:xfrm>
        </p:grpSpPr>
        <p:sp>
          <p:nvSpPr>
            <p:cNvPr id="16" name="TextBox 39"/>
            <p:cNvSpPr txBox="1"/>
            <p:nvPr/>
          </p:nvSpPr>
          <p:spPr>
            <a:xfrm>
              <a:off x="395986" y="634029"/>
              <a:ext cx="1620958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zh-CN" altLang="en-US" sz="2800" dirty="0">
                  <a:solidFill>
                    <a:schemeClr val="bg1">
                      <a:lumMod val="95000"/>
                    </a:schemeClr>
                  </a:solidFill>
                  <a:latin typeface="Dense" panose="02000000000000000000" pitchFamily="50" charset="0"/>
                  <a:ea typeface="微软雅黑 Light" panose="020B0502040204020203" pitchFamily="34" charset="-122"/>
                </a:rPr>
                <a:t>课程内容</a:t>
              </a:r>
              <a:endParaRPr lang="en-US" sz="2800" dirty="0">
                <a:solidFill>
                  <a:schemeClr val="bg1">
                    <a:lumMod val="95000"/>
                  </a:schemeClr>
                </a:solidFill>
                <a:latin typeface="Dense" panose="02000000000000000000" pitchFamily="50" charset="0"/>
                <a:ea typeface="微软雅黑 Light" panose="020B0502040204020203" pitchFamily="34" charset="-122"/>
              </a:endParaRPr>
            </a:p>
          </p:txBody>
        </p:sp>
        <p:sp>
          <p:nvSpPr>
            <p:cNvPr id="17" name="Rectangle 41"/>
            <p:cNvSpPr/>
            <p:nvPr/>
          </p:nvSpPr>
          <p:spPr>
            <a:xfrm rot="16200000">
              <a:off x="95249" y="885029"/>
              <a:ext cx="457200" cy="27432"/>
            </a:xfrm>
            <a:prstGeom prst="rect">
              <a:avLst/>
            </a:prstGeom>
            <a:solidFill>
              <a:srgbClr val="F4B18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9" name="Rectangle 41"/>
            <p:cNvSpPr/>
            <p:nvPr/>
          </p:nvSpPr>
          <p:spPr>
            <a:xfrm rot="16200000">
              <a:off x="-25340" y="829973"/>
              <a:ext cx="457200" cy="137545"/>
            </a:xfrm>
            <a:prstGeom prst="rect">
              <a:avLst/>
            </a:prstGeom>
            <a:solidFill>
              <a:srgbClr val="F4B18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3" name="直接连接符 2"/>
            <p:cNvCxnSpPr/>
            <p:nvPr/>
          </p:nvCxnSpPr>
          <p:spPr>
            <a:xfrm>
              <a:off x="2381250" y="898745"/>
              <a:ext cx="8286750" cy="0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3" name="TextBox 28"/>
          <p:cNvSpPr txBox="1"/>
          <p:nvPr/>
        </p:nvSpPr>
        <p:spPr>
          <a:xfrm>
            <a:off x="4720020" y="3599467"/>
            <a:ext cx="405095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>
              <a:defRPr sz="2400" b="1">
                <a:solidFill>
                  <a:schemeClr val="bg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1pPr>
          </a:lstStyle>
          <a:p>
            <a:r>
              <a:rPr lang="zh-CN" altLang="en-US" sz="2800" dirty="0">
                <a:latin typeface="宋体-18030" pitchFamily="49" charset="-122"/>
                <a:ea typeface="宋体-18030" pitchFamily="49" charset="-122"/>
              </a:rPr>
              <a:t>脉冲序列产生实验</a:t>
            </a:r>
            <a:endParaRPr lang="en-US" sz="2800" dirty="0"/>
          </a:p>
        </p:txBody>
      </p:sp>
      <p:sp>
        <p:nvSpPr>
          <p:cNvPr id="14" name="TextBox 36"/>
          <p:cNvSpPr txBox="1"/>
          <p:nvPr/>
        </p:nvSpPr>
        <p:spPr>
          <a:xfrm>
            <a:off x="4010044" y="3602335"/>
            <a:ext cx="596294" cy="510778"/>
          </a:xfrm>
          <a:prstGeom prst="round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pPr algn="ctr"/>
            <a:r>
              <a:rPr lang="en-US" sz="2400" b="1" dirty="0">
                <a:solidFill>
                  <a:schemeClr val="tx1">
                    <a:lumMod val="95000"/>
                    <a:lumOff val="5000"/>
                  </a:schemeClr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1.3</a:t>
            </a:r>
            <a:endParaRPr lang="en-US" sz="2400" b="1" dirty="0">
              <a:solidFill>
                <a:schemeClr val="tx1">
                  <a:lumMod val="95000"/>
                  <a:lumOff val="5000"/>
                </a:schemeClr>
              </a:solidFill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</p:txBody>
      </p:sp>
      <p:sp>
        <p:nvSpPr>
          <p:cNvPr id="15" name="TextBox 28"/>
          <p:cNvSpPr txBox="1"/>
          <p:nvPr/>
        </p:nvSpPr>
        <p:spPr>
          <a:xfrm>
            <a:off x="4722634" y="4382125"/>
            <a:ext cx="405095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>
              <a:defRPr sz="3200" b="1">
                <a:solidFill>
                  <a:srgbClr val="F4B183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defRPr>
            </a:lvl1pPr>
          </a:lstStyle>
          <a:p>
            <a:endParaRPr lang="en-US" sz="2800" dirty="0">
              <a:solidFill>
                <a:schemeClr val="bg1"/>
              </a:solidFill>
            </a:endParaRPr>
          </a:p>
        </p:txBody>
      </p:sp>
      <p:sp>
        <p:nvSpPr>
          <p:cNvPr id="18" name="TextBox 36"/>
          <p:cNvSpPr txBox="1"/>
          <p:nvPr/>
        </p:nvSpPr>
        <p:spPr>
          <a:xfrm>
            <a:off x="4007431" y="4393611"/>
            <a:ext cx="601521" cy="510778"/>
          </a:xfrm>
          <a:prstGeom prst="round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pPr algn="ctr"/>
            <a:r>
              <a:rPr lang="en-US" sz="2400" b="1" dirty="0">
                <a:solidFill>
                  <a:schemeClr val="tx1">
                    <a:lumMod val="95000"/>
                    <a:lumOff val="5000"/>
                  </a:schemeClr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1.4</a:t>
            </a:r>
            <a:endParaRPr lang="en-US" sz="2400" b="1" dirty="0">
              <a:solidFill>
                <a:schemeClr val="tx1">
                  <a:lumMod val="95000"/>
                  <a:lumOff val="5000"/>
                </a:schemeClr>
              </a:solidFill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</p:txBody>
      </p:sp>
      <p:sp>
        <p:nvSpPr>
          <p:cNvPr id="21" name="TextBox 28"/>
          <p:cNvSpPr txBox="1"/>
          <p:nvPr/>
        </p:nvSpPr>
        <p:spPr>
          <a:xfrm>
            <a:off x="4720019" y="4391725"/>
            <a:ext cx="405095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>
              <a:defRPr sz="2400" b="1">
                <a:solidFill>
                  <a:schemeClr val="bg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1pPr>
          </a:lstStyle>
          <a:p>
            <a:r>
              <a:rPr lang="zh-CN" altLang="en-US" sz="2800" dirty="0"/>
              <a:t>下一实验内容</a:t>
            </a:r>
            <a:endParaRPr lang="en-US" sz="2800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25"/>
          <p:cNvSpPr txBox="1"/>
          <p:nvPr/>
        </p:nvSpPr>
        <p:spPr>
          <a:xfrm>
            <a:off x="4720021" y="2058356"/>
            <a:ext cx="512017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b="1" dirty="0">
                <a:solidFill>
                  <a:srgbClr val="F4B183"/>
                </a:solidFill>
                <a:latin typeface="宋体-18030" pitchFamily="49" charset="-122"/>
                <a:ea typeface="宋体-18030" pitchFamily="49" charset="-122"/>
              </a:rPr>
              <a:t>用</a:t>
            </a:r>
            <a:r>
              <a:rPr lang="en-US" altLang="zh-CN" sz="2800" b="1" dirty="0">
                <a:solidFill>
                  <a:srgbClr val="F4B183"/>
                </a:solidFill>
                <a:latin typeface="宋体-18030" pitchFamily="49" charset="-122"/>
                <a:ea typeface="宋体-18030" pitchFamily="49" charset="-122"/>
              </a:rPr>
              <a:t>74LS153</a:t>
            </a:r>
            <a:r>
              <a:rPr lang="zh-CN" altLang="en-US" sz="2800" b="1" dirty="0">
                <a:solidFill>
                  <a:srgbClr val="F4B183"/>
                </a:solidFill>
                <a:latin typeface="宋体-18030" pitchFamily="49" charset="-122"/>
                <a:ea typeface="宋体-18030" pitchFamily="49" charset="-122"/>
              </a:rPr>
              <a:t>完成一位全加器实验</a:t>
            </a:r>
            <a:endParaRPr lang="en-US" sz="2800" dirty="0">
              <a:solidFill>
                <a:srgbClr val="F4B183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6" name="TextBox 28"/>
          <p:cNvSpPr txBox="1"/>
          <p:nvPr/>
        </p:nvSpPr>
        <p:spPr>
          <a:xfrm>
            <a:off x="4720021" y="2807209"/>
            <a:ext cx="405095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>
              <a:defRPr sz="2400" b="1">
                <a:solidFill>
                  <a:schemeClr val="bg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1pPr>
          </a:lstStyle>
          <a:p>
            <a:r>
              <a:rPr lang="zh-CN" altLang="en-US" sz="2800" dirty="0">
                <a:latin typeface="宋体-18030" pitchFamily="49" charset="-122"/>
                <a:ea typeface="宋体-18030" pitchFamily="49" charset="-122"/>
              </a:rPr>
              <a:t>逻辑函数实现实验</a:t>
            </a:r>
            <a:endParaRPr lang="en-US" sz="2800" dirty="0"/>
          </a:p>
        </p:txBody>
      </p:sp>
      <p:sp>
        <p:nvSpPr>
          <p:cNvPr id="10" name="TextBox 35"/>
          <p:cNvSpPr txBox="1"/>
          <p:nvPr/>
        </p:nvSpPr>
        <p:spPr>
          <a:xfrm>
            <a:off x="4007431" y="2058356"/>
            <a:ext cx="575696" cy="510778"/>
          </a:xfrm>
          <a:prstGeom prst="roundRect">
            <a:avLst/>
          </a:prstGeom>
          <a:solidFill>
            <a:srgbClr val="F4B183"/>
          </a:solidFill>
        </p:spPr>
        <p:txBody>
          <a:bodyPr wrap="square" rtlCol="0">
            <a:spAutoFit/>
          </a:bodyPr>
          <a:lstStyle>
            <a:defPPr>
              <a:defRPr lang="zh-CN"/>
            </a:defPPr>
            <a:lvl1pPr algn="ctr">
              <a:defRPr sz="2400" b="1">
                <a:solidFill>
                  <a:schemeClr val="tx1">
                    <a:lumMod val="95000"/>
                    <a:lumOff val="5000"/>
                  </a:schemeClr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defRPr>
            </a:lvl1pPr>
          </a:lstStyle>
          <a:p>
            <a:r>
              <a:rPr lang="en-US" dirty="0"/>
              <a:t>1.1</a:t>
            </a:r>
            <a:endParaRPr lang="en-US" dirty="0"/>
          </a:p>
        </p:txBody>
      </p:sp>
      <p:sp>
        <p:nvSpPr>
          <p:cNvPr id="11" name="TextBox 36"/>
          <p:cNvSpPr txBox="1"/>
          <p:nvPr/>
        </p:nvSpPr>
        <p:spPr>
          <a:xfrm>
            <a:off x="4007431" y="2811059"/>
            <a:ext cx="596294" cy="510778"/>
          </a:xfrm>
          <a:prstGeom prst="round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pPr algn="ctr"/>
            <a:r>
              <a:rPr lang="en-US" sz="2400" b="1" dirty="0">
                <a:solidFill>
                  <a:schemeClr val="tx1">
                    <a:lumMod val="95000"/>
                    <a:lumOff val="5000"/>
                  </a:schemeClr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1.2</a:t>
            </a:r>
            <a:endParaRPr lang="en-US" sz="2400" b="1" dirty="0">
              <a:solidFill>
                <a:schemeClr val="tx1">
                  <a:lumMod val="95000"/>
                  <a:lumOff val="5000"/>
                </a:schemeClr>
              </a:solidFill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</p:txBody>
      </p:sp>
      <p:grpSp>
        <p:nvGrpSpPr>
          <p:cNvPr id="20" name="组合 19"/>
          <p:cNvGrpSpPr/>
          <p:nvPr/>
        </p:nvGrpSpPr>
        <p:grpSpPr>
          <a:xfrm>
            <a:off x="134487" y="634029"/>
            <a:ext cx="10533513" cy="523220"/>
            <a:chOff x="134487" y="634029"/>
            <a:chExt cx="10533513" cy="523220"/>
          </a:xfrm>
        </p:grpSpPr>
        <p:sp>
          <p:nvSpPr>
            <p:cNvPr id="16" name="TextBox 39"/>
            <p:cNvSpPr txBox="1"/>
            <p:nvPr/>
          </p:nvSpPr>
          <p:spPr>
            <a:xfrm>
              <a:off x="395986" y="634029"/>
              <a:ext cx="1620958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zh-CN" altLang="en-US" sz="2800" dirty="0">
                  <a:solidFill>
                    <a:schemeClr val="bg1">
                      <a:lumMod val="95000"/>
                    </a:schemeClr>
                  </a:solidFill>
                  <a:latin typeface="Dense" panose="02000000000000000000" pitchFamily="50" charset="0"/>
                  <a:ea typeface="微软雅黑 Light" panose="020B0502040204020203" pitchFamily="34" charset="-122"/>
                </a:rPr>
                <a:t>课程内容</a:t>
              </a:r>
              <a:endParaRPr lang="en-US" sz="2800" dirty="0">
                <a:solidFill>
                  <a:schemeClr val="bg1">
                    <a:lumMod val="95000"/>
                  </a:schemeClr>
                </a:solidFill>
                <a:latin typeface="Dense" panose="02000000000000000000" pitchFamily="50" charset="0"/>
                <a:ea typeface="微软雅黑 Light" panose="020B0502040204020203" pitchFamily="34" charset="-122"/>
              </a:endParaRPr>
            </a:p>
          </p:txBody>
        </p:sp>
        <p:sp>
          <p:nvSpPr>
            <p:cNvPr id="17" name="Rectangle 41"/>
            <p:cNvSpPr/>
            <p:nvPr/>
          </p:nvSpPr>
          <p:spPr>
            <a:xfrm rot="16200000">
              <a:off x="95249" y="885029"/>
              <a:ext cx="457200" cy="27432"/>
            </a:xfrm>
            <a:prstGeom prst="rect">
              <a:avLst/>
            </a:prstGeom>
            <a:solidFill>
              <a:srgbClr val="F4B18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9" name="Rectangle 41"/>
            <p:cNvSpPr/>
            <p:nvPr/>
          </p:nvSpPr>
          <p:spPr>
            <a:xfrm rot="16200000">
              <a:off x="-25340" y="829973"/>
              <a:ext cx="457200" cy="137545"/>
            </a:xfrm>
            <a:prstGeom prst="rect">
              <a:avLst/>
            </a:prstGeom>
            <a:solidFill>
              <a:srgbClr val="F4B18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3" name="直接连接符 2"/>
            <p:cNvCxnSpPr/>
            <p:nvPr/>
          </p:nvCxnSpPr>
          <p:spPr>
            <a:xfrm>
              <a:off x="2381250" y="898745"/>
              <a:ext cx="8286750" cy="0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3" name="TextBox 28"/>
          <p:cNvSpPr txBox="1"/>
          <p:nvPr/>
        </p:nvSpPr>
        <p:spPr>
          <a:xfrm>
            <a:off x="4720020" y="3599467"/>
            <a:ext cx="405095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>
              <a:defRPr sz="2400" b="1">
                <a:solidFill>
                  <a:schemeClr val="bg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1pPr>
          </a:lstStyle>
          <a:p>
            <a:r>
              <a:rPr lang="zh-CN" altLang="en-US" sz="2800" dirty="0">
                <a:latin typeface="宋体-18030" pitchFamily="49" charset="-122"/>
                <a:ea typeface="宋体-18030" pitchFamily="49" charset="-122"/>
              </a:rPr>
              <a:t>脉冲序列产生实验</a:t>
            </a:r>
            <a:endParaRPr lang="en-US" sz="2800" dirty="0"/>
          </a:p>
        </p:txBody>
      </p:sp>
      <p:sp>
        <p:nvSpPr>
          <p:cNvPr id="14" name="TextBox 36"/>
          <p:cNvSpPr txBox="1"/>
          <p:nvPr/>
        </p:nvSpPr>
        <p:spPr>
          <a:xfrm>
            <a:off x="4010044" y="3602335"/>
            <a:ext cx="596294" cy="510778"/>
          </a:xfrm>
          <a:prstGeom prst="round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pPr algn="ctr"/>
            <a:r>
              <a:rPr lang="en-US" sz="2400" b="1" dirty="0">
                <a:solidFill>
                  <a:schemeClr val="tx1">
                    <a:lumMod val="95000"/>
                    <a:lumOff val="5000"/>
                  </a:schemeClr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1.3</a:t>
            </a:r>
            <a:endParaRPr lang="en-US" sz="2400" b="1" dirty="0">
              <a:solidFill>
                <a:schemeClr val="tx1">
                  <a:lumMod val="95000"/>
                  <a:lumOff val="5000"/>
                </a:schemeClr>
              </a:solidFill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</p:txBody>
      </p:sp>
      <p:sp>
        <p:nvSpPr>
          <p:cNvPr id="15" name="TextBox 28"/>
          <p:cNvSpPr txBox="1"/>
          <p:nvPr/>
        </p:nvSpPr>
        <p:spPr>
          <a:xfrm>
            <a:off x="4722634" y="4382125"/>
            <a:ext cx="405095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>
              <a:defRPr sz="3200" b="1">
                <a:solidFill>
                  <a:srgbClr val="F4B183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defRPr>
            </a:lvl1pPr>
          </a:lstStyle>
          <a:p>
            <a:endParaRPr lang="en-US" sz="2800" dirty="0">
              <a:solidFill>
                <a:schemeClr val="bg1"/>
              </a:solidFill>
            </a:endParaRPr>
          </a:p>
        </p:txBody>
      </p:sp>
      <p:sp>
        <p:nvSpPr>
          <p:cNvPr id="18" name="TextBox 36"/>
          <p:cNvSpPr txBox="1"/>
          <p:nvPr/>
        </p:nvSpPr>
        <p:spPr>
          <a:xfrm>
            <a:off x="4007431" y="4393611"/>
            <a:ext cx="601521" cy="510778"/>
          </a:xfrm>
          <a:prstGeom prst="round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pPr algn="ctr"/>
            <a:r>
              <a:rPr lang="en-US" sz="2400" b="1" dirty="0">
                <a:solidFill>
                  <a:schemeClr val="tx1">
                    <a:lumMod val="95000"/>
                    <a:lumOff val="5000"/>
                  </a:schemeClr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1.4</a:t>
            </a:r>
            <a:endParaRPr lang="en-US" sz="2400" b="1" dirty="0">
              <a:solidFill>
                <a:schemeClr val="tx1">
                  <a:lumMod val="95000"/>
                  <a:lumOff val="5000"/>
                </a:schemeClr>
              </a:solidFill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</p:txBody>
      </p:sp>
      <p:sp>
        <p:nvSpPr>
          <p:cNvPr id="21" name="TextBox 28"/>
          <p:cNvSpPr txBox="1"/>
          <p:nvPr/>
        </p:nvSpPr>
        <p:spPr>
          <a:xfrm>
            <a:off x="4720019" y="4391725"/>
            <a:ext cx="405095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>
              <a:defRPr sz="2400" b="1">
                <a:solidFill>
                  <a:schemeClr val="bg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1pPr>
          </a:lstStyle>
          <a:p>
            <a:r>
              <a:rPr lang="zh-CN" altLang="en-US" sz="2800" dirty="0"/>
              <a:t>下一实验内容</a:t>
            </a:r>
            <a:endParaRPr lang="en-US" sz="2800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7" name="组合 56"/>
          <p:cNvGrpSpPr/>
          <p:nvPr/>
        </p:nvGrpSpPr>
        <p:grpSpPr>
          <a:xfrm>
            <a:off x="134487" y="360136"/>
            <a:ext cx="10533513" cy="1077218"/>
            <a:chOff x="134487" y="360136"/>
            <a:chExt cx="10533513" cy="1077218"/>
          </a:xfrm>
        </p:grpSpPr>
        <p:sp>
          <p:nvSpPr>
            <p:cNvPr id="58" name="TextBox 39"/>
            <p:cNvSpPr txBox="1"/>
            <p:nvPr/>
          </p:nvSpPr>
          <p:spPr>
            <a:xfrm>
              <a:off x="272033" y="360136"/>
              <a:ext cx="2343426" cy="107721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zh-CN" altLang="en-US" sz="3200" b="1" dirty="0">
                  <a:solidFill>
                    <a:schemeClr val="bg1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数据选择器</a:t>
              </a:r>
              <a:endParaRPr lang="en-US" altLang="zh-CN" sz="3200" b="1" dirty="0">
                <a:solidFill>
                  <a:schemeClr val="bg1"/>
                </a:solidFill>
                <a:latin typeface="宋体" panose="02010600030101010101" pitchFamily="2" charset="-122"/>
                <a:ea typeface="宋体" panose="02010600030101010101" pitchFamily="2" charset="-122"/>
              </a:endParaRPr>
            </a:p>
            <a:p>
              <a:pPr algn="ctr"/>
              <a:r>
                <a:rPr lang="en-US" altLang="zh-CN" sz="3200" b="1" dirty="0">
                  <a:solidFill>
                    <a:schemeClr val="bg1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74LS153</a:t>
              </a:r>
              <a:endParaRPr lang="en-US" altLang="zh-CN" sz="3200" dirty="0">
                <a:solidFill>
                  <a:schemeClr val="bg1"/>
                </a:solidFill>
                <a:latin typeface="宋体" panose="02010600030101010101" pitchFamily="2" charset="-122"/>
                <a:ea typeface="宋体" panose="02010600030101010101" pitchFamily="2" charset="-122"/>
              </a:endParaRPr>
            </a:p>
          </p:txBody>
        </p:sp>
        <p:sp>
          <p:nvSpPr>
            <p:cNvPr id="59" name="Rectangle 41"/>
            <p:cNvSpPr/>
            <p:nvPr/>
          </p:nvSpPr>
          <p:spPr>
            <a:xfrm rot="16200000">
              <a:off x="95249" y="885029"/>
              <a:ext cx="457200" cy="27432"/>
            </a:xfrm>
            <a:prstGeom prst="rect">
              <a:avLst/>
            </a:prstGeom>
            <a:solidFill>
              <a:srgbClr val="F4B18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1" name="Rectangle 41"/>
            <p:cNvSpPr/>
            <p:nvPr/>
          </p:nvSpPr>
          <p:spPr>
            <a:xfrm rot="16200000">
              <a:off x="-25340" y="829973"/>
              <a:ext cx="457200" cy="137545"/>
            </a:xfrm>
            <a:prstGeom prst="rect">
              <a:avLst/>
            </a:prstGeom>
            <a:solidFill>
              <a:srgbClr val="F4B18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62" name="直接连接符 61"/>
            <p:cNvCxnSpPr/>
            <p:nvPr/>
          </p:nvCxnSpPr>
          <p:spPr>
            <a:xfrm>
              <a:off x="2381250" y="898745"/>
              <a:ext cx="8286750" cy="0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2" name="矩形 11"/>
          <p:cNvSpPr/>
          <p:nvPr/>
        </p:nvSpPr>
        <p:spPr>
          <a:xfrm>
            <a:off x="1161714" y="1833419"/>
            <a:ext cx="5112086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lang="en-US" altLang="zh-CN" sz="2800" b="1" dirty="0">
                <a:solidFill>
                  <a:srgbClr val="F4B183"/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74LS153 </a:t>
            </a:r>
            <a:r>
              <a:rPr lang="zh-CN" altLang="en-US" sz="2800" b="1" dirty="0">
                <a:solidFill>
                  <a:srgbClr val="F4B183"/>
                </a:solidFill>
              </a:rPr>
              <a:t>两组</a:t>
            </a:r>
            <a:r>
              <a:rPr lang="en-US" altLang="zh-CN" sz="2800" b="1" dirty="0">
                <a:solidFill>
                  <a:srgbClr val="F4B183"/>
                </a:solidFill>
              </a:rPr>
              <a:t>4</a:t>
            </a:r>
            <a:r>
              <a:rPr lang="zh-CN" altLang="en-US" sz="2800" b="1" dirty="0">
                <a:solidFill>
                  <a:srgbClr val="F4B183"/>
                </a:solidFill>
              </a:rPr>
              <a:t>选一数据选择器</a:t>
            </a:r>
            <a:endParaRPr lang="en-US" altLang="zh-CN" sz="2400" b="1" baseline="-25000" dirty="0">
              <a:solidFill>
                <a:srgbClr val="F4B183"/>
              </a:solidFill>
              <a:latin typeface="Times New Roman" panose="02020603050405020304" pitchFamily="18" charset="0"/>
            </a:endParaRPr>
          </a:p>
        </p:txBody>
      </p:sp>
      <p:pic>
        <p:nvPicPr>
          <p:cNvPr id="13" name="图片 12"/>
          <p:cNvPicPr>
            <a:picLocks noChangeAspect="1"/>
          </p:cNvPicPr>
          <p:nvPr/>
        </p:nvPicPr>
        <p:blipFill rotWithShape="1"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252" t="24074" r="9353" b="20988"/>
          <a:stretch>
            <a:fillRect/>
          </a:stretch>
        </p:blipFill>
        <p:spPr>
          <a:xfrm>
            <a:off x="590382" y="2752704"/>
            <a:ext cx="5217751" cy="3439851"/>
          </a:xfrm>
          <a:prstGeom prst="rect">
            <a:avLst/>
          </a:prstGeom>
        </p:spPr>
      </p:pic>
      <p:pic>
        <p:nvPicPr>
          <p:cNvPr id="14" name="图片 1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73800" y="1831198"/>
            <a:ext cx="5648616" cy="449527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7" name="组合 56"/>
          <p:cNvGrpSpPr/>
          <p:nvPr/>
        </p:nvGrpSpPr>
        <p:grpSpPr>
          <a:xfrm>
            <a:off x="134487" y="360136"/>
            <a:ext cx="10533513" cy="1077218"/>
            <a:chOff x="134487" y="360136"/>
            <a:chExt cx="10533513" cy="1077218"/>
          </a:xfrm>
        </p:grpSpPr>
        <p:sp>
          <p:nvSpPr>
            <p:cNvPr id="58" name="TextBox 39"/>
            <p:cNvSpPr txBox="1"/>
            <p:nvPr/>
          </p:nvSpPr>
          <p:spPr>
            <a:xfrm>
              <a:off x="272033" y="360136"/>
              <a:ext cx="2343426" cy="107721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zh-CN" altLang="en-US" sz="3200" b="1" dirty="0">
                  <a:solidFill>
                    <a:schemeClr val="bg1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数据选择器</a:t>
              </a:r>
              <a:endParaRPr lang="en-US" altLang="zh-CN" sz="3200" b="1" dirty="0">
                <a:solidFill>
                  <a:schemeClr val="bg1"/>
                </a:solidFill>
                <a:latin typeface="宋体" panose="02010600030101010101" pitchFamily="2" charset="-122"/>
                <a:ea typeface="宋体" panose="02010600030101010101" pitchFamily="2" charset="-122"/>
              </a:endParaRPr>
            </a:p>
            <a:p>
              <a:pPr algn="ctr"/>
              <a:r>
                <a:rPr lang="en-US" altLang="zh-CN" sz="3200" b="1" dirty="0">
                  <a:solidFill>
                    <a:schemeClr val="bg1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74LS153</a:t>
              </a:r>
              <a:endParaRPr lang="en-US" altLang="zh-CN" sz="3200" dirty="0">
                <a:solidFill>
                  <a:schemeClr val="bg1"/>
                </a:solidFill>
                <a:latin typeface="宋体" panose="02010600030101010101" pitchFamily="2" charset="-122"/>
                <a:ea typeface="宋体" panose="02010600030101010101" pitchFamily="2" charset="-122"/>
              </a:endParaRPr>
            </a:p>
          </p:txBody>
        </p:sp>
        <p:sp>
          <p:nvSpPr>
            <p:cNvPr id="59" name="Rectangle 41"/>
            <p:cNvSpPr/>
            <p:nvPr/>
          </p:nvSpPr>
          <p:spPr>
            <a:xfrm rot="16200000">
              <a:off x="95249" y="885029"/>
              <a:ext cx="457200" cy="27432"/>
            </a:xfrm>
            <a:prstGeom prst="rect">
              <a:avLst/>
            </a:prstGeom>
            <a:solidFill>
              <a:srgbClr val="F4B18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1" name="Rectangle 41"/>
            <p:cNvSpPr/>
            <p:nvPr/>
          </p:nvSpPr>
          <p:spPr>
            <a:xfrm rot="16200000">
              <a:off x="-25340" y="829973"/>
              <a:ext cx="457200" cy="137545"/>
            </a:xfrm>
            <a:prstGeom prst="rect">
              <a:avLst/>
            </a:prstGeom>
            <a:solidFill>
              <a:srgbClr val="F4B18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62" name="直接连接符 61"/>
            <p:cNvCxnSpPr/>
            <p:nvPr/>
          </p:nvCxnSpPr>
          <p:spPr>
            <a:xfrm>
              <a:off x="2381250" y="898745"/>
              <a:ext cx="8286750" cy="0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23849" y="1665954"/>
            <a:ext cx="3161002" cy="4903204"/>
          </a:xfrm>
          <a:prstGeom prst="rect">
            <a:avLst/>
          </a:prstGeom>
        </p:spPr>
      </p:pic>
      <p:sp>
        <p:nvSpPr>
          <p:cNvPr id="3" name="矩形 2"/>
          <p:cNvSpPr/>
          <p:nvPr/>
        </p:nvSpPr>
        <p:spPr>
          <a:xfrm>
            <a:off x="3624943" y="1437354"/>
            <a:ext cx="8381999" cy="507831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indent="457200">
              <a:lnSpc>
                <a:spcPct val="150000"/>
              </a:lnSpc>
            </a:pPr>
            <a:r>
              <a:rPr lang="zh-CN" altLang="en-US" sz="24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注意：各个厂家对引脚命名有些差异</a:t>
            </a:r>
            <a:endParaRPr lang="en-US" altLang="zh-CN" sz="2400" b="1" dirty="0">
              <a:solidFill>
                <a:srgbClr val="FF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indent="457200">
              <a:lnSpc>
                <a:spcPct val="150000"/>
              </a:lnSpc>
            </a:pPr>
            <a:r>
              <a:rPr lang="en-US" altLang="zh-CN" sz="2400" b="1" dirty="0">
                <a:solidFill>
                  <a:schemeClr val="bg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1E</a:t>
            </a:r>
            <a:r>
              <a:rPr lang="zh-CN" altLang="en-US" sz="2400" b="1" dirty="0">
                <a:solidFill>
                  <a:schemeClr val="bg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、</a:t>
            </a:r>
            <a:r>
              <a:rPr lang="en-US" altLang="zh-CN" sz="2400" b="1" dirty="0">
                <a:solidFill>
                  <a:schemeClr val="bg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2E</a:t>
            </a:r>
            <a:r>
              <a:rPr lang="zh-CN" altLang="en-US" sz="2400" b="1" dirty="0">
                <a:solidFill>
                  <a:schemeClr val="bg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为两个独立的使能端；</a:t>
            </a:r>
            <a:r>
              <a:rPr lang="en-US" altLang="zh-CN" sz="2400" b="1" dirty="0">
                <a:solidFill>
                  <a:schemeClr val="bg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B</a:t>
            </a:r>
            <a:r>
              <a:rPr lang="zh-CN" altLang="en-US" sz="2400" b="1" dirty="0">
                <a:solidFill>
                  <a:schemeClr val="bg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、</a:t>
            </a:r>
            <a:r>
              <a:rPr lang="en-US" altLang="zh-CN" sz="2400" b="1" dirty="0">
                <a:solidFill>
                  <a:schemeClr val="bg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A</a:t>
            </a:r>
            <a:r>
              <a:rPr lang="zh-CN" altLang="en-US" sz="2400" b="1" dirty="0">
                <a:solidFill>
                  <a:schemeClr val="bg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为公用的地址输入端；</a:t>
            </a:r>
            <a:r>
              <a:rPr lang="en-US" altLang="zh-CN" sz="2400" b="1" dirty="0">
                <a:solidFill>
                  <a:schemeClr val="bg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1X0</a:t>
            </a:r>
            <a:r>
              <a:rPr lang="zh-CN" altLang="en-US" sz="2400" b="1" dirty="0">
                <a:solidFill>
                  <a:schemeClr val="bg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～</a:t>
            </a:r>
            <a:r>
              <a:rPr lang="en-US" altLang="zh-CN" sz="2400" b="1" dirty="0">
                <a:solidFill>
                  <a:schemeClr val="bg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1X3</a:t>
            </a:r>
            <a:r>
              <a:rPr lang="zh-CN" altLang="en-US" sz="2400" b="1" dirty="0">
                <a:solidFill>
                  <a:schemeClr val="bg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和</a:t>
            </a:r>
            <a:r>
              <a:rPr lang="en-US" altLang="zh-CN" sz="2400" b="1" dirty="0">
                <a:solidFill>
                  <a:schemeClr val="bg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2X0</a:t>
            </a:r>
            <a:r>
              <a:rPr lang="zh-CN" altLang="en-US" sz="2400" b="1" dirty="0">
                <a:solidFill>
                  <a:schemeClr val="bg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～</a:t>
            </a:r>
            <a:r>
              <a:rPr lang="en-US" altLang="zh-CN" sz="2400" b="1" dirty="0">
                <a:solidFill>
                  <a:schemeClr val="bg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2X3</a:t>
            </a:r>
            <a:r>
              <a:rPr lang="zh-CN" altLang="en-US" sz="2400" b="1" dirty="0">
                <a:solidFill>
                  <a:schemeClr val="bg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分别为两个</a:t>
            </a:r>
            <a:r>
              <a:rPr lang="en-US" altLang="zh-CN" sz="2400" b="1" dirty="0">
                <a:solidFill>
                  <a:schemeClr val="bg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4</a:t>
            </a:r>
            <a:r>
              <a:rPr lang="zh-CN" altLang="en-US" sz="2400" b="1" dirty="0">
                <a:solidFill>
                  <a:schemeClr val="bg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选</a:t>
            </a:r>
            <a:r>
              <a:rPr lang="en-US" altLang="zh-CN" sz="2400" b="1" dirty="0">
                <a:solidFill>
                  <a:schemeClr val="bg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1</a:t>
            </a:r>
            <a:r>
              <a:rPr lang="zh-CN" altLang="en-US" sz="2400" b="1" dirty="0">
                <a:solidFill>
                  <a:schemeClr val="bg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数据选择器的数据输入端；</a:t>
            </a:r>
            <a:r>
              <a:rPr lang="en-US" altLang="zh-CN" sz="2400" b="1" dirty="0">
                <a:solidFill>
                  <a:schemeClr val="bg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1Y</a:t>
            </a:r>
            <a:r>
              <a:rPr lang="zh-CN" altLang="en-US" sz="2400" b="1" dirty="0">
                <a:solidFill>
                  <a:schemeClr val="bg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、</a:t>
            </a:r>
            <a:r>
              <a:rPr lang="en-US" altLang="zh-CN" sz="2400" b="1" dirty="0">
                <a:solidFill>
                  <a:schemeClr val="bg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2Y</a:t>
            </a:r>
            <a:r>
              <a:rPr lang="zh-CN" altLang="en-US" sz="2400" b="1" dirty="0">
                <a:solidFill>
                  <a:schemeClr val="bg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为两个输出端。</a:t>
            </a:r>
            <a:endParaRPr lang="zh-CN" altLang="en-US" sz="2400" b="1" dirty="0">
              <a:solidFill>
                <a:schemeClr val="bg1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indent="457200">
              <a:lnSpc>
                <a:spcPct val="150000"/>
              </a:lnSpc>
            </a:pPr>
            <a:r>
              <a:rPr lang="zh-CN" altLang="en-US" sz="2400" b="1" dirty="0">
                <a:solidFill>
                  <a:schemeClr val="bg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① 当使能端</a:t>
            </a:r>
            <a:r>
              <a:rPr lang="en-US" altLang="zh-CN" sz="2400" b="1" dirty="0">
                <a:solidFill>
                  <a:schemeClr val="bg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1E(2E)=1</a:t>
            </a:r>
            <a:r>
              <a:rPr lang="zh-CN" altLang="en-US" sz="2400" b="1" dirty="0">
                <a:solidFill>
                  <a:schemeClr val="bg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时，多路开关被禁止，无输出，</a:t>
            </a:r>
            <a:r>
              <a:rPr lang="en-US" altLang="zh-CN" sz="2400" b="1" dirty="0">
                <a:solidFill>
                  <a:schemeClr val="bg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Y=0</a:t>
            </a:r>
            <a:r>
              <a:rPr lang="zh-CN" altLang="en-US" sz="2400" b="1" dirty="0">
                <a:solidFill>
                  <a:schemeClr val="bg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。</a:t>
            </a:r>
            <a:endParaRPr lang="zh-CN" altLang="en-US" sz="2400" b="1" dirty="0">
              <a:solidFill>
                <a:schemeClr val="bg1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indent="457200">
              <a:lnSpc>
                <a:spcPct val="150000"/>
              </a:lnSpc>
            </a:pPr>
            <a:r>
              <a:rPr lang="zh-CN" altLang="en-US" sz="2400" b="1" dirty="0">
                <a:solidFill>
                  <a:schemeClr val="bg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② 当使能端</a:t>
            </a:r>
            <a:r>
              <a:rPr lang="en-US" altLang="zh-CN" sz="2400" b="1" dirty="0">
                <a:solidFill>
                  <a:schemeClr val="bg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1E(2E)=0</a:t>
            </a:r>
            <a:r>
              <a:rPr lang="zh-CN" altLang="en-US" sz="2400" b="1" dirty="0">
                <a:solidFill>
                  <a:schemeClr val="bg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时，多路开关正常工作，根据地址码</a:t>
            </a:r>
            <a:r>
              <a:rPr lang="en-US" altLang="zh-CN" sz="2400" b="1" dirty="0">
                <a:solidFill>
                  <a:schemeClr val="bg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B</a:t>
            </a:r>
            <a:r>
              <a:rPr lang="zh-CN" altLang="en-US" sz="2400" b="1" dirty="0">
                <a:solidFill>
                  <a:schemeClr val="bg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、</a:t>
            </a:r>
            <a:r>
              <a:rPr lang="en-US" altLang="zh-CN" sz="2400" b="1" dirty="0">
                <a:solidFill>
                  <a:schemeClr val="bg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A</a:t>
            </a:r>
            <a:r>
              <a:rPr lang="zh-CN" altLang="en-US" sz="2400" b="1" dirty="0">
                <a:solidFill>
                  <a:schemeClr val="bg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的状态，将相应的数据</a:t>
            </a:r>
            <a:r>
              <a:rPr lang="en-US" altLang="zh-CN" sz="2400" b="1" dirty="0">
                <a:solidFill>
                  <a:schemeClr val="bg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C0</a:t>
            </a:r>
            <a:r>
              <a:rPr lang="zh-CN" altLang="en-US" sz="2400" b="1" dirty="0">
                <a:solidFill>
                  <a:schemeClr val="bg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～</a:t>
            </a:r>
            <a:r>
              <a:rPr lang="en-US" altLang="zh-CN" sz="2400" b="1" dirty="0">
                <a:solidFill>
                  <a:schemeClr val="bg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C3</a:t>
            </a:r>
            <a:r>
              <a:rPr lang="zh-CN" altLang="en-US" sz="2400" b="1" dirty="0">
                <a:solidFill>
                  <a:schemeClr val="bg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送到输出端</a:t>
            </a:r>
            <a:r>
              <a:rPr lang="en-US" altLang="zh-CN" sz="2400" b="1" dirty="0">
                <a:solidFill>
                  <a:schemeClr val="bg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Y</a:t>
            </a:r>
            <a:r>
              <a:rPr lang="zh-CN" altLang="en-US" sz="2400" b="1" dirty="0">
                <a:solidFill>
                  <a:schemeClr val="bg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。</a:t>
            </a:r>
            <a:endParaRPr lang="en-US" altLang="zh-CN" sz="2400" b="1" dirty="0">
              <a:solidFill>
                <a:schemeClr val="bg1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indent="457200">
              <a:lnSpc>
                <a:spcPct val="150000"/>
              </a:lnSpc>
            </a:pPr>
            <a:r>
              <a:rPr lang="zh-CN" altLang="en-US" sz="2400" b="1" dirty="0">
                <a:solidFill>
                  <a:schemeClr val="bg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数据选择器的用途很多，例如</a:t>
            </a:r>
            <a:r>
              <a:rPr lang="zh-CN" altLang="en-US" sz="2400" b="1" dirty="0">
                <a:solidFill>
                  <a:srgbClr val="00FF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多通道传输</a:t>
            </a:r>
            <a:r>
              <a:rPr lang="zh-CN" altLang="en-US" sz="2400" b="1" dirty="0">
                <a:solidFill>
                  <a:schemeClr val="bg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，</a:t>
            </a:r>
            <a:r>
              <a:rPr lang="zh-CN" altLang="en-US" sz="2400" b="1" dirty="0">
                <a:solidFill>
                  <a:srgbClr val="00FF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数码比较</a:t>
            </a:r>
            <a:r>
              <a:rPr lang="zh-CN" altLang="en-US" sz="2400" b="1" dirty="0">
                <a:solidFill>
                  <a:schemeClr val="bg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，</a:t>
            </a:r>
            <a:r>
              <a:rPr lang="zh-CN" altLang="en-US" sz="2400" b="1" dirty="0">
                <a:solidFill>
                  <a:srgbClr val="00FF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并行码变串行码</a:t>
            </a:r>
            <a:r>
              <a:rPr lang="zh-CN" altLang="en-US" sz="2400" b="1" dirty="0">
                <a:solidFill>
                  <a:schemeClr val="bg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，以及</a:t>
            </a:r>
            <a:r>
              <a:rPr lang="zh-CN" altLang="en-US" sz="2400" b="1" dirty="0">
                <a:solidFill>
                  <a:srgbClr val="00FF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实现逻辑函数</a:t>
            </a:r>
            <a:r>
              <a:rPr lang="zh-CN" altLang="en-US" sz="2400" b="1" dirty="0">
                <a:solidFill>
                  <a:schemeClr val="bg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等。</a:t>
            </a:r>
            <a:endParaRPr lang="zh-CN" altLang="en-US" sz="2400" b="1" i="0" dirty="0">
              <a:solidFill>
                <a:schemeClr val="bg1"/>
              </a:solidFill>
              <a:effectLst/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7" name="组合 56"/>
          <p:cNvGrpSpPr/>
          <p:nvPr/>
        </p:nvGrpSpPr>
        <p:grpSpPr>
          <a:xfrm>
            <a:off x="134487" y="360136"/>
            <a:ext cx="10533513" cy="1077218"/>
            <a:chOff x="134487" y="360136"/>
            <a:chExt cx="10533513" cy="1077218"/>
          </a:xfrm>
        </p:grpSpPr>
        <p:sp>
          <p:nvSpPr>
            <p:cNvPr id="58" name="TextBox 39"/>
            <p:cNvSpPr txBox="1"/>
            <p:nvPr/>
          </p:nvSpPr>
          <p:spPr>
            <a:xfrm>
              <a:off x="272033" y="360136"/>
              <a:ext cx="2343426" cy="107721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zh-CN" altLang="en-US" sz="3200" b="1" dirty="0">
                  <a:solidFill>
                    <a:schemeClr val="bg1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一位二进制全加器</a:t>
              </a:r>
              <a:endParaRPr lang="en-US" altLang="zh-CN" sz="3200" dirty="0">
                <a:solidFill>
                  <a:schemeClr val="bg1"/>
                </a:solidFill>
                <a:latin typeface="宋体" panose="02010600030101010101" pitchFamily="2" charset="-122"/>
                <a:ea typeface="宋体" panose="02010600030101010101" pitchFamily="2" charset="-122"/>
              </a:endParaRPr>
            </a:p>
          </p:txBody>
        </p:sp>
        <p:sp>
          <p:nvSpPr>
            <p:cNvPr id="59" name="Rectangle 41"/>
            <p:cNvSpPr/>
            <p:nvPr/>
          </p:nvSpPr>
          <p:spPr>
            <a:xfrm rot="16200000">
              <a:off x="95249" y="885029"/>
              <a:ext cx="457200" cy="27432"/>
            </a:xfrm>
            <a:prstGeom prst="rect">
              <a:avLst/>
            </a:prstGeom>
            <a:solidFill>
              <a:srgbClr val="F4B18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1" name="Rectangle 41"/>
            <p:cNvSpPr/>
            <p:nvPr/>
          </p:nvSpPr>
          <p:spPr>
            <a:xfrm rot="16200000">
              <a:off x="-25340" y="829973"/>
              <a:ext cx="457200" cy="137545"/>
            </a:xfrm>
            <a:prstGeom prst="rect">
              <a:avLst/>
            </a:prstGeom>
            <a:solidFill>
              <a:srgbClr val="F4B18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62" name="直接连接符 61"/>
            <p:cNvCxnSpPr/>
            <p:nvPr/>
          </p:nvCxnSpPr>
          <p:spPr>
            <a:xfrm>
              <a:off x="2381250" y="898745"/>
              <a:ext cx="8286750" cy="0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6" name="图片 5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362605" y="278259"/>
            <a:ext cx="8210280" cy="3858312"/>
          </a:xfrm>
          <a:prstGeom prst="rect">
            <a:avLst/>
          </a:prstGeom>
        </p:spPr>
      </p:pic>
      <p:sp>
        <p:nvSpPr>
          <p:cNvPr id="16" name="矩形 15"/>
          <p:cNvSpPr/>
          <p:nvPr/>
        </p:nvSpPr>
        <p:spPr>
          <a:xfrm>
            <a:off x="601602" y="2530896"/>
            <a:ext cx="1485734" cy="52560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lang="zh-CN" altLang="en-US" sz="2800" b="1" dirty="0">
                <a:solidFill>
                  <a:srgbClr val="F4B183"/>
                </a:solidFill>
              </a:rPr>
              <a:t>真值表</a:t>
            </a:r>
            <a:endParaRPr lang="en-US" altLang="zh-CN" sz="2400" b="1" baseline="-25000" dirty="0">
              <a:solidFill>
                <a:srgbClr val="F4B183"/>
              </a:solidFill>
              <a:latin typeface="Times New Roman" panose="02020603050405020304" pitchFamily="18" charset="0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7" name="矩形 6"/>
              <p:cNvSpPr/>
              <p:nvPr/>
            </p:nvSpPr>
            <p:spPr>
              <a:xfrm>
                <a:off x="1218993" y="5585141"/>
                <a:ext cx="10238906" cy="586507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zh-CN" altLang="en-US" sz="3200" b="1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sz="3200" b="1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𝒀</m:t>
                          </m:r>
                        </m:e>
                        <m:sub>
                          <m:r>
                            <a:rPr lang="zh-CN" altLang="en-US" sz="3200" b="1" i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𝟐</m:t>
                          </m:r>
                        </m:sub>
                      </m:sSub>
                      <m:r>
                        <a:rPr lang="zh-CN" altLang="en-US" sz="3200" b="1" i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=[</m:t>
                      </m:r>
                      <m:sSub>
                        <m:sSubPr>
                          <m:ctrlPr>
                            <a:rPr lang="zh-CN" altLang="en-US" sz="3200" b="1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̅"/>
                              <m:ctrlPr>
                                <a:rPr lang="zh-CN" altLang="en-US" sz="3200" b="1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zh-CN" altLang="en-US" sz="3200" b="1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𝑨</m:t>
                              </m:r>
                            </m:e>
                          </m:acc>
                        </m:e>
                        <m:sub>
                          <m:r>
                            <a:rPr lang="zh-CN" altLang="en-US" sz="3200" b="1" i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𝟏</m:t>
                          </m:r>
                        </m:sub>
                      </m:sSub>
                      <m:sSub>
                        <m:sSubPr>
                          <m:ctrlPr>
                            <a:rPr lang="zh-CN" altLang="en-US" sz="3200" b="1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̅"/>
                              <m:ctrlPr>
                                <a:rPr lang="zh-CN" altLang="en-US" sz="3200" b="1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zh-CN" altLang="en-US" sz="3200" b="1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𝑨</m:t>
                              </m:r>
                            </m:e>
                          </m:acc>
                        </m:e>
                        <m:sub>
                          <m:r>
                            <a:rPr lang="zh-CN" altLang="en-US" sz="3200" b="1" i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𝟎</m:t>
                          </m:r>
                        </m:sub>
                      </m:sSub>
                      <m:sSub>
                        <m:sSubPr>
                          <m:ctrlPr>
                            <a:rPr lang="zh-CN" altLang="en-US" sz="3200" b="1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sz="3200" b="1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𝑫</m:t>
                          </m:r>
                        </m:e>
                        <m:sub>
                          <m:r>
                            <a:rPr lang="zh-CN" altLang="en-US" sz="3200" b="1" i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𝟐𝟎</m:t>
                          </m:r>
                        </m:sub>
                      </m:sSub>
                      <m:r>
                        <a:rPr lang="zh-CN" altLang="en-US" sz="3200" b="1" i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zh-CN" altLang="en-US" sz="3200" b="1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̅"/>
                              <m:ctrlPr>
                                <a:rPr lang="zh-CN" altLang="en-US" sz="3200" b="1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zh-CN" altLang="en-US" sz="3200" b="1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𝑨</m:t>
                              </m:r>
                            </m:e>
                          </m:acc>
                        </m:e>
                        <m:sub>
                          <m:r>
                            <a:rPr lang="zh-CN" altLang="en-US" sz="3200" b="1" i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𝟏</m:t>
                          </m:r>
                        </m:sub>
                      </m:sSub>
                      <m:sSub>
                        <m:sSubPr>
                          <m:ctrlPr>
                            <a:rPr lang="zh-CN" altLang="en-US" sz="3200" b="1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sz="3200" b="1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𝑨</m:t>
                          </m:r>
                        </m:e>
                        <m:sub>
                          <m:r>
                            <a:rPr lang="zh-CN" altLang="en-US" sz="3200" b="1" i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𝟎</m:t>
                          </m:r>
                        </m:sub>
                      </m:sSub>
                      <m:sSub>
                        <m:sSubPr>
                          <m:ctrlPr>
                            <a:rPr lang="zh-CN" altLang="en-US" sz="3200" b="1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sz="3200" b="1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𝑫</m:t>
                          </m:r>
                        </m:e>
                        <m:sub>
                          <m:r>
                            <a:rPr lang="zh-CN" altLang="en-US" sz="3200" b="1" i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𝟐𝟏</m:t>
                          </m:r>
                        </m:sub>
                      </m:sSub>
                      <m:r>
                        <a:rPr lang="zh-CN" altLang="en-US" sz="3200" b="1" i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zh-CN" altLang="en-US" sz="3200" b="1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sz="3200" b="1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𝑨</m:t>
                          </m:r>
                        </m:e>
                        <m:sub>
                          <m:r>
                            <a:rPr lang="zh-CN" altLang="en-US" sz="3200" b="1" i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𝟏</m:t>
                          </m:r>
                        </m:sub>
                      </m:sSub>
                      <m:sSub>
                        <m:sSubPr>
                          <m:ctrlPr>
                            <a:rPr lang="zh-CN" altLang="en-US" sz="3200" b="1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̅"/>
                              <m:ctrlPr>
                                <a:rPr lang="zh-CN" altLang="en-US" sz="3200" b="1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zh-CN" altLang="en-US" sz="3200" b="1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𝑨</m:t>
                              </m:r>
                            </m:e>
                          </m:acc>
                        </m:e>
                        <m:sub>
                          <m:r>
                            <a:rPr lang="zh-CN" altLang="en-US" sz="3200" b="1" i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𝟎</m:t>
                          </m:r>
                        </m:sub>
                      </m:sSub>
                      <m:sSub>
                        <m:sSubPr>
                          <m:ctrlPr>
                            <a:rPr lang="zh-CN" altLang="en-US" sz="3200" b="1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sz="3200" b="1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𝑫</m:t>
                          </m:r>
                        </m:e>
                        <m:sub>
                          <m:r>
                            <a:rPr lang="zh-CN" altLang="en-US" sz="3200" b="1" i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𝟐𝟐</m:t>
                          </m:r>
                        </m:sub>
                      </m:sSub>
                      <m:r>
                        <a:rPr lang="zh-CN" altLang="en-US" sz="3200" b="1" i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zh-CN" altLang="en-US" sz="3200" b="1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sz="3200" b="1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𝑨</m:t>
                          </m:r>
                        </m:e>
                        <m:sub>
                          <m:r>
                            <a:rPr lang="zh-CN" altLang="en-US" sz="3200" b="1" i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𝟏</m:t>
                          </m:r>
                        </m:sub>
                      </m:sSub>
                      <m:sSub>
                        <m:sSubPr>
                          <m:ctrlPr>
                            <a:rPr lang="zh-CN" altLang="en-US" sz="3200" b="1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sz="3200" b="1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𝑨</m:t>
                          </m:r>
                        </m:e>
                        <m:sub>
                          <m:r>
                            <a:rPr lang="zh-CN" altLang="en-US" sz="3200" b="1" i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𝟎</m:t>
                          </m:r>
                        </m:sub>
                      </m:sSub>
                      <m:sSub>
                        <m:sSubPr>
                          <m:ctrlPr>
                            <a:rPr lang="zh-CN" altLang="en-US" sz="3200" b="1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sz="3200" b="1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𝑫</m:t>
                          </m:r>
                        </m:e>
                        <m:sub>
                          <m:r>
                            <a:rPr lang="zh-CN" altLang="en-US" sz="3200" b="1" i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𝟐𝟑</m:t>
                          </m:r>
                        </m:sub>
                      </m:sSub>
                      <m:r>
                        <a:rPr lang="zh-CN" altLang="en-US" sz="3200" b="1" i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]</m:t>
                      </m:r>
                      <m:sSub>
                        <m:sSubPr>
                          <m:ctrlPr>
                            <a:rPr lang="zh-CN" altLang="en-US" sz="3200" b="1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̅"/>
                              <m:ctrlPr>
                                <a:rPr lang="zh-CN" altLang="en-US" sz="3200" b="1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zh-CN" altLang="en-US" sz="3200" b="1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𝑺𝑻</m:t>
                              </m:r>
                            </m:e>
                          </m:acc>
                        </m:e>
                        <m:sub>
                          <m:r>
                            <a:rPr lang="zh-CN" altLang="en-US" sz="3200" b="1" i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𝟐</m:t>
                          </m:r>
                        </m:sub>
                      </m:sSub>
                    </m:oMath>
                  </m:oMathPara>
                </a14:m>
                <a:endParaRPr lang="zh-CN" altLang="en-US" sz="3200" b="1" dirty="0">
                  <a:solidFill>
                    <a:schemeClr val="bg1"/>
                  </a:solidFill>
                </a:endParaRPr>
              </a:p>
            </p:txBody>
          </p:sp>
        </mc:Choice>
        <mc:Fallback>
          <p:sp>
            <p:nvSpPr>
              <p:cNvPr id="7" name="矩形 6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18993" y="5585141"/>
                <a:ext cx="10238906" cy="586507"/>
              </a:xfrm>
              <a:prstGeom prst="rect">
                <a:avLst/>
              </a:prstGeom>
              <a:blipFill rotWithShape="1">
                <a:blip r:embed="rId2"/>
                <a:stretch>
                  <a:fillRect l="-4" t="-54" r="6" b="14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9" name="矩形 8"/>
              <p:cNvSpPr/>
              <p:nvPr/>
            </p:nvSpPr>
            <p:spPr>
              <a:xfrm>
                <a:off x="1104008" y="4259248"/>
                <a:ext cx="10468877" cy="586507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zh-CN" altLang="en-US" sz="3200" b="1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sz="3200" b="1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𝒀</m:t>
                          </m:r>
                        </m:e>
                        <m:sub>
                          <m:r>
                            <a:rPr lang="zh-CN" altLang="en-US" sz="3200" b="1" i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𝟏</m:t>
                          </m:r>
                        </m:sub>
                      </m:sSub>
                      <m:r>
                        <a:rPr lang="zh-CN" altLang="en-US" sz="3200" b="1" i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=[</m:t>
                      </m:r>
                      <m:sSub>
                        <m:sSubPr>
                          <m:ctrlPr>
                            <a:rPr lang="zh-CN" altLang="en-US" sz="3200" b="1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̅"/>
                              <m:ctrlPr>
                                <a:rPr lang="zh-CN" altLang="en-US" sz="3200" b="1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zh-CN" altLang="en-US" sz="3200" b="1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𝑨</m:t>
                              </m:r>
                            </m:e>
                          </m:acc>
                        </m:e>
                        <m:sub>
                          <m:r>
                            <a:rPr lang="zh-CN" altLang="en-US" sz="3200" b="1" i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𝟏</m:t>
                          </m:r>
                        </m:sub>
                      </m:sSub>
                      <m:sSub>
                        <m:sSubPr>
                          <m:ctrlPr>
                            <a:rPr lang="zh-CN" altLang="en-US" sz="3200" b="1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̅"/>
                              <m:ctrlPr>
                                <a:rPr lang="zh-CN" altLang="en-US" sz="3200" b="1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zh-CN" altLang="en-US" sz="3200" b="1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𝑨</m:t>
                              </m:r>
                            </m:e>
                          </m:acc>
                        </m:e>
                        <m:sub>
                          <m:r>
                            <a:rPr lang="zh-CN" altLang="en-US" sz="3200" b="1" i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𝟎</m:t>
                          </m:r>
                        </m:sub>
                      </m:sSub>
                      <m:sSub>
                        <m:sSubPr>
                          <m:ctrlPr>
                            <a:rPr lang="zh-CN" altLang="en-US" sz="3200" b="1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sz="3200" b="1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𝑫</m:t>
                          </m:r>
                        </m:e>
                        <m:sub>
                          <m:r>
                            <a:rPr lang="zh-CN" altLang="en-US" sz="3200" b="1" i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𝟏𝟎</m:t>
                          </m:r>
                        </m:sub>
                      </m:sSub>
                      <m:r>
                        <a:rPr lang="zh-CN" altLang="en-US" sz="3200" b="1" i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zh-CN" altLang="en-US" sz="3200" b="1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̅"/>
                              <m:ctrlPr>
                                <a:rPr lang="zh-CN" altLang="en-US" sz="3200" b="1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zh-CN" altLang="en-US" sz="3200" b="1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𝑨</m:t>
                              </m:r>
                            </m:e>
                          </m:acc>
                        </m:e>
                        <m:sub>
                          <m:r>
                            <a:rPr lang="zh-CN" altLang="en-US" sz="3200" b="1" i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𝟏</m:t>
                          </m:r>
                        </m:sub>
                      </m:sSub>
                      <m:sSub>
                        <m:sSubPr>
                          <m:ctrlPr>
                            <a:rPr lang="zh-CN" altLang="en-US" sz="3200" b="1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sz="3200" b="1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𝑨</m:t>
                          </m:r>
                        </m:e>
                        <m:sub>
                          <m:r>
                            <a:rPr lang="zh-CN" altLang="en-US" sz="3200" b="1" i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𝟎</m:t>
                          </m:r>
                        </m:sub>
                      </m:sSub>
                      <m:sSub>
                        <m:sSubPr>
                          <m:ctrlPr>
                            <a:rPr lang="zh-CN" altLang="en-US" sz="3200" b="1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sz="3200" b="1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𝑫</m:t>
                          </m:r>
                        </m:e>
                        <m:sub>
                          <m:r>
                            <a:rPr lang="zh-CN" altLang="en-US" sz="3200" b="1" i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𝟏𝟏</m:t>
                          </m:r>
                        </m:sub>
                      </m:sSub>
                      <m:r>
                        <a:rPr lang="zh-CN" altLang="en-US" sz="3200" b="1" i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zh-CN" altLang="en-US" sz="3200" b="1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sz="3200" b="1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𝑨</m:t>
                          </m:r>
                        </m:e>
                        <m:sub>
                          <m:r>
                            <a:rPr lang="zh-CN" altLang="en-US" sz="3200" b="1" i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𝟏</m:t>
                          </m:r>
                        </m:sub>
                      </m:sSub>
                      <m:sSub>
                        <m:sSubPr>
                          <m:ctrlPr>
                            <a:rPr lang="zh-CN" altLang="en-US" sz="3200" b="1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̅"/>
                              <m:ctrlPr>
                                <a:rPr lang="zh-CN" altLang="en-US" sz="3200" b="1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zh-CN" altLang="en-US" sz="3200" b="1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𝑨</m:t>
                              </m:r>
                            </m:e>
                          </m:acc>
                        </m:e>
                        <m:sub>
                          <m:r>
                            <a:rPr lang="zh-CN" altLang="en-US" sz="3200" b="1" i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𝟎</m:t>
                          </m:r>
                        </m:sub>
                      </m:sSub>
                      <m:sSub>
                        <m:sSubPr>
                          <m:ctrlPr>
                            <a:rPr lang="zh-CN" altLang="en-US" sz="3200" b="1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sz="3200" b="1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𝑫</m:t>
                          </m:r>
                        </m:e>
                        <m:sub>
                          <m:r>
                            <a:rPr lang="zh-CN" altLang="en-US" sz="3200" b="1" i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𝟏𝟐</m:t>
                          </m:r>
                        </m:sub>
                      </m:sSub>
                      <m:r>
                        <a:rPr lang="zh-CN" altLang="en-US" sz="3200" b="1" i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zh-CN" altLang="en-US" sz="3200" b="1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sz="3200" b="1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𝑨</m:t>
                          </m:r>
                        </m:e>
                        <m:sub>
                          <m:r>
                            <a:rPr lang="zh-CN" altLang="en-US" sz="3200" b="1" i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𝟏</m:t>
                          </m:r>
                        </m:sub>
                      </m:sSub>
                      <m:sSub>
                        <m:sSubPr>
                          <m:ctrlPr>
                            <a:rPr lang="zh-CN" altLang="en-US" sz="3200" b="1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sz="3200" b="1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𝑨</m:t>
                          </m:r>
                        </m:e>
                        <m:sub>
                          <m:r>
                            <a:rPr lang="zh-CN" altLang="en-US" sz="3200" b="1" i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𝟎</m:t>
                          </m:r>
                        </m:sub>
                      </m:sSub>
                      <m:sSub>
                        <m:sSubPr>
                          <m:ctrlPr>
                            <a:rPr lang="zh-CN" altLang="en-US" sz="3200" b="1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sz="3200" b="1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𝑫</m:t>
                          </m:r>
                        </m:e>
                        <m:sub>
                          <m:r>
                            <a:rPr lang="zh-CN" altLang="en-US" sz="3200" b="1" i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𝟏𝟑</m:t>
                          </m:r>
                        </m:sub>
                      </m:sSub>
                      <m:r>
                        <a:rPr lang="zh-CN" altLang="en-US" sz="3200" b="1" i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]</m:t>
                      </m:r>
                      <m:sSub>
                        <m:sSubPr>
                          <m:ctrlPr>
                            <a:rPr lang="zh-CN" altLang="en-US" sz="3200" b="1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̅"/>
                              <m:ctrlPr>
                                <a:rPr lang="zh-CN" altLang="en-US" sz="3200" b="1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zh-CN" altLang="en-US" sz="3200" b="1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𝑺𝑻</m:t>
                              </m:r>
                            </m:e>
                          </m:acc>
                        </m:e>
                        <m:sub>
                          <m:r>
                            <a:rPr lang="zh-CN" altLang="en-US" sz="3200" b="1" i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𝟏</m:t>
                          </m:r>
                        </m:sub>
                      </m:sSub>
                    </m:oMath>
                  </m:oMathPara>
                </a14:m>
                <a:endParaRPr lang="zh-CN" altLang="en-US" sz="3200" b="1" dirty="0">
                  <a:solidFill>
                    <a:schemeClr val="bg1"/>
                  </a:solidFill>
                </a:endParaRPr>
              </a:p>
            </p:txBody>
          </p:sp>
        </mc:Choice>
        <mc:Fallback>
          <p:sp>
            <p:nvSpPr>
              <p:cNvPr id="9" name="矩形 8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04008" y="4259248"/>
                <a:ext cx="10468877" cy="586507"/>
              </a:xfrm>
              <a:prstGeom prst="rect">
                <a:avLst/>
              </a:prstGeom>
              <a:blipFill rotWithShape="1">
                <a:blip r:embed="rId3"/>
                <a:stretch>
                  <a:fillRect l="-4" t="-52" b="1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2" name="图片 1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44469" y="4930808"/>
            <a:ext cx="3108969" cy="616709"/>
          </a:xfrm>
          <a:prstGeom prst="rect">
            <a:avLst/>
          </a:prstGeom>
          <a:solidFill>
            <a:schemeClr val="bg1"/>
          </a:solidFill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7" name="组合 56"/>
          <p:cNvGrpSpPr/>
          <p:nvPr/>
        </p:nvGrpSpPr>
        <p:grpSpPr>
          <a:xfrm>
            <a:off x="134487" y="360136"/>
            <a:ext cx="10533513" cy="1077218"/>
            <a:chOff x="134487" y="360136"/>
            <a:chExt cx="10533513" cy="1077218"/>
          </a:xfrm>
        </p:grpSpPr>
        <p:sp>
          <p:nvSpPr>
            <p:cNvPr id="58" name="TextBox 39"/>
            <p:cNvSpPr txBox="1"/>
            <p:nvPr/>
          </p:nvSpPr>
          <p:spPr>
            <a:xfrm>
              <a:off x="272033" y="360136"/>
              <a:ext cx="2343426" cy="107721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zh-CN" altLang="en-US" sz="3200" b="1" dirty="0">
                  <a:solidFill>
                    <a:schemeClr val="bg1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一位二进制全加器</a:t>
              </a:r>
              <a:endParaRPr lang="en-US" altLang="zh-CN" sz="3200" dirty="0">
                <a:solidFill>
                  <a:schemeClr val="bg1"/>
                </a:solidFill>
                <a:latin typeface="宋体" panose="02010600030101010101" pitchFamily="2" charset="-122"/>
                <a:ea typeface="宋体" panose="02010600030101010101" pitchFamily="2" charset="-122"/>
              </a:endParaRPr>
            </a:p>
          </p:txBody>
        </p:sp>
        <p:sp>
          <p:nvSpPr>
            <p:cNvPr id="59" name="Rectangle 41"/>
            <p:cNvSpPr/>
            <p:nvPr/>
          </p:nvSpPr>
          <p:spPr>
            <a:xfrm rot="16200000">
              <a:off x="95249" y="885029"/>
              <a:ext cx="457200" cy="27432"/>
            </a:xfrm>
            <a:prstGeom prst="rect">
              <a:avLst/>
            </a:prstGeom>
            <a:solidFill>
              <a:srgbClr val="F4B18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1" name="Rectangle 41"/>
            <p:cNvSpPr/>
            <p:nvPr/>
          </p:nvSpPr>
          <p:spPr>
            <a:xfrm rot="16200000">
              <a:off x="-25340" y="829973"/>
              <a:ext cx="457200" cy="137545"/>
            </a:xfrm>
            <a:prstGeom prst="rect">
              <a:avLst/>
            </a:prstGeom>
            <a:solidFill>
              <a:srgbClr val="F4B18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62" name="直接连接符 61"/>
            <p:cNvCxnSpPr/>
            <p:nvPr/>
          </p:nvCxnSpPr>
          <p:spPr>
            <a:xfrm>
              <a:off x="2381250" y="898745"/>
              <a:ext cx="8286750" cy="0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mc:AlternateContent xmlns:mc="http://schemas.openxmlformats.org/markup-compatibility/2006">
        <mc:Choice xmlns:a14="http://schemas.microsoft.com/office/drawing/2010/main" Requires="a14">
          <p:sp>
            <p:nvSpPr>
              <p:cNvPr id="7" name="矩形 6"/>
              <p:cNvSpPr/>
              <p:nvPr/>
            </p:nvSpPr>
            <p:spPr>
              <a:xfrm>
                <a:off x="1218993" y="5585141"/>
                <a:ext cx="10238906" cy="586507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zh-CN" altLang="en-US" sz="3200" b="1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sz="3200" b="1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𝒀</m:t>
                          </m:r>
                        </m:e>
                        <m:sub>
                          <m:r>
                            <a:rPr lang="zh-CN" altLang="en-US" sz="3200" b="1" i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𝟐</m:t>
                          </m:r>
                        </m:sub>
                      </m:sSub>
                      <m:r>
                        <a:rPr lang="zh-CN" altLang="en-US" sz="3200" b="1" i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=[</m:t>
                      </m:r>
                      <m:sSub>
                        <m:sSubPr>
                          <m:ctrlPr>
                            <a:rPr lang="zh-CN" altLang="en-US" sz="3200" b="1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̅"/>
                              <m:ctrlPr>
                                <a:rPr lang="zh-CN" altLang="en-US" sz="3200" b="1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zh-CN" altLang="en-US" sz="3200" b="1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𝑨</m:t>
                              </m:r>
                            </m:e>
                          </m:acc>
                        </m:e>
                        <m:sub>
                          <m:r>
                            <a:rPr lang="zh-CN" altLang="en-US" sz="3200" b="1" i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𝟏</m:t>
                          </m:r>
                        </m:sub>
                      </m:sSub>
                      <m:sSub>
                        <m:sSubPr>
                          <m:ctrlPr>
                            <a:rPr lang="zh-CN" altLang="en-US" sz="3200" b="1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̅"/>
                              <m:ctrlPr>
                                <a:rPr lang="zh-CN" altLang="en-US" sz="3200" b="1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zh-CN" altLang="en-US" sz="3200" b="1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𝑨</m:t>
                              </m:r>
                            </m:e>
                          </m:acc>
                        </m:e>
                        <m:sub>
                          <m:r>
                            <a:rPr lang="zh-CN" altLang="en-US" sz="3200" b="1" i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𝟎</m:t>
                          </m:r>
                        </m:sub>
                      </m:sSub>
                      <m:sSub>
                        <m:sSubPr>
                          <m:ctrlPr>
                            <a:rPr lang="zh-CN" altLang="en-US" sz="3200" b="1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sz="3200" b="1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𝑫</m:t>
                          </m:r>
                        </m:e>
                        <m:sub>
                          <m:r>
                            <a:rPr lang="zh-CN" altLang="en-US" sz="3200" b="1" i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𝟐𝟎</m:t>
                          </m:r>
                        </m:sub>
                      </m:sSub>
                      <m:r>
                        <a:rPr lang="zh-CN" altLang="en-US" sz="3200" b="1" i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zh-CN" altLang="en-US" sz="3200" b="1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̅"/>
                              <m:ctrlPr>
                                <a:rPr lang="zh-CN" altLang="en-US" sz="3200" b="1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zh-CN" altLang="en-US" sz="3200" b="1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𝑨</m:t>
                              </m:r>
                            </m:e>
                          </m:acc>
                        </m:e>
                        <m:sub>
                          <m:r>
                            <a:rPr lang="zh-CN" altLang="en-US" sz="3200" b="1" i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𝟏</m:t>
                          </m:r>
                        </m:sub>
                      </m:sSub>
                      <m:sSub>
                        <m:sSubPr>
                          <m:ctrlPr>
                            <a:rPr lang="zh-CN" altLang="en-US" sz="3200" b="1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sz="3200" b="1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𝑨</m:t>
                          </m:r>
                        </m:e>
                        <m:sub>
                          <m:r>
                            <a:rPr lang="zh-CN" altLang="en-US" sz="3200" b="1" i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𝟎</m:t>
                          </m:r>
                        </m:sub>
                      </m:sSub>
                      <m:sSub>
                        <m:sSubPr>
                          <m:ctrlPr>
                            <a:rPr lang="zh-CN" altLang="en-US" sz="3200" b="1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sz="3200" b="1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𝑫</m:t>
                          </m:r>
                        </m:e>
                        <m:sub>
                          <m:r>
                            <a:rPr lang="zh-CN" altLang="en-US" sz="3200" b="1" i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𝟐𝟏</m:t>
                          </m:r>
                        </m:sub>
                      </m:sSub>
                      <m:r>
                        <a:rPr lang="zh-CN" altLang="en-US" sz="3200" b="1" i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zh-CN" altLang="en-US" sz="3200" b="1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sz="3200" b="1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𝑨</m:t>
                          </m:r>
                        </m:e>
                        <m:sub>
                          <m:r>
                            <a:rPr lang="zh-CN" altLang="en-US" sz="3200" b="1" i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𝟏</m:t>
                          </m:r>
                        </m:sub>
                      </m:sSub>
                      <m:sSub>
                        <m:sSubPr>
                          <m:ctrlPr>
                            <a:rPr lang="zh-CN" altLang="en-US" sz="3200" b="1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̅"/>
                              <m:ctrlPr>
                                <a:rPr lang="zh-CN" altLang="en-US" sz="3200" b="1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zh-CN" altLang="en-US" sz="3200" b="1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𝑨</m:t>
                              </m:r>
                            </m:e>
                          </m:acc>
                        </m:e>
                        <m:sub>
                          <m:r>
                            <a:rPr lang="zh-CN" altLang="en-US" sz="3200" b="1" i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𝟎</m:t>
                          </m:r>
                        </m:sub>
                      </m:sSub>
                      <m:sSub>
                        <m:sSubPr>
                          <m:ctrlPr>
                            <a:rPr lang="zh-CN" altLang="en-US" sz="3200" b="1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sz="3200" b="1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𝑫</m:t>
                          </m:r>
                        </m:e>
                        <m:sub>
                          <m:r>
                            <a:rPr lang="zh-CN" altLang="en-US" sz="3200" b="1" i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𝟐𝟐</m:t>
                          </m:r>
                        </m:sub>
                      </m:sSub>
                      <m:r>
                        <a:rPr lang="zh-CN" altLang="en-US" sz="3200" b="1" i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zh-CN" altLang="en-US" sz="3200" b="1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sz="3200" b="1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𝑨</m:t>
                          </m:r>
                        </m:e>
                        <m:sub>
                          <m:r>
                            <a:rPr lang="zh-CN" altLang="en-US" sz="3200" b="1" i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𝟏</m:t>
                          </m:r>
                        </m:sub>
                      </m:sSub>
                      <m:sSub>
                        <m:sSubPr>
                          <m:ctrlPr>
                            <a:rPr lang="zh-CN" altLang="en-US" sz="3200" b="1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sz="3200" b="1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𝑨</m:t>
                          </m:r>
                        </m:e>
                        <m:sub>
                          <m:r>
                            <a:rPr lang="zh-CN" altLang="en-US" sz="3200" b="1" i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𝟎</m:t>
                          </m:r>
                        </m:sub>
                      </m:sSub>
                      <m:sSub>
                        <m:sSubPr>
                          <m:ctrlPr>
                            <a:rPr lang="zh-CN" altLang="en-US" sz="3200" b="1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sz="3200" b="1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𝑫</m:t>
                          </m:r>
                        </m:e>
                        <m:sub>
                          <m:r>
                            <a:rPr lang="zh-CN" altLang="en-US" sz="3200" b="1" i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𝟐𝟑</m:t>
                          </m:r>
                        </m:sub>
                      </m:sSub>
                      <m:r>
                        <a:rPr lang="zh-CN" altLang="en-US" sz="3200" b="1" i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]</m:t>
                      </m:r>
                      <m:sSub>
                        <m:sSubPr>
                          <m:ctrlPr>
                            <a:rPr lang="zh-CN" altLang="en-US" sz="3200" b="1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̅"/>
                              <m:ctrlPr>
                                <a:rPr lang="zh-CN" altLang="en-US" sz="3200" b="1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zh-CN" altLang="en-US" sz="3200" b="1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𝑺𝑻</m:t>
                              </m:r>
                            </m:e>
                          </m:acc>
                        </m:e>
                        <m:sub>
                          <m:r>
                            <a:rPr lang="zh-CN" altLang="en-US" sz="3200" b="1" i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𝟐</m:t>
                          </m:r>
                        </m:sub>
                      </m:sSub>
                    </m:oMath>
                  </m:oMathPara>
                </a14:m>
                <a:endParaRPr lang="zh-CN" altLang="en-US" sz="3200" b="1" dirty="0">
                  <a:solidFill>
                    <a:schemeClr val="bg1"/>
                  </a:solidFill>
                </a:endParaRPr>
              </a:p>
            </p:txBody>
          </p:sp>
        </mc:Choice>
        <mc:Fallback>
          <p:sp>
            <p:nvSpPr>
              <p:cNvPr id="7" name="矩形 6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18993" y="5585141"/>
                <a:ext cx="10238906" cy="586507"/>
              </a:xfrm>
              <a:prstGeom prst="rect">
                <a:avLst/>
              </a:prstGeom>
              <a:blipFill rotWithShape="1">
                <a:blip r:embed="rId1"/>
                <a:stretch>
                  <a:fillRect l="-4" t="-54" r="6" b="14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9" name="矩形 8"/>
              <p:cNvSpPr/>
              <p:nvPr/>
            </p:nvSpPr>
            <p:spPr>
              <a:xfrm>
                <a:off x="989022" y="1615360"/>
                <a:ext cx="10468877" cy="586507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zh-CN" altLang="en-US" sz="3200" b="1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sz="3200" b="1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𝒀</m:t>
                          </m:r>
                        </m:e>
                        <m:sub>
                          <m:r>
                            <a:rPr lang="zh-CN" altLang="en-US" sz="3200" b="1" i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𝟏</m:t>
                          </m:r>
                        </m:sub>
                      </m:sSub>
                      <m:r>
                        <a:rPr lang="zh-CN" altLang="en-US" sz="3200" b="1" i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=[</m:t>
                      </m:r>
                      <m:sSub>
                        <m:sSubPr>
                          <m:ctrlPr>
                            <a:rPr lang="zh-CN" altLang="en-US" sz="3200" b="1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̅"/>
                              <m:ctrlPr>
                                <a:rPr lang="zh-CN" altLang="en-US" sz="3200" b="1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zh-CN" altLang="en-US" sz="3200" b="1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𝑨</m:t>
                              </m:r>
                            </m:e>
                          </m:acc>
                        </m:e>
                        <m:sub>
                          <m:r>
                            <a:rPr lang="zh-CN" altLang="en-US" sz="3200" b="1" i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𝟏</m:t>
                          </m:r>
                        </m:sub>
                      </m:sSub>
                      <m:sSub>
                        <m:sSubPr>
                          <m:ctrlPr>
                            <a:rPr lang="zh-CN" altLang="en-US" sz="3200" b="1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̅"/>
                              <m:ctrlPr>
                                <a:rPr lang="zh-CN" altLang="en-US" sz="3200" b="1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zh-CN" altLang="en-US" sz="3200" b="1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𝑨</m:t>
                              </m:r>
                            </m:e>
                          </m:acc>
                        </m:e>
                        <m:sub>
                          <m:r>
                            <a:rPr lang="zh-CN" altLang="en-US" sz="3200" b="1" i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𝟎</m:t>
                          </m:r>
                        </m:sub>
                      </m:sSub>
                      <m:sSub>
                        <m:sSubPr>
                          <m:ctrlPr>
                            <a:rPr lang="zh-CN" altLang="en-US" sz="3200" b="1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sz="3200" b="1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𝑫</m:t>
                          </m:r>
                        </m:e>
                        <m:sub>
                          <m:r>
                            <a:rPr lang="zh-CN" altLang="en-US" sz="3200" b="1" i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𝟏𝟎</m:t>
                          </m:r>
                        </m:sub>
                      </m:sSub>
                      <m:r>
                        <a:rPr lang="zh-CN" altLang="en-US" sz="3200" b="1" i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zh-CN" altLang="en-US" sz="3200" b="1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̅"/>
                              <m:ctrlPr>
                                <a:rPr lang="zh-CN" altLang="en-US" sz="3200" b="1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zh-CN" altLang="en-US" sz="3200" b="1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𝑨</m:t>
                              </m:r>
                            </m:e>
                          </m:acc>
                        </m:e>
                        <m:sub>
                          <m:r>
                            <a:rPr lang="zh-CN" altLang="en-US" sz="3200" b="1" i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𝟏</m:t>
                          </m:r>
                        </m:sub>
                      </m:sSub>
                      <m:sSub>
                        <m:sSubPr>
                          <m:ctrlPr>
                            <a:rPr lang="zh-CN" altLang="en-US" sz="3200" b="1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sz="3200" b="1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𝑨</m:t>
                          </m:r>
                        </m:e>
                        <m:sub>
                          <m:r>
                            <a:rPr lang="zh-CN" altLang="en-US" sz="3200" b="1" i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𝟎</m:t>
                          </m:r>
                        </m:sub>
                      </m:sSub>
                      <m:sSub>
                        <m:sSubPr>
                          <m:ctrlPr>
                            <a:rPr lang="zh-CN" altLang="en-US" sz="3200" b="1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sz="3200" b="1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𝑫</m:t>
                          </m:r>
                        </m:e>
                        <m:sub>
                          <m:r>
                            <a:rPr lang="zh-CN" altLang="en-US" sz="3200" b="1" i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𝟏𝟏</m:t>
                          </m:r>
                        </m:sub>
                      </m:sSub>
                      <m:r>
                        <a:rPr lang="zh-CN" altLang="en-US" sz="3200" b="1" i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zh-CN" altLang="en-US" sz="3200" b="1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sz="3200" b="1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𝑨</m:t>
                          </m:r>
                        </m:e>
                        <m:sub>
                          <m:r>
                            <a:rPr lang="zh-CN" altLang="en-US" sz="3200" b="1" i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𝟏</m:t>
                          </m:r>
                        </m:sub>
                      </m:sSub>
                      <m:sSub>
                        <m:sSubPr>
                          <m:ctrlPr>
                            <a:rPr lang="zh-CN" altLang="en-US" sz="3200" b="1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̅"/>
                              <m:ctrlPr>
                                <a:rPr lang="zh-CN" altLang="en-US" sz="3200" b="1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zh-CN" altLang="en-US" sz="3200" b="1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𝑨</m:t>
                              </m:r>
                            </m:e>
                          </m:acc>
                        </m:e>
                        <m:sub>
                          <m:r>
                            <a:rPr lang="zh-CN" altLang="en-US" sz="3200" b="1" i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𝟎</m:t>
                          </m:r>
                        </m:sub>
                      </m:sSub>
                      <m:sSub>
                        <m:sSubPr>
                          <m:ctrlPr>
                            <a:rPr lang="zh-CN" altLang="en-US" sz="3200" b="1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sz="3200" b="1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𝑫</m:t>
                          </m:r>
                        </m:e>
                        <m:sub>
                          <m:r>
                            <a:rPr lang="zh-CN" altLang="en-US" sz="3200" b="1" i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𝟏𝟐</m:t>
                          </m:r>
                        </m:sub>
                      </m:sSub>
                      <m:r>
                        <a:rPr lang="zh-CN" altLang="en-US" sz="3200" b="1" i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zh-CN" altLang="en-US" sz="3200" b="1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sz="3200" b="1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𝑨</m:t>
                          </m:r>
                        </m:e>
                        <m:sub>
                          <m:r>
                            <a:rPr lang="zh-CN" altLang="en-US" sz="3200" b="1" i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𝟏</m:t>
                          </m:r>
                        </m:sub>
                      </m:sSub>
                      <m:sSub>
                        <m:sSubPr>
                          <m:ctrlPr>
                            <a:rPr lang="zh-CN" altLang="en-US" sz="3200" b="1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sz="3200" b="1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𝑨</m:t>
                          </m:r>
                        </m:e>
                        <m:sub>
                          <m:r>
                            <a:rPr lang="zh-CN" altLang="en-US" sz="3200" b="1" i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𝟎</m:t>
                          </m:r>
                        </m:sub>
                      </m:sSub>
                      <m:sSub>
                        <m:sSubPr>
                          <m:ctrlPr>
                            <a:rPr lang="zh-CN" altLang="en-US" sz="3200" b="1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sz="3200" b="1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𝑫</m:t>
                          </m:r>
                        </m:e>
                        <m:sub>
                          <m:r>
                            <a:rPr lang="zh-CN" altLang="en-US" sz="3200" b="1" i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𝟏𝟑</m:t>
                          </m:r>
                        </m:sub>
                      </m:sSub>
                      <m:r>
                        <a:rPr lang="zh-CN" altLang="en-US" sz="3200" b="1" i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]</m:t>
                      </m:r>
                      <m:sSub>
                        <m:sSubPr>
                          <m:ctrlPr>
                            <a:rPr lang="zh-CN" altLang="en-US" sz="3200" b="1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̅"/>
                              <m:ctrlPr>
                                <a:rPr lang="zh-CN" altLang="en-US" sz="3200" b="1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zh-CN" altLang="en-US" sz="3200" b="1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𝑺𝑻</m:t>
                              </m:r>
                            </m:e>
                          </m:acc>
                        </m:e>
                        <m:sub>
                          <m:r>
                            <a:rPr lang="zh-CN" altLang="en-US" sz="3200" b="1" i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𝟏</m:t>
                          </m:r>
                        </m:sub>
                      </m:sSub>
                    </m:oMath>
                  </m:oMathPara>
                </a14:m>
                <a:endParaRPr lang="zh-CN" altLang="en-US" sz="3200" b="1" dirty="0">
                  <a:solidFill>
                    <a:schemeClr val="bg1"/>
                  </a:solidFill>
                </a:endParaRPr>
              </a:p>
            </p:txBody>
          </p:sp>
        </mc:Choice>
        <mc:Fallback>
          <p:sp>
            <p:nvSpPr>
              <p:cNvPr id="9" name="矩形 8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89022" y="1615360"/>
                <a:ext cx="10468877" cy="586507"/>
              </a:xfrm>
              <a:prstGeom prst="rect">
                <a:avLst/>
              </a:prstGeom>
              <a:blipFill rotWithShape="1">
                <a:blip r:embed="rId2"/>
                <a:stretch>
                  <a:fillRect l="-3" t="-95" r="6" b="55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2" name="图片 1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18993" y="2301772"/>
            <a:ext cx="3108969" cy="616709"/>
          </a:xfrm>
          <a:prstGeom prst="rect">
            <a:avLst/>
          </a:prstGeom>
          <a:solidFill>
            <a:schemeClr val="bg1"/>
          </a:solidFill>
        </p:spPr>
      </p:pic>
      <p:sp>
        <p:nvSpPr>
          <p:cNvPr id="2" name="文本框 1"/>
          <p:cNvSpPr txBox="1"/>
          <p:nvPr/>
        </p:nvSpPr>
        <p:spPr>
          <a:xfrm>
            <a:off x="1218992" y="3042186"/>
            <a:ext cx="837132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b="1" dirty="0">
                <a:solidFill>
                  <a:schemeClr val="bg1"/>
                </a:solidFill>
              </a:rPr>
              <a:t>令</a:t>
            </a:r>
            <a:r>
              <a:rPr lang="en-US" altLang="zh-CN" sz="2800" b="1" dirty="0">
                <a:solidFill>
                  <a:schemeClr val="bg1"/>
                </a:solidFill>
              </a:rPr>
              <a:t>D</a:t>
            </a:r>
            <a:r>
              <a:rPr lang="en-US" altLang="zh-CN" sz="2800" b="1" baseline="-25000" dirty="0">
                <a:solidFill>
                  <a:schemeClr val="bg1"/>
                </a:solidFill>
              </a:rPr>
              <a:t>10</a:t>
            </a:r>
            <a:r>
              <a:rPr lang="zh-CN" altLang="en-US" sz="2800" b="1" dirty="0">
                <a:solidFill>
                  <a:schemeClr val="bg1"/>
                </a:solidFill>
              </a:rPr>
              <a:t>为</a:t>
            </a:r>
            <a:r>
              <a:rPr lang="en-US" altLang="zh-CN" sz="2800" b="1" dirty="0">
                <a:solidFill>
                  <a:schemeClr val="bg1"/>
                </a:solidFill>
              </a:rPr>
              <a:t>0</a:t>
            </a:r>
            <a:r>
              <a:rPr lang="zh-CN" altLang="en-US" sz="2800" b="1" dirty="0">
                <a:solidFill>
                  <a:schemeClr val="bg1"/>
                </a:solidFill>
              </a:rPr>
              <a:t>，</a:t>
            </a:r>
            <a:r>
              <a:rPr lang="en-US" altLang="zh-CN" sz="2800" b="1" dirty="0">
                <a:solidFill>
                  <a:schemeClr val="bg1"/>
                </a:solidFill>
              </a:rPr>
              <a:t> D</a:t>
            </a:r>
            <a:r>
              <a:rPr lang="en-US" altLang="zh-CN" sz="2800" b="1" baseline="-25000" dirty="0">
                <a:solidFill>
                  <a:schemeClr val="bg1"/>
                </a:solidFill>
              </a:rPr>
              <a:t>11</a:t>
            </a:r>
            <a:r>
              <a:rPr lang="zh-CN" altLang="en-US" sz="2800" b="1" dirty="0">
                <a:solidFill>
                  <a:schemeClr val="bg1"/>
                </a:solidFill>
              </a:rPr>
              <a:t>为</a:t>
            </a:r>
            <a:r>
              <a:rPr lang="en-US" altLang="zh-CN" sz="2800" b="1" dirty="0">
                <a:solidFill>
                  <a:schemeClr val="bg1"/>
                </a:solidFill>
              </a:rPr>
              <a:t>C</a:t>
            </a:r>
            <a:r>
              <a:rPr lang="zh-CN" altLang="en-US" sz="2800" b="1" dirty="0">
                <a:solidFill>
                  <a:schemeClr val="bg1"/>
                </a:solidFill>
              </a:rPr>
              <a:t>，</a:t>
            </a:r>
            <a:r>
              <a:rPr lang="en-US" altLang="zh-CN" sz="2800" b="1" dirty="0">
                <a:solidFill>
                  <a:schemeClr val="bg1"/>
                </a:solidFill>
              </a:rPr>
              <a:t> D</a:t>
            </a:r>
            <a:r>
              <a:rPr lang="en-US" altLang="zh-CN" sz="2800" b="1" baseline="-25000" dirty="0">
                <a:solidFill>
                  <a:schemeClr val="bg1"/>
                </a:solidFill>
              </a:rPr>
              <a:t>12</a:t>
            </a:r>
            <a:r>
              <a:rPr lang="zh-CN" altLang="en-US" sz="2800" b="1" dirty="0">
                <a:solidFill>
                  <a:schemeClr val="bg1"/>
                </a:solidFill>
              </a:rPr>
              <a:t>为</a:t>
            </a:r>
            <a:r>
              <a:rPr lang="en-US" altLang="zh-CN" sz="2800" b="1" dirty="0">
                <a:solidFill>
                  <a:schemeClr val="bg1"/>
                </a:solidFill>
              </a:rPr>
              <a:t>C</a:t>
            </a:r>
            <a:r>
              <a:rPr lang="zh-CN" altLang="en-US" sz="2800" b="1" dirty="0">
                <a:solidFill>
                  <a:schemeClr val="bg1"/>
                </a:solidFill>
              </a:rPr>
              <a:t>，</a:t>
            </a:r>
            <a:r>
              <a:rPr lang="en-US" altLang="zh-CN" sz="2800" b="1" dirty="0">
                <a:solidFill>
                  <a:schemeClr val="bg1"/>
                </a:solidFill>
              </a:rPr>
              <a:t> D</a:t>
            </a:r>
            <a:r>
              <a:rPr lang="en-US" altLang="zh-CN" sz="2800" b="1" baseline="-25000" dirty="0">
                <a:solidFill>
                  <a:schemeClr val="bg1"/>
                </a:solidFill>
              </a:rPr>
              <a:t>13</a:t>
            </a:r>
            <a:r>
              <a:rPr lang="zh-CN" altLang="en-US" sz="2800" b="1" dirty="0">
                <a:solidFill>
                  <a:schemeClr val="bg1"/>
                </a:solidFill>
              </a:rPr>
              <a:t>为</a:t>
            </a:r>
            <a:r>
              <a:rPr lang="en-US" altLang="zh-CN" sz="2800" b="1" dirty="0">
                <a:solidFill>
                  <a:schemeClr val="bg1"/>
                </a:solidFill>
              </a:rPr>
              <a:t>1 </a:t>
            </a:r>
            <a:r>
              <a:rPr lang="zh-CN" altLang="en-US" sz="2800" b="1" dirty="0">
                <a:solidFill>
                  <a:schemeClr val="bg1"/>
                </a:solidFill>
              </a:rPr>
              <a:t>，则：</a:t>
            </a:r>
            <a:endParaRPr lang="zh-CN" altLang="en-US" sz="2800" b="1" dirty="0">
              <a:solidFill>
                <a:schemeClr val="bg1"/>
              </a:solidFill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18992" y="3609160"/>
            <a:ext cx="5138656" cy="687680"/>
          </a:xfrm>
          <a:prstGeom prst="rect">
            <a:avLst/>
          </a:prstGeom>
          <a:solidFill>
            <a:schemeClr val="bg1"/>
          </a:solidFill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18992" y="4510964"/>
            <a:ext cx="4538246" cy="710625"/>
          </a:xfrm>
          <a:prstGeom prst="rect">
            <a:avLst/>
          </a:prstGeom>
          <a:solidFill>
            <a:schemeClr val="bg1"/>
          </a:solidFill>
        </p:spPr>
      </p:pic>
      <p:cxnSp>
        <p:nvCxnSpPr>
          <p:cNvPr id="10" name="肘形连接符 9"/>
          <p:cNvCxnSpPr>
            <a:stCxn id="12" idx="1"/>
            <a:endCxn id="5" idx="1"/>
          </p:cNvCxnSpPr>
          <p:nvPr/>
        </p:nvCxnSpPr>
        <p:spPr>
          <a:xfrm rot="10800000" flipV="1">
            <a:off x="1218993" y="2610127"/>
            <a:ext cx="1" cy="2256150"/>
          </a:xfrm>
          <a:prstGeom prst="bentConnector3">
            <a:avLst>
              <a:gd name="adj1" fmla="val 22860100000"/>
            </a:avLst>
          </a:prstGeom>
          <a:ln w="571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7" name="组合 56"/>
          <p:cNvGrpSpPr/>
          <p:nvPr/>
        </p:nvGrpSpPr>
        <p:grpSpPr>
          <a:xfrm>
            <a:off x="134487" y="360136"/>
            <a:ext cx="10533513" cy="1077218"/>
            <a:chOff x="134487" y="360136"/>
            <a:chExt cx="10533513" cy="1077218"/>
          </a:xfrm>
        </p:grpSpPr>
        <p:sp>
          <p:nvSpPr>
            <p:cNvPr id="58" name="TextBox 39"/>
            <p:cNvSpPr txBox="1"/>
            <p:nvPr/>
          </p:nvSpPr>
          <p:spPr>
            <a:xfrm>
              <a:off x="272033" y="360136"/>
              <a:ext cx="2343426" cy="107721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zh-CN" altLang="en-US" sz="3200" b="1" dirty="0">
                  <a:solidFill>
                    <a:schemeClr val="bg1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一位二进制全加器</a:t>
              </a:r>
              <a:endParaRPr lang="en-US" altLang="zh-CN" sz="3200" dirty="0">
                <a:solidFill>
                  <a:schemeClr val="bg1"/>
                </a:solidFill>
                <a:latin typeface="宋体" panose="02010600030101010101" pitchFamily="2" charset="-122"/>
                <a:ea typeface="宋体" panose="02010600030101010101" pitchFamily="2" charset="-122"/>
              </a:endParaRPr>
            </a:p>
          </p:txBody>
        </p:sp>
        <p:sp>
          <p:nvSpPr>
            <p:cNvPr id="59" name="Rectangle 41"/>
            <p:cNvSpPr/>
            <p:nvPr/>
          </p:nvSpPr>
          <p:spPr>
            <a:xfrm rot="16200000">
              <a:off x="95249" y="885029"/>
              <a:ext cx="457200" cy="27432"/>
            </a:xfrm>
            <a:prstGeom prst="rect">
              <a:avLst/>
            </a:prstGeom>
            <a:solidFill>
              <a:srgbClr val="F4B18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1" name="Rectangle 41"/>
            <p:cNvSpPr/>
            <p:nvPr/>
          </p:nvSpPr>
          <p:spPr>
            <a:xfrm rot="16200000">
              <a:off x="-25340" y="829973"/>
              <a:ext cx="457200" cy="137545"/>
            </a:xfrm>
            <a:prstGeom prst="rect">
              <a:avLst/>
            </a:prstGeom>
            <a:solidFill>
              <a:srgbClr val="F4B18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62" name="直接连接符 61"/>
            <p:cNvCxnSpPr/>
            <p:nvPr/>
          </p:nvCxnSpPr>
          <p:spPr>
            <a:xfrm>
              <a:off x="2381250" y="898745"/>
              <a:ext cx="8286750" cy="0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mc:AlternateContent xmlns:mc="http://schemas.openxmlformats.org/markup-compatibility/2006">
        <mc:Choice xmlns:a14="http://schemas.microsoft.com/office/drawing/2010/main" Requires="a14">
          <p:sp>
            <p:nvSpPr>
              <p:cNvPr id="7" name="矩形 6"/>
              <p:cNvSpPr/>
              <p:nvPr/>
            </p:nvSpPr>
            <p:spPr>
              <a:xfrm>
                <a:off x="837993" y="1514337"/>
                <a:ext cx="10238906" cy="586507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zh-CN" altLang="en-US" sz="3200" b="1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sz="3200" b="1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𝒀</m:t>
                          </m:r>
                        </m:e>
                        <m:sub>
                          <m:r>
                            <a:rPr lang="zh-CN" altLang="en-US" sz="3200" b="1" i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𝟐</m:t>
                          </m:r>
                        </m:sub>
                      </m:sSub>
                      <m:r>
                        <a:rPr lang="zh-CN" altLang="en-US" sz="3200" b="1" i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=[</m:t>
                      </m:r>
                      <m:sSub>
                        <m:sSubPr>
                          <m:ctrlPr>
                            <a:rPr lang="zh-CN" altLang="en-US" sz="3200" b="1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̅"/>
                              <m:ctrlPr>
                                <a:rPr lang="zh-CN" altLang="en-US" sz="3200" b="1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zh-CN" altLang="en-US" sz="3200" b="1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𝑨</m:t>
                              </m:r>
                            </m:e>
                          </m:acc>
                        </m:e>
                        <m:sub>
                          <m:r>
                            <a:rPr lang="zh-CN" altLang="en-US" sz="3200" b="1" i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𝟏</m:t>
                          </m:r>
                        </m:sub>
                      </m:sSub>
                      <m:sSub>
                        <m:sSubPr>
                          <m:ctrlPr>
                            <a:rPr lang="zh-CN" altLang="en-US" sz="3200" b="1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̅"/>
                              <m:ctrlPr>
                                <a:rPr lang="zh-CN" altLang="en-US" sz="3200" b="1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zh-CN" altLang="en-US" sz="3200" b="1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𝑨</m:t>
                              </m:r>
                            </m:e>
                          </m:acc>
                        </m:e>
                        <m:sub>
                          <m:r>
                            <a:rPr lang="zh-CN" altLang="en-US" sz="3200" b="1" i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𝟎</m:t>
                          </m:r>
                        </m:sub>
                      </m:sSub>
                      <m:sSub>
                        <m:sSubPr>
                          <m:ctrlPr>
                            <a:rPr lang="zh-CN" altLang="en-US" sz="3200" b="1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sz="3200" b="1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𝑫</m:t>
                          </m:r>
                        </m:e>
                        <m:sub>
                          <m:r>
                            <a:rPr lang="zh-CN" altLang="en-US" sz="3200" b="1" i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𝟐𝟎</m:t>
                          </m:r>
                        </m:sub>
                      </m:sSub>
                      <m:r>
                        <a:rPr lang="zh-CN" altLang="en-US" sz="3200" b="1" i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zh-CN" altLang="en-US" sz="3200" b="1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̅"/>
                              <m:ctrlPr>
                                <a:rPr lang="zh-CN" altLang="en-US" sz="3200" b="1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zh-CN" altLang="en-US" sz="3200" b="1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𝑨</m:t>
                              </m:r>
                            </m:e>
                          </m:acc>
                        </m:e>
                        <m:sub>
                          <m:r>
                            <a:rPr lang="zh-CN" altLang="en-US" sz="3200" b="1" i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𝟏</m:t>
                          </m:r>
                        </m:sub>
                      </m:sSub>
                      <m:sSub>
                        <m:sSubPr>
                          <m:ctrlPr>
                            <a:rPr lang="zh-CN" altLang="en-US" sz="3200" b="1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sz="3200" b="1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𝑨</m:t>
                          </m:r>
                        </m:e>
                        <m:sub>
                          <m:r>
                            <a:rPr lang="zh-CN" altLang="en-US" sz="3200" b="1" i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𝟎</m:t>
                          </m:r>
                        </m:sub>
                      </m:sSub>
                      <m:sSub>
                        <m:sSubPr>
                          <m:ctrlPr>
                            <a:rPr lang="zh-CN" altLang="en-US" sz="3200" b="1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sz="3200" b="1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𝑫</m:t>
                          </m:r>
                        </m:e>
                        <m:sub>
                          <m:r>
                            <a:rPr lang="zh-CN" altLang="en-US" sz="3200" b="1" i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𝟐𝟏</m:t>
                          </m:r>
                        </m:sub>
                      </m:sSub>
                      <m:r>
                        <a:rPr lang="zh-CN" altLang="en-US" sz="3200" b="1" i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zh-CN" altLang="en-US" sz="3200" b="1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sz="3200" b="1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𝑨</m:t>
                          </m:r>
                        </m:e>
                        <m:sub>
                          <m:r>
                            <a:rPr lang="zh-CN" altLang="en-US" sz="3200" b="1" i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𝟏</m:t>
                          </m:r>
                        </m:sub>
                      </m:sSub>
                      <m:sSub>
                        <m:sSubPr>
                          <m:ctrlPr>
                            <a:rPr lang="zh-CN" altLang="en-US" sz="3200" b="1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̅"/>
                              <m:ctrlPr>
                                <a:rPr lang="zh-CN" altLang="en-US" sz="3200" b="1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zh-CN" altLang="en-US" sz="3200" b="1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𝑨</m:t>
                              </m:r>
                            </m:e>
                          </m:acc>
                        </m:e>
                        <m:sub>
                          <m:r>
                            <a:rPr lang="zh-CN" altLang="en-US" sz="3200" b="1" i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𝟎</m:t>
                          </m:r>
                        </m:sub>
                      </m:sSub>
                      <m:sSub>
                        <m:sSubPr>
                          <m:ctrlPr>
                            <a:rPr lang="zh-CN" altLang="en-US" sz="3200" b="1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sz="3200" b="1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𝑫</m:t>
                          </m:r>
                        </m:e>
                        <m:sub>
                          <m:r>
                            <a:rPr lang="zh-CN" altLang="en-US" sz="3200" b="1" i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𝟐𝟐</m:t>
                          </m:r>
                        </m:sub>
                      </m:sSub>
                      <m:r>
                        <a:rPr lang="zh-CN" altLang="en-US" sz="3200" b="1" i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zh-CN" altLang="en-US" sz="3200" b="1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sz="3200" b="1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𝑨</m:t>
                          </m:r>
                        </m:e>
                        <m:sub>
                          <m:r>
                            <a:rPr lang="zh-CN" altLang="en-US" sz="3200" b="1" i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𝟏</m:t>
                          </m:r>
                        </m:sub>
                      </m:sSub>
                      <m:sSub>
                        <m:sSubPr>
                          <m:ctrlPr>
                            <a:rPr lang="zh-CN" altLang="en-US" sz="3200" b="1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sz="3200" b="1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𝑨</m:t>
                          </m:r>
                        </m:e>
                        <m:sub>
                          <m:r>
                            <a:rPr lang="zh-CN" altLang="en-US" sz="3200" b="1" i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𝟎</m:t>
                          </m:r>
                        </m:sub>
                      </m:sSub>
                      <m:sSub>
                        <m:sSubPr>
                          <m:ctrlPr>
                            <a:rPr lang="zh-CN" altLang="en-US" sz="3200" b="1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sz="3200" b="1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𝑫</m:t>
                          </m:r>
                        </m:e>
                        <m:sub>
                          <m:r>
                            <a:rPr lang="zh-CN" altLang="en-US" sz="3200" b="1" i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𝟐𝟑</m:t>
                          </m:r>
                        </m:sub>
                      </m:sSub>
                      <m:r>
                        <a:rPr lang="zh-CN" altLang="en-US" sz="3200" b="1" i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]</m:t>
                      </m:r>
                      <m:sSub>
                        <m:sSubPr>
                          <m:ctrlPr>
                            <a:rPr lang="zh-CN" altLang="en-US" sz="3200" b="1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̅"/>
                              <m:ctrlPr>
                                <a:rPr lang="zh-CN" altLang="en-US" sz="3200" b="1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zh-CN" altLang="en-US" sz="3200" b="1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𝑺𝑻</m:t>
                              </m:r>
                            </m:e>
                          </m:acc>
                        </m:e>
                        <m:sub>
                          <m:r>
                            <a:rPr lang="zh-CN" altLang="en-US" sz="3200" b="1" i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𝟐</m:t>
                          </m:r>
                        </m:sub>
                      </m:sSub>
                    </m:oMath>
                  </m:oMathPara>
                </a14:m>
                <a:endParaRPr lang="zh-CN" altLang="en-US" sz="3200" b="1" dirty="0">
                  <a:solidFill>
                    <a:schemeClr val="bg1"/>
                  </a:solidFill>
                </a:endParaRPr>
              </a:p>
            </p:txBody>
          </p:sp>
        </mc:Choice>
        <mc:Fallback>
          <p:sp>
            <p:nvSpPr>
              <p:cNvPr id="7" name="矩形 6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7993" y="1514337"/>
                <a:ext cx="10238906" cy="586507"/>
              </a:xfrm>
              <a:prstGeom prst="rect">
                <a:avLst/>
              </a:prstGeom>
              <a:blipFill rotWithShape="1">
                <a:blip r:embed="rId1"/>
                <a:stretch>
                  <a:fillRect l="-4" t="-85" r="6" b="45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文本框 1"/>
          <p:cNvSpPr txBox="1"/>
          <p:nvPr/>
        </p:nvSpPr>
        <p:spPr>
          <a:xfrm>
            <a:off x="1131907" y="3336370"/>
            <a:ext cx="1015657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b="1" dirty="0">
                <a:solidFill>
                  <a:schemeClr val="bg1"/>
                </a:solidFill>
              </a:rPr>
              <a:t>令</a:t>
            </a:r>
            <a:r>
              <a:rPr lang="en-US" altLang="zh-CN" sz="2800" b="1" dirty="0">
                <a:solidFill>
                  <a:schemeClr val="bg1"/>
                </a:solidFill>
              </a:rPr>
              <a:t>D</a:t>
            </a:r>
            <a:r>
              <a:rPr lang="en-US" altLang="zh-CN" sz="2800" b="1" baseline="-25000" dirty="0">
                <a:solidFill>
                  <a:schemeClr val="bg1"/>
                </a:solidFill>
              </a:rPr>
              <a:t>10</a:t>
            </a:r>
            <a:r>
              <a:rPr lang="zh-CN" altLang="en-US" sz="2800" b="1" dirty="0">
                <a:solidFill>
                  <a:schemeClr val="bg1"/>
                </a:solidFill>
              </a:rPr>
              <a:t>为</a:t>
            </a:r>
            <a:r>
              <a:rPr lang="en-US" altLang="zh-CN" sz="2800" b="1" dirty="0">
                <a:solidFill>
                  <a:schemeClr val="bg1"/>
                </a:solidFill>
              </a:rPr>
              <a:t>C</a:t>
            </a:r>
            <a:r>
              <a:rPr lang="zh-CN" altLang="en-US" sz="2800" b="1" dirty="0">
                <a:solidFill>
                  <a:schemeClr val="bg1"/>
                </a:solidFill>
              </a:rPr>
              <a:t> （前级进位位），</a:t>
            </a:r>
            <a:r>
              <a:rPr lang="en-US" altLang="zh-CN" sz="2800" b="1" dirty="0">
                <a:solidFill>
                  <a:schemeClr val="bg1"/>
                </a:solidFill>
              </a:rPr>
              <a:t> D</a:t>
            </a:r>
            <a:r>
              <a:rPr lang="en-US" altLang="zh-CN" sz="2800" b="1" baseline="-25000" dirty="0">
                <a:solidFill>
                  <a:schemeClr val="bg1"/>
                </a:solidFill>
              </a:rPr>
              <a:t>11</a:t>
            </a:r>
            <a:r>
              <a:rPr lang="zh-CN" altLang="en-US" sz="2800" b="1" dirty="0">
                <a:solidFill>
                  <a:schemeClr val="bg1"/>
                </a:solidFill>
              </a:rPr>
              <a:t>为</a:t>
            </a:r>
            <a:r>
              <a:rPr lang="en-US" altLang="zh-CN" sz="2800" b="1" dirty="0">
                <a:solidFill>
                  <a:schemeClr val="bg1"/>
                </a:solidFill>
              </a:rPr>
              <a:t>C*</a:t>
            </a:r>
            <a:r>
              <a:rPr lang="zh-CN" altLang="en-US" sz="2800" b="1" dirty="0">
                <a:solidFill>
                  <a:schemeClr val="bg1"/>
                </a:solidFill>
              </a:rPr>
              <a:t>，</a:t>
            </a:r>
            <a:r>
              <a:rPr lang="en-US" altLang="zh-CN" sz="2800" b="1" dirty="0">
                <a:solidFill>
                  <a:schemeClr val="bg1"/>
                </a:solidFill>
              </a:rPr>
              <a:t>D</a:t>
            </a:r>
            <a:r>
              <a:rPr lang="en-US" altLang="zh-CN" sz="2800" b="1" baseline="-25000" dirty="0">
                <a:solidFill>
                  <a:schemeClr val="bg1"/>
                </a:solidFill>
              </a:rPr>
              <a:t>12</a:t>
            </a:r>
            <a:r>
              <a:rPr lang="zh-CN" altLang="en-US" sz="2800" b="1" dirty="0">
                <a:solidFill>
                  <a:schemeClr val="bg1"/>
                </a:solidFill>
              </a:rPr>
              <a:t>为</a:t>
            </a:r>
            <a:r>
              <a:rPr lang="en-US" altLang="zh-CN" sz="2800" b="1" dirty="0">
                <a:solidFill>
                  <a:schemeClr val="bg1"/>
                </a:solidFill>
              </a:rPr>
              <a:t>C*</a:t>
            </a:r>
            <a:r>
              <a:rPr lang="zh-CN" altLang="en-US" sz="2800" b="1" dirty="0">
                <a:solidFill>
                  <a:schemeClr val="bg1"/>
                </a:solidFill>
              </a:rPr>
              <a:t>，</a:t>
            </a:r>
            <a:r>
              <a:rPr lang="en-US" altLang="zh-CN" sz="2800" b="1" dirty="0">
                <a:solidFill>
                  <a:schemeClr val="bg1"/>
                </a:solidFill>
              </a:rPr>
              <a:t> D</a:t>
            </a:r>
            <a:r>
              <a:rPr lang="en-US" altLang="zh-CN" sz="2800" b="1" baseline="-25000" dirty="0">
                <a:solidFill>
                  <a:schemeClr val="bg1"/>
                </a:solidFill>
              </a:rPr>
              <a:t>13</a:t>
            </a:r>
            <a:r>
              <a:rPr lang="zh-CN" altLang="en-US" sz="2800" b="1" dirty="0">
                <a:solidFill>
                  <a:schemeClr val="bg1"/>
                </a:solidFill>
              </a:rPr>
              <a:t>为</a:t>
            </a:r>
            <a:r>
              <a:rPr lang="en-US" altLang="zh-CN" sz="2800" b="1" dirty="0">
                <a:solidFill>
                  <a:schemeClr val="bg1"/>
                </a:solidFill>
              </a:rPr>
              <a:t>C </a:t>
            </a:r>
            <a:r>
              <a:rPr lang="zh-CN" altLang="en-US" sz="2800" b="1" dirty="0">
                <a:solidFill>
                  <a:schemeClr val="bg1"/>
                </a:solidFill>
              </a:rPr>
              <a:t>，则：</a:t>
            </a:r>
            <a:endParaRPr lang="zh-CN" altLang="en-US" sz="2800" b="1" dirty="0">
              <a:solidFill>
                <a:schemeClr val="bg1"/>
              </a:solidFill>
            </a:endParaRPr>
          </a:p>
        </p:txBody>
      </p:sp>
      <p:cxnSp>
        <p:nvCxnSpPr>
          <p:cNvPr id="10" name="肘形连接符 9"/>
          <p:cNvCxnSpPr/>
          <p:nvPr/>
        </p:nvCxnSpPr>
        <p:spPr>
          <a:xfrm rot="10800000" flipV="1">
            <a:off x="1218993" y="2610127"/>
            <a:ext cx="1" cy="2256150"/>
          </a:xfrm>
          <a:prstGeom prst="bentConnector3">
            <a:avLst>
              <a:gd name="adj1" fmla="val 22860100000"/>
            </a:avLst>
          </a:prstGeom>
          <a:ln w="571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" name="图片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18992" y="2177827"/>
            <a:ext cx="8456608" cy="641573"/>
          </a:xfrm>
          <a:prstGeom prst="rect">
            <a:avLst/>
          </a:prstGeom>
          <a:solidFill>
            <a:schemeClr val="bg1"/>
          </a:solidFill>
        </p:spPr>
      </p:pic>
      <p:pic>
        <p:nvPicPr>
          <p:cNvPr id="8" name="图片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18992" y="4474326"/>
            <a:ext cx="7903650" cy="783902"/>
          </a:xfrm>
          <a:prstGeom prst="rect">
            <a:avLst/>
          </a:prstGeom>
          <a:solidFill>
            <a:schemeClr val="bg1"/>
          </a:solidFill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7" name="组合 56"/>
          <p:cNvGrpSpPr/>
          <p:nvPr/>
        </p:nvGrpSpPr>
        <p:grpSpPr>
          <a:xfrm>
            <a:off x="134487" y="360136"/>
            <a:ext cx="10533513" cy="1077218"/>
            <a:chOff x="134487" y="360136"/>
            <a:chExt cx="10533513" cy="1077218"/>
          </a:xfrm>
        </p:grpSpPr>
        <p:sp>
          <p:nvSpPr>
            <p:cNvPr id="58" name="TextBox 39"/>
            <p:cNvSpPr txBox="1"/>
            <p:nvPr/>
          </p:nvSpPr>
          <p:spPr>
            <a:xfrm>
              <a:off x="272033" y="360136"/>
              <a:ext cx="2343426" cy="107721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zh-CN" altLang="en-US" sz="3200" b="1" dirty="0">
                  <a:solidFill>
                    <a:schemeClr val="bg1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一位二进制全加器</a:t>
              </a:r>
              <a:endParaRPr lang="en-US" altLang="zh-CN" sz="3200" dirty="0">
                <a:solidFill>
                  <a:schemeClr val="bg1"/>
                </a:solidFill>
                <a:latin typeface="宋体" panose="02010600030101010101" pitchFamily="2" charset="-122"/>
                <a:ea typeface="宋体" panose="02010600030101010101" pitchFamily="2" charset="-122"/>
              </a:endParaRPr>
            </a:p>
          </p:txBody>
        </p:sp>
        <p:sp>
          <p:nvSpPr>
            <p:cNvPr id="59" name="Rectangle 41"/>
            <p:cNvSpPr/>
            <p:nvPr/>
          </p:nvSpPr>
          <p:spPr>
            <a:xfrm rot="16200000">
              <a:off x="95249" y="885029"/>
              <a:ext cx="457200" cy="27432"/>
            </a:xfrm>
            <a:prstGeom prst="rect">
              <a:avLst/>
            </a:prstGeom>
            <a:solidFill>
              <a:srgbClr val="F4B18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1" name="Rectangle 41"/>
            <p:cNvSpPr/>
            <p:nvPr/>
          </p:nvSpPr>
          <p:spPr>
            <a:xfrm rot="16200000">
              <a:off x="-25340" y="829973"/>
              <a:ext cx="457200" cy="137545"/>
            </a:xfrm>
            <a:prstGeom prst="rect">
              <a:avLst/>
            </a:prstGeom>
            <a:solidFill>
              <a:srgbClr val="F4B18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62" name="直接连接符 61"/>
            <p:cNvCxnSpPr/>
            <p:nvPr/>
          </p:nvCxnSpPr>
          <p:spPr>
            <a:xfrm>
              <a:off x="2381250" y="898745"/>
              <a:ext cx="8286750" cy="0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矩形 1"/>
          <p:cNvSpPr/>
          <p:nvPr/>
        </p:nvSpPr>
        <p:spPr>
          <a:xfrm>
            <a:off x="1066687" y="5843767"/>
            <a:ext cx="10156481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lang="zh-CN" altLang="en-US" sz="2800" b="1" dirty="0">
                <a:solidFill>
                  <a:srgbClr val="F4B183"/>
                </a:solidFill>
              </a:rPr>
              <a:t>一位二进制全加器电路图</a:t>
            </a:r>
            <a:r>
              <a:rPr lang="en-US" altLang="zh-CN" sz="2800" b="1" dirty="0">
                <a:solidFill>
                  <a:srgbClr val="F4B183"/>
                </a:solidFill>
              </a:rPr>
              <a:t>(</a:t>
            </a:r>
            <a:r>
              <a:rPr lang="zh-CN" altLang="en-US" sz="2800" b="1" dirty="0">
                <a:solidFill>
                  <a:srgbClr val="00FF00"/>
                </a:solidFill>
              </a:rPr>
              <a:t>加数与被加数为</a:t>
            </a:r>
            <a:r>
              <a:rPr lang="en-US" altLang="zh-CN" sz="2800" b="1" dirty="0">
                <a:solidFill>
                  <a:srgbClr val="00FF00"/>
                </a:solidFill>
              </a:rPr>
              <a:t>0</a:t>
            </a:r>
            <a:r>
              <a:rPr lang="zh-CN" altLang="en-US" sz="2800" b="1" dirty="0">
                <a:solidFill>
                  <a:srgbClr val="00FF00"/>
                </a:solidFill>
              </a:rPr>
              <a:t>，前级进位位为</a:t>
            </a:r>
            <a:r>
              <a:rPr lang="en-US" altLang="zh-CN" sz="2800" b="1" dirty="0">
                <a:solidFill>
                  <a:srgbClr val="00FF00"/>
                </a:solidFill>
              </a:rPr>
              <a:t>1</a:t>
            </a:r>
            <a:r>
              <a:rPr lang="en-US" altLang="zh-CN" sz="2800" b="1" dirty="0">
                <a:solidFill>
                  <a:srgbClr val="F4B183"/>
                </a:solidFill>
              </a:rPr>
              <a:t>)</a:t>
            </a:r>
            <a:endParaRPr lang="en-US" altLang="zh-CN" sz="2400" b="1" baseline="-25000" dirty="0">
              <a:solidFill>
                <a:srgbClr val="F4B183"/>
              </a:solidFill>
              <a:latin typeface="Times New Roman" panose="02020603050405020304" pitchFamily="18" charset="0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7" name="组合 56"/>
          <p:cNvGrpSpPr/>
          <p:nvPr/>
        </p:nvGrpSpPr>
        <p:grpSpPr>
          <a:xfrm>
            <a:off x="134487" y="360136"/>
            <a:ext cx="10533513" cy="1077218"/>
            <a:chOff x="134487" y="360136"/>
            <a:chExt cx="10533513" cy="1077218"/>
          </a:xfrm>
        </p:grpSpPr>
        <p:sp>
          <p:nvSpPr>
            <p:cNvPr id="58" name="TextBox 39"/>
            <p:cNvSpPr txBox="1"/>
            <p:nvPr/>
          </p:nvSpPr>
          <p:spPr>
            <a:xfrm>
              <a:off x="272033" y="360136"/>
              <a:ext cx="2343426" cy="107721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zh-CN" altLang="en-US" sz="3200" b="1" dirty="0">
                  <a:solidFill>
                    <a:schemeClr val="bg1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一位二进制全加器</a:t>
              </a:r>
              <a:endParaRPr lang="en-US" altLang="zh-CN" sz="3200" dirty="0">
                <a:solidFill>
                  <a:schemeClr val="bg1"/>
                </a:solidFill>
                <a:latin typeface="宋体" panose="02010600030101010101" pitchFamily="2" charset="-122"/>
                <a:ea typeface="宋体" panose="02010600030101010101" pitchFamily="2" charset="-122"/>
              </a:endParaRPr>
            </a:p>
          </p:txBody>
        </p:sp>
        <p:sp>
          <p:nvSpPr>
            <p:cNvPr id="59" name="Rectangle 41"/>
            <p:cNvSpPr/>
            <p:nvPr/>
          </p:nvSpPr>
          <p:spPr>
            <a:xfrm rot="16200000">
              <a:off x="95249" y="885029"/>
              <a:ext cx="457200" cy="27432"/>
            </a:xfrm>
            <a:prstGeom prst="rect">
              <a:avLst/>
            </a:prstGeom>
            <a:solidFill>
              <a:srgbClr val="F4B18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1" name="Rectangle 41"/>
            <p:cNvSpPr/>
            <p:nvPr/>
          </p:nvSpPr>
          <p:spPr>
            <a:xfrm rot="16200000">
              <a:off x="-25340" y="829973"/>
              <a:ext cx="457200" cy="137545"/>
            </a:xfrm>
            <a:prstGeom prst="rect">
              <a:avLst/>
            </a:prstGeom>
            <a:solidFill>
              <a:srgbClr val="F4B18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62" name="直接连接符 61"/>
            <p:cNvCxnSpPr/>
            <p:nvPr/>
          </p:nvCxnSpPr>
          <p:spPr>
            <a:xfrm>
              <a:off x="2381250" y="898745"/>
              <a:ext cx="8286750" cy="0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矩形 1"/>
          <p:cNvSpPr/>
          <p:nvPr/>
        </p:nvSpPr>
        <p:spPr>
          <a:xfrm>
            <a:off x="272033" y="2966015"/>
            <a:ext cx="2497039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lang="zh-CN" altLang="en-US" sz="2800" b="1" dirty="0">
                <a:solidFill>
                  <a:srgbClr val="F4B183"/>
                </a:solidFill>
              </a:rPr>
              <a:t>实物连线图</a:t>
            </a:r>
            <a:endParaRPr lang="en-US" altLang="zh-CN" sz="2400" b="1" baseline="-25000" dirty="0">
              <a:solidFill>
                <a:srgbClr val="F4B183"/>
              </a:solidFill>
              <a:latin typeface="Times New Roman" panose="02020603050405020304" pitchFamily="18" charset="0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25"/>
          <p:cNvSpPr txBox="1"/>
          <p:nvPr/>
        </p:nvSpPr>
        <p:spPr>
          <a:xfrm>
            <a:off x="4720021" y="2058356"/>
            <a:ext cx="512017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b="1" dirty="0">
                <a:solidFill>
                  <a:srgbClr val="F4B183"/>
                </a:solidFill>
                <a:latin typeface="宋体-18030" pitchFamily="49" charset="-122"/>
                <a:ea typeface="宋体-18030" pitchFamily="49" charset="-122"/>
              </a:rPr>
              <a:t>用</a:t>
            </a:r>
            <a:r>
              <a:rPr lang="en-US" altLang="zh-CN" sz="2800" b="1" dirty="0">
                <a:solidFill>
                  <a:srgbClr val="F4B183"/>
                </a:solidFill>
                <a:latin typeface="宋体-18030" pitchFamily="49" charset="-122"/>
                <a:ea typeface="宋体-18030" pitchFamily="49" charset="-122"/>
              </a:rPr>
              <a:t>74LS153</a:t>
            </a:r>
            <a:r>
              <a:rPr lang="zh-CN" altLang="en-US" sz="2800" b="1" dirty="0">
                <a:solidFill>
                  <a:srgbClr val="F4B183"/>
                </a:solidFill>
                <a:latin typeface="宋体-18030" pitchFamily="49" charset="-122"/>
                <a:ea typeface="宋体-18030" pitchFamily="49" charset="-122"/>
              </a:rPr>
              <a:t>完成一位全加器实验</a:t>
            </a:r>
            <a:endParaRPr lang="en-US" sz="2800" dirty="0">
              <a:solidFill>
                <a:srgbClr val="F4B183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6" name="TextBox 28"/>
          <p:cNvSpPr txBox="1"/>
          <p:nvPr/>
        </p:nvSpPr>
        <p:spPr>
          <a:xfrm>
            <a:off x="4720021" y="2807209"/>
            <a:ext cx="405095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>
              <a:defRPr sz="2400" b="1">
                <a:solidFill>
                  <a:schemeClr val="bg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1pPr>
          </a:lstStyle>
          <a:p>
            <a:r>
              <a:rPr lang="zh-CN" altLang="en-US" sz="2800" dirty="0">
                <a:latin typeface="宋体-18030" pitchFamily="49" charset="-122"/>
                <a:ea typeface="宋体-18030" pitchFamily="49" charset="-122"/>
              </a:rPr>
              <a:t>逻辑函数实现实验</a:t>
            </a:r>
            <a:endParaRPr lang="en-US" sz="2800" dirty="0"/>
          </a:p>
        </p:txBody>
      </p:sp>
      <p:sp>
        <p:nvSpPr>
          <p:cNvPr id="10" name="TextBox 35"/>
          <p:cNvSpPr txBox="1"/>
          <p:nvPr/>
        </p:nvSpPr>
        <p:spPr>
          <a:xfrm>
            <a:off x="4007431" y="2058356"/>
            <a:ext cx="575696" cy="510778"/>
          </a:xfrm>
          <a:prstGeom prst="roundRect">
            <a:avLst/>
          </a:prstGeom>
          <a:solidFill>
            <a:srgbClr val="F4B183"/>
          </a:solidFill>
        </p:spPr>
        <p:txBody>
          <a:bodyPr wrap="square" rtlCol="0">
            <a:spAutoFit/>
          </a:bodyPr>
          <a:lstStyle>
            <a:defPPr>
              <a:defRPr lang="zh-CN"/>
            </a:defPPr>
            <a:lvl1pPr algn="ctr">
              <a:defRPr sz="2400" b="1">
                <a:solidFill>
                  <a:schemeClr val="tx1">
                    <a:lumMod val="95000"/>
                    <a:lumOff val="5000"/>
                  </a:schemeClr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defRPr>
            </a:lvl1pPr>
          </a:lstStyle>
          <a:p>
            <a:r>
              <a:rPr lang="en-US" dirty="0"/>
              <a:t>1.1</a:t>
            </a:r>
            <a:endParaRPr lang="en-US" dirty="0"/>
          </a:p>
        </p:txBody>
      </p:sp>
      <p:sp>
        <p:nvSpPr>
          <p:cNvPr id="11" name="TextBox 36"/>
          <p:cNvSpPr txBox="1"/>
          <p:nvPr/>
        </p:nvSpPr>
        <p:spPr>
          <a:xfrm>
            <a:off x="4007431" y="2811059"/>
            <a:ext cx="596294" cy="510778"/>
          </a:xfrm>
          <a:prstGeom prst="round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pPr algn="ctr"/>
            <a:r>
              <a:rPr lang="en-US" sz="2400" b="1" dirty="0">
                <a:solidFill>
                  <a:schemeClr val="tx1">
                    <a:lumMod val="95000"/>
                    <a:lumOff val="5000"/>
                  </a:schemeClr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1.2</a:t>
            </a:r>
            <a:endParaRPr lang="en-US" sz="2400" b="1" dirty="0">
              <a:solidFill>
                <a:schemeClr val="tx1">
                  <a:lumMod val="95000"/>
                  <a:lumOff val="5000"/>
                </a:schemeClr>
              </a:solidFill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</p:txBody>
      </p:sp>
      <p:grpSp>
        <p:nvGrpSpPr>
          <p:cNvPr id="20" name="组合 19"/>
          <p:cNvGrpSpPr/>
          <p:nvPr/>
        </p:nvGrpSpPr>
        <p:grpSpPr>
          <a:xfrm>
            <a:off x="134487" y="634029"/>
            <a:ext cx="10533513" cy="523220"/>
            <a:chOff x="134487" y="634029"/>
            <a:chExt cx="10533513" cy="523220"/>
          </a:xfrm>
        </p:grpSpPr>
        <p:sp>
          <p:nvSpPr>
            <p:cNvPr id="16" name="TextBox 39"/>
            <p:cNvSpPr txBox="1"/>
            <p:nvPr/>
          </p:nvSpPr>
          <p:spPr>
            <a:xfrm>
              <a:off x="395986" y="634029"/>
              <a:ext cx="1620958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zh-CN" altLang="en-US" sz="2800" dirty="0">
                  <a:solidFill>
                    <a:schemeClr val="bg1">
                      <a:lumMod val="95000"/>
                    </a:schemeClr>
                  </a:solidFill>
                  <a:latin typeface="Dense" panose="02000000000000000000" pitchFamily="50" charset="0"/>
                  <a:ea typeface="微软雅黑 Light" panose="020B0502040204020203" pitchFamily="34" charset="-122"/>
                </a:rPr>
                <a:t>课程内容</a:t>
              </a:r>
              <a:endParaRPr lang="en-US" sz="2800" dirty="0">
                <a:solidFill>
                  <a:schemeClr val="bg1">
                    <a:lumMod val="95000"/>
                  </a:schemeClr>
                </a:solidFill>
                <a:latin typeface="Dense" panose="02000000000000000000" pitchFamily="50" charset="0"/>
                <a:ea typeface="微软雅黑 Light" panose="020B0502040204020203" pitchFamily="34" charset="-122"/>
              </a:endParaRPr>
            </a:p>
          </p:txBody>
        </p:sp>
        <p:sp>
          <p:nvSpPr>
            <p:cNvPr id="17" name="Rectangle 41"/>
            <p:cNvSpPr/>
            <p:nvPr/>
          </p:nvSpPr>
          <p:spPr>
            <a:xfrm rot="16200000">
              <a:off x="95249" y="885029"/>
              <a:ext cx="457200" cy="27432"/>
            </a:xfrm>
            <a:prstGeom prst="rect">
              <a:avLst/>
            </a:prstGeom>
            <a:solidFill>
              <a:srgbClr val="F4B18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9" name="Rectangle 41"/>
            <p:cNvSpPr/>
            <p:nvPr/>
          </p:nvSpPr>
          <p:spPr>
            <a:xfrm rot="16200000">
              <a:off x="-25340" y="829973"/>
              <a:ext cx="457200" cy="137545"/>
            </a:xfrm>
            <a:prstGeom prst="rect">
              <a:avLst/>
            </a:prstGeom>
            <a:solidFill>
              <a:srgbClr val="F4B18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3" name="直接连接符 2"/>
            <p:cNvCxnSpPr/>
            <p:nvPr/>
          </p:nvCxnSpPr>
          <p:spPr>
            <a:xfrm>
              <a:off x="2381250" y="898745"/>
              <a:ext cx="8286750" cy="0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3" name="TextBox 28"/>
          <p:cNvSpPr txBox="1"/>
          <p:nvPr/>
        </p:nvSpPr>
        <p:spPr>
          <a:xfrm>
            <a:off x="4720020" y="3599467"/>
            <a:ext cx="405095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>
              <a:defRPr sz="2400" b="1">
                <a:solidFill>
                  <a:schemeClr val="bg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1pPr>
          </a:lstStyle>
          <a:p>
            <a:r>
              <a:rPr lang="zh-CN" altLang="en-US" sz="2800" dirty="0">
                <a:latin typeface="宋体-18030" pitchFamily="49" charset="-122"/>
                <a:ea typeface="宋体-18030" pitchFamily="49" charset="-122"/>
              </a:rPr>
              <a:t>脉冲序列产生实验</a:t>
            </a:r>
            <a:endParaRPr lang="en-US" sz="2800" dirty="0"/>
          </a:p>
        </p:txBody>
      </p:sp>
      <p:sp>
        <p:nvSpPr>
          <p:cNvPr id="14" name="TextBox 36"/>
          <p:cNvSpPr txBox="1"/>
          <p:nvPr/>
        </p:nvSpPr>
        <p:spPr>
          <a:xfrm>
            <a:off x="4010044" y="3602335"/>
            <a:ext cx="596294" cy="510778"/>
          </a:xfrm>
          <a:prstGeom prst="round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pPr algn="ctr"/>
            <a:r>
              <a:rPr lang="en-US" sz="2400" b="1" dirty="0">
                <a:solidFill>
                  <a:schemeClr val="tx1">
                    <a:lumMod val="95000"/>
                    <a:lumOff val="5000"/>
                  </a:schemeClr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1.3</a:t>
            </a:r>
            <a:endParaRPr lang="en-US" sz="2400" b="1" dirty="0">
              <a:solidFill>
                <a:schemeClr val="tx1">
                  <a:lumMod val="95000"/>
                  <a:lumOff val="5000"/>
                </a:schemeClr>
              </a:solidFill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</p:txBody>
      </p:sp>
      <p:sp>
        <p:nvSpPr>
          <p:cNvPr id="15" name="TextBox 28"/>
          <p:cNvSpPr txBox="1"/>
          <p:nvPr/>
        </p:nvSpPr>
        <p:spPr>
          <a:xfrm>
            <a:off x="4722634" y="4382125"/>
            <a:ext cx="405095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>
              <a:defRPr sz="3200" b="1">
                <a:solidFill>
                  <a:srgbClr val="F4B183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defRPr>
            </a:lvl1pPr>
          </a:lstStyle>
          <a:p>
            <a:endParaRPr lang="en-US" sz="2800" dirty="0">
              <a:solidFill>
                <a:schemeClr val="bg1"/>
              </a:solidFill>
            </a:endParaRPr>
          </a:p>
        </p:txBody>
      </p:sp>
      <p:sp>
        <p:nvSpPr>
          <p:cNvPr id="18" name="TextBox 36"/>
          <p:cNvSpPr txBox="1"/>
          <p:nvPr/>
        </p:nvSpPr>
        <p:spPr>
          <a:xfrm>
            <a:off x="4007431" y="4393611"/>
            <a:ext cx="601521" cy="510778"/>
          </a:xfrm>
          <a:prstGeom prst="round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pPr algn="ctr"/>
            <a:r>
              <a:rPr lang="en-US" sz="2400" b="1" dirty="0">
                <a:solidFill>
                  <a:schemeClr val="tx1">
                    <a:lumMod val="95000"/>
                    <a:lumOff val="5000"/>
                  </a:schemeClr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1.4</a:t>
            </a:r>
            <a:endParaRPr lang="en-US" sz="2400" b="1" dirty="0">
              <a:solidFill>
                <a:schemeClr val="tx1">
                  <a:lumMod val="95000"/>
                  <a:lumOff val="5000"/>
                </a:schemeClr>
              </a:solidFill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</p:txBody>
      </p:sp>
      <p:sp>
        <p:nvSpPr>
          <p:cNvPr id="21" name="TextBox 28"/>
          <p:cNvSpPr txBox="1"/>
          <p:nvPr/>
        </p:nvSpPr>
        <p:spPr>
          <a:xfrm>
            <a:off x="4720019" y="4391725"/>
            <a:ext cx="405095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>
              <a:defRPr sz="2400" b="1">
                <a:solidFill>
                  <a:schemeClr val="bg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1pPr>
          </a:lstStyle>
          <a:p>
            <a:r>
              <a:rPr lang="zh-CN" altLang="en-US" sz="2800" dirty="0"/>
              <a:t>下一实验内容</a:t>
            </a:r>
            <a:endParaRPr lang="en-US" sz="2800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25"/>
          <p:cNvSpPr txBox="1"/>
          <p:nvPr/>
        </p:nvSpPr>
        <p:spPr>
          <a:xfrm>
            <a:off x="4720021" y="2058356"/>
            <a:ext cx="512017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b="1" dirty="0">
                <a:solidFill>
                  <a:srgbClr val="F4B183"/>
                </a:solidFill>
                <a:latin typeface="宋体-18030" pitchFamily="49" charset="-122"/>
                <a:ea typeface="宋体-18030" pitchFamily="49" charset="-122"/>
              </a:rPr>
              <a:t>用</a:t>
            </a:r>
            <a:r>
              <a:rPr lang="en-US" altLang="zh-CN" sz="2800" b="1" dirty="0">
                <a:solidFill>
                  <a:srgbClr val="F4B183"/>
                </a:solidFill>
                <a:latin typeface="宋体-18030" pitchFamily="49" charset="-122"/>
                <a:ea typeface="宋体-18030" pitchFamily="49" charset="-122"/>
              </a:rPr>
              <a:t>74LS153</a:t>
            </a:r>
            <a:r>
              <a:rPr lang="zh-CN" altLang="en-US" sz="2800" b="1" dirty="0">
                <a:solidFill>
                  <a:srgbClr val="F4B183"/>
                </a:solidFill>
                <a:latin typeface="宋体-18030" pitchFamily="49" charset="-122"/>
                <a:ea typeface="宋体-18030" pitchFamily="49" charset="-122"/>
              </a:rPr>
              <a:t>完成一位全加器实验</a:t>
            </a:r>
            <a:endParaRPr lang="en-US" sz="2800" dirty="0">
              <a:solidFill>
                <a:srgbClr val="F4B183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6" name="TextBox 28"/>
          <p:cNvSpPr txBox="1"/>
          <p:nvPr/>
        </p:nvSpPr>
        <p:spPr>
          <a:xfrm>
            <a:off x="4720021" y="2807209"/>
            <a:ext cx="405095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>
              <a:defRPr sz="2800" b="1">
                <a:solidFill>
                  <a:srgbClr val="F4B183"/>
                </a:solidFill>
                <a:latin typeface="宋体-18030" pitchFamily="49" charset="-122"/>
                <a:ea typeface="宋体-18030" pitchFamily="49" charset="-122"/>
              </a:defRPr>
            </a:lvl1pPr>
          </a:lstStyle>
          <a:p>
            <a:r>
              <a:rPr lang="zh-CN" altLang="en-US" dirty="0"/>
              <a:t>逻辑函数实现实验</a:t>
            </a:r>
            <a:endParaRPr lang="en-US" dirty="0"/>
          </a:p>
        </p:txBody>
      </p:sp>
      <p:sp>
        <p:nvSpPr>
          <p:cNvPr id="10" name="TextBox 35"/>
          <p:cNvSpPr txBox="1"/>
          <p:nvPr/>
        </p:nvSpPr>
        <p:spPr>
          <a:xfrm>
            <a:off x="4007431" y="2058356"/>
            <a:ext cx="575696" cy="510778"/>
          </a:xfrm>
          <a:prstGeom prst="roundRect">
            <a:avLst/>
          </a:prstGeom>
          <a:solidFill>
            <a:srgbClr val="F4B183"/>
          </a:solidFill>
        </p:spPr>
        <p:txBody>
          <a:bodyPr wrap="square" rtlCol="0">
            <a:spAutoFit/>
          </a:bodyPr>
          <a:lstStyle>
            <a:defPPr>
              <a:defRPr lang="zh-CN"/>
            </a:defPPr>
            <a:lvl1pPr algn="ctr">
              <a:defRPr sz="2400" b="1">
                <a:solidFill>
                  <a:schemeClr val="tx1">
                    <a:lumMod val="95000"/>
                    <a:lumOff val="5000"/>
                  </a:schemeClr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defRPr>
            </a:lvl1pPr>
          </a:lstStyle>
          <a:p>
            <a:r>
              <a:rPr lang="en-US" dirty="0"/>
              <a:t>1.1</a:t>
            </a:r>
            <a:endParaRPr lang="en-US" dirty="0"/>
          </a:p>
        </p:txBody>
      </p:sp>
      <p:sp>
        <p:nvSpPr>
          <p:cNvPr id="11" name="TextBox 36"/>
          <p:cNvSpPr txBox="1"/>
          <p:nvPr/>
        </p:nvSpPr>
        <p:spPr>
          <a:xfrm>
            <a:off x="4007431" y="2811059"/>
            <a:ext cx="596294" cy="510778"/>
          </a:xfrm>
          <a:prstGeom prst="roundRect">
            <a:avLst/>
          </a:prstGeom>
          <a:solidFill>
            <a:srgbClr val="F4B183"/>
          </a:solidFill>
        </p:spPr>
        <p:txBody>
          <a:bodyPr wrap="square" rtlCol="0">
            <a:spAutoFit/>
          </a:bodyPr>
          <a:lstStyle>
            <a:defPPr>
              <a:defRPr lang="zh-CN"/>
            </a:defPPr>
            <a:lvl1pPr algn="ctr">
              <a:defRPr sz="2400" b="1">
                <a:solidFill>
                  <a:schemeClr val="tx1">
                    <a:lumMod val="95000"/>
                    <a:lumOff val="5000"/>
                  </a:schemeClr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defRPr>
            </a:lvl1pPr>
          </a:lstStyle>
          <a:p>
            <a:r>
              <a:rPr lang="en-US" dirty="0"/>
              <a:t>1.2</a:t>
            </a:r>
            <a:endParaRPr lang="en-US" dirty="0"/>
          </a:p>
        </p:txBody>
      </p:sp>
      <p:grpSp>
        <p:nvGrpSpPr>
          <p:cNvPr id="20" name="组合 19"/>
          <p:cNvGrpSpPr/>
          <p:nvPr/>
        </p:nvGrpSpPr>
        <p:grpSpPr>
          <a:xfrm>
            <a:off x="134487" y="634029"/>
            <a:ext cx="10533513" cy="523220"/>
            <a:chOff x="134487" y="634029"/>
            <a:chExt cx="10533513" cy="523220"/>
          </a:xfrm>
        </p:grpSpPr>
        <p:sp>
          <p:nvSpPr>
            <p:cNvPr id="16" name="TextBox 39"/>
            <p:cNvSpPr txBox="1"/>
            <p:nvPr/>
          </p:nvSpPr>
          <p:spPr>
            <a:xfrm>
              <a:off x="395986" y="634029"/>
              <a:ext cx="1620958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zh-CN" altLang="en-US" sz="2800" dirty="0">
                  <a:solidFill>
                    <a:schemeClr val="bg1">
                      <a:lumMod val="95000"/>
                    </a:schemeClr>
                  </a:solidFill>
                  <a:latin typeface="Dense" panose="02000000000000000000" pitchFamily="50" charset="0"/>
                  <a:ea typeface="微软雅黑 Light" panose="020B0502040204020203" pitchFamily="34" charset="-122"/>
                </a:rPr>
                <a:t>课程内容</a:t>
              </a:r>
              <a:endParaRPr lang="en-US" sz="2800" dirty="0">
                <a:solidFill>
                  <a:schemeClr val="bg1">
                    <a:lumMod val="95000"/>
                  </a:schemeClr>
                </a:solidFill>
                <a:latin typeface="Dense" panose="02000000000000000000" pitchFamily="50" charset="0"/>
                <a:ea typeface="微软雅黑 Light" panose="020B0502040204020203" pitchFamily="34" charset="-122"/>
              </a:endParaRPr>
            </a:p>
          </p:txBody>
        </p:sp>
        <p:sp>
          <p:nvSpPr>
            <p:cNvPr id="17" name="Rectangle 41"/>
            <p:cNvSpPr/>
            <p:nvPr/>
          </p:nvSpPr>
          <p:spPr>
            <a:xfrm rot="16200000">
              <a:off x="95249" y="885029"/>
              <a:ext cx="457200" cy="27432"/>
            </a:xfrm>
            <a:prstGeom prst="rect">
              <a:avLst/>
            </a:prstGeom>
            <a:solidFill>
              <a:srgbClr val="F4B18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9" name="Rectangle 41"/>
            <p:cNvSpPr/>
            <p:nvPr/>
          </p:nvSpPr>
          <p:spPr>
            <a:xfrm rot="16200000">
              <a:off x="-25340" y="829973"/>
              <a:ext cx="457200" cy="137545"/>
            </a:xfrm>
            <a:prstGeom prst="rect">
              <a:avLst/>
            </a:prstGeom>
            <a:solidFill>
              <a:srgbClr val="F4B18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3" name="直接连接符 2"/>
            <p:cNvCxnSpPr/>
            <p:nvPr/>
          </p:nvCxnSpPr>
          <p:spPr>
            <a:xfrm>
              <a:off x="2381250" y="898745"/>
              <a:ext cx="8286750" cy="0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3" name="TextBox 28"/>
          <p:cNvSpPr txBox="1"/>
          <p:nvPr/>
        </p:nvSpPr>
        <p:spPr>
          <a:xfrm>
            <a:off x="4720020" y="3599467"/>
            <a:ext cx="405095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>
              <a:defRPr sz="2400" b="1">
                <a:solidFill>
                  <a:schemeClr val="bg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1pPr>
          </a:lstStyle>
          <a:p>
            <a:r>
              <a:rPr lang="zh-CN" altLang="en-US" sz="2800" dirty="0">
                <a:latin typeface="宋体-18030" pitchFamily="49" charset="-122"/>
                <a:ea typeface="宋体-18030" pitchFamily="49" charset="-122"/>
              </a:rPr>
              <a:t>脉冲序列产生实验</a:t>
            </a:r>
            <a:endParaRPr lang="en-US" sz="2800" dirty="0"/>
          </a:p>
        </p:txBody>
      </p:sp>
      <p:sp>
        <p:nvSpPr>
          <p:cNvPr id="14" name="TextBox 36"/>
          <p:cNvSpPr txBox="1"/>
          <p:nvPr/>
        </p:nvSpPr>
        <p:spPr>
          <a:xfrm>
            <a:off x="4010044" y="3602335"/>
            <a:ext cx="596294" cy="510778"/>
          </a:xfrm>
          <a:prstGeom prst="round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pPr algn="ctr"/>
            <a:r>
              <a:rPr lang="en-US" sz="2400" b="1" dirty="0">
                <a:solidFill>
                  <a:schemeClr val="tx1">
                    <a:lumMod val="95000"/>
                    <a:lumOff val="5000"/>
                  </a:schemeClr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1.3</a:t>
            </a:r>
            <a:endParaRPr lang="en-US" sz="2400" b="1" dirty="0">
              <a:solidFill>
                <a:schemeClr val="tx1">
                  <a:lumMod val="95000"/>
                  <a:lumOff val="5000"/>
                </a:schemeClr>
              </a:solidFill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</p:txBody>
      </p:sp>
      <p:sp>
        <p:nvSpPr>
          <p:cNvPr id="15" name="TextBox 28"/>
          <p:cNvSpPr txBox="1"/>
          <p:nvPr/>
        </p:nvSpPr>
        <p:spPr>
          <a:xfrm>
            <a:off x="4722634" y="4382125"/>
            <a:ext cx="405095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>
              <a:defRPr sz="3200" b="1">
                <a:solidFill>
                  <a:srgbClr val="F4B183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defRPr>
            </a:lvl1pPr>
          </a:lstStyle>
          <a:p>
            <a:endParaRPr lang="en-US" sz="2800" dirty="0">
              <a:solidFill>
                <a:schemeClr val="bg1"/>
              </a:solidFill>
            </a:endParaRPr>
          </a:p>
        </p:txBody>
      </p:sp>
      <p:sp>
        <p:nvSpPr>
          <p:cNvPr id="18" name="TextBox 36"/>
          <p:cNvSpPr txBox="1"/>
          <p:nvPr/>
        </p:nvSpPr>
        <p:spPr>
          <a:xfrm>
            <a:off x="4007431" y="4393611"/>
            <a:ext cx="601521" cy="510778"/>
          </a:xfrm>
          <a:prstGeom prst="round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pPr algn="ctr"/>
            <a:r>
              <a:rPr lang="en-US" sz="2400" b="1" dirty="0">
                <a:solidFill>
                  <a:schemeClr val="tx1">
                    <a:lumMod val="95000"/>
                    <a:lumOff val="5000"/>
                  </a:schemeClr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1.4</a:t>
            </a:r>
            <a:endParaRPr lang="en-US" sz="2400" b="1" dirty="0">
              <a:solidFill>
                <a:schemeClr val="tx1">
                  <a:lumMod val="95000"/>
                  <a:lumOff val="5000"/>
                </a:schemeClr>
              </a:solidFill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</p:txBody>
      </p:sp>
      <p:sp>
        <p:nvSpPr>
          <p:cNvPr id="21" name="TextBox 28"/>
          <p:cNvSpPr txBox="1"/>
          <p:nvPr/>
        </p:nvSpPr>
        <p:spPr>
          <a:xfrm>
            <a:off x="4720019" y="4391725"/>
            <a:ext cx="405095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>
              <a:defRPr sz="2400" b="1">
                <a:solidFill>
                  <a:schemeClr val="bg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1pPr>
          </a:lstStyle>
          <a:p>
            <a:r>
              <a:rPr lang="zh-CN" altLang="en-US" sz="2800" dirty="0"/>
              <a:t>下一实验内容</a:t>
            </a:r>
            <a:endParaRPr lang="en-US" sz="2800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7" name="组合 56"/>
          <p:cNvGrpSpPr/>
          <p:nvPr/>
        </p:nvGrpSpPr>
        <p:grpSpPr>
          <a:xfrm>
            <a:off x="134487" y="360136"/>
            <a:ext cx="10533513" cy="1077218"/>
            <a:chOff x="134487" y="360136"/>
            <a:chExt cx="10533513" cy="1077218"/>
          </a:xfrm>
        </p:grpSpPr>
        <p:sp>
          <p:nvSpPr>
            <p:cNvPr id="58" name="TextBox 39"/>
            <p:cNvSpPr txBox="1"/>
            <p:nvPr/>
          </p:nvSpPr>
          <p:spPr>
            <a:xfrm>
              <a:off x="272033" y="360136"/>
              <a:ext cx="2343426" cy="107721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zh-CN" altLang="en-US" sz="3200" dirty="0">
                  <a:solidFill>
                    <a:schemeClr val="bg1"/>
                  </a:solidFill>
                  <a:latin typeface="宋体-18030" pitchFamily="49" charset="-122"/>
                  <a:ea typeface="宋体-18030" pitchFamily="49" charset="-122"/>
                </a:rPr>
                <a:t>逻辑函数</a:t>
              </a:r>
              <a:endParaRPr lang="en-US" altLang="zh-CN" sz="3200" dirty="0">
                <a:solidFill>
                  <a:schemeClr val="bg1"/>
                </a:solidFill>
                <a:latin typeface="宋体-18030" pitchFamily="49" charset="-122"/>
                <a:ea typeface="宋体-18030" pitchFamily="49" charset="-122"/>
              </a:endParaRPr>
            </a:p>
            <a:p>
              <a:pPr algn="ctr"/>
              <a:r>
                <a:rPr lang="zh-CN" altLang="en-US" sz="3200" dirty="0">
                  <a:solidFill>
                    <a:schemeClr val="bg1"/>
                  </a:solidFill>
                  <a:latin typeface="宋体-18030" pitchFamily="49" charset="-122"/>
                  <a:ea typeface="宋体-18030" pitchFamily="49" charset="-122"/>
                </a:rPr>
                <a:t>实现</a:t>
              </a:r>
              <a:endParaRPr lang="en-US" altLang="zh-CN" sz="3200" dirty="0">
                <a:solidFill>
                  <a:schemeClr val="bg1"/>
                </a:solidFill>
              </a:endParaRPr>
            </a:p>
          </p:txBody>
        </p:sp>
        <p:sp>
          <p:nvSpPr>
            <p:cNvPr id="59" name="Rectangle 41"/>
            <p:cNvSpPr/>
            <p:nvPr/>
          </p:nvSpPr>
          <p:spPr>
            <a:xfrm rot="16200000">
              <a:off x="95249" y="885029"/>
              <a:ext cx="457200" cy="27432"/>
            </a:xfrm>
            <a:prstGeom prst="rect">
              <a:avLst/>
            </a:prstGeom>
            <a:solidFill>
              <a:srgbClr val="F4B18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1" name="Rectangle 41"/>
            <p:cNvSpPr/>
            <p:nvPr/>
          </p:nvSpPr>
          <p:spPr>
            <a:xfrm rot="16200000">
              <a:off x="-25340" y="829973"/>
              <a:ext cx="457200" cy="137545"/>
            </a:xfrm>
            <a:prstGeom prst="rect">
              <a:avLst/>
            </a:prstGeom>
            <a:solidFill>
              <a:srgbClr val="F4B18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62" name="直接连接符 61"/>
            <p:cNvCxnSpPr/>
            <p:nvPr/>
          </p:nvCxnSpPr>
          <p:spPr>
            <a:xfrm>
              <a:off x="2381250" y="898745"/>
              <a:ext cx="8286750" cy="0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矩形 1"/>
          <p:cNvSpPr/>
          <p:nvPr/>
        </p:nvSpPr>
        <p:spPr>
          <a:xfrm>
            <a:off x="1083734" y="1577046"/>
            <a:ext cx="10223620" cy="257666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indent="457200">
              <a:lnSpc>
                <a:spcPct val="150000"/>
              </a:lnSpc>
            </a:pPr>
            <a:r>
              <a:rPr lang="zh-CN" altLang="en-US" sz="2800" b="1" dirty="0">
                <a:solidFill>
                  <a:schemeClr val="bg1"/>
                </a:solidFill>
                <a:latin typeface="宋体-18030" pitchFamily="49" charset="-122"/>
                <a:ea typeface="宋体-18030" pitchFamily="49" charset="-122"/>
              </a:rPr>
              <a:t>用</a:t>
            </a:r>
            <a:r>
              <a:rPr lang="en-US" altLang="zh-CN" sz="2800" b="1" dirty="0">
                <a:solidFill>
                  <a:schemeClr val="bg1"/>
                </a:solidFill>
                <a:latin typeface="宋体-18030" pitchFamily="49" charset="-122"/>
                <a:ea typeface="宋体-18030" pitchFamily="49" charset="-122"/>
              </a:rPr>
              <a:t>4</a:t>
            </a:r>
            <a:r>
              <a:rPr lang="zh-CN" altLang="en-US" sz="2800" b="1" dirty="0">
                <a:solidFill>
                  <a:schemeClr val="bg1"/>
                </a:solidFill>
                <a:latin typeface="宋体-18030" pitchFamily="49" charset="-122"/>
                <a:ea typeface="宋体-18030" pitchFamily="49" charset="-122"/>
              </a:rPr>
              <a:t>选</a:t>
            </a:r>
            <a:r>
              <a:rPr lang="en-US" altLang="zh-CN" sz="2800" b="1" dirty="0">
                <a:solidFill>
                  <a:schemeClr val="bg1"/>
                </a:solidFill>
                <a:latin typeface="宋体-18030" pitchFamily="49" charset="-122"/>
                <a:ea typeface="宋体-18030" pitchFamily="49" charset="-122"/>
              </a:rPr>
              <a:t>1</a:t>
            </a:r>
            <a:r>
              <a:rPr lang="zh-CN" altLang="en-US" sz="2800" b="1" dirty="0">
                <a:solidFill>
                  <a:schemeClr val="bg1"/>
                </a:solidFill>
                <a:latin typeface="宋体-18030" pitchFamily="49" charset="-122"/>
                <a:ea typeface="宋体-18030" pitchFamily="49" charset="-122"/>
              </a:rPr>
              <a:t>数据选择器</a:t>
            </a:r>
            <a:r>
              <a:rPr lang="en-US" altLang="zh-CN" sz="2800" b="1" dirty="0">
                <a:solidFill>
                  <a:schemeClr val="bg1"/>
                </a:solidFill>
                <a:latin typeface="宋体-18030" pitchFamily="49" charset="-122"/>
                <a:ea typeface="宋体-18030" pitchFamily="49" charset="-122"/>
              </a:rPr>
              <a:t>74LS153</a:t>
            </a:r>
            <a:r>
              <a:rPr lang="zh-CN" altLang="en-US" sz="2800" b="1" dirty="0">
                <a:solidFill>
                  <a:schemeClr val="bg1"/>
                </a:solidFill>
                <a:latin typeface="宋体-18030" pitchFamily="49" charset="-122"/>
                <a:ea typeface="宋体-18030" pitchFamily="49" charset="-122"/>
              </a:rPr>
              <a:t>加必要的门电路实现下列逻辑函数，采用实验方法验证。</a:t>
            </a:r>
            <a:endParaRPr lang="en-US" altLang="zh-CN" sz="2800" b="1" dirty="0">
              <a:solidFill>
                <a:schemeClr val="bg1"/>
              </a:solidFill>
              <a:latin typeface="宋体-18030" pitchFamily="49" charset="-122"/>
              <a:ea typeface="宋体-18030" pitchFamily="49" charset="-122"/>
            </a:endParaRPr>
          </a:p>
          <a:p>
            <a:pPr indent="457200">
              <a:lnSpc>
                <a:spcPct val="150000"/>
              </a:lnSpc>
            </a:pPr>
            <a:r>
              <a:rPr lang="en-US" altLang="zh-CN" sz="2800" b="1" dirty="0">
                <a:solidFill>
                  <a:schemeClr val="bg1"/>
                </a:solidFill>
                <a:latin typeface="宋体-18030" pitchFamily="49" charset="-122"/>
                <a:ea typeface="宋体-18030" pitchFamily="49" charset="-122"/>
              </a:rPr>
              <a:t>F</a:t>
            </a:r>
            <a:r>
              <a:rPr lang="zh-CN" altLang="en-US" sz="2800" b="1" dirty="0">
                <a:solidFill>
                  <a:schemeClr val="bg1"/>
                </a:solidFill>
                <a:latin typeface="宋体-18030" pitchFamily="49" charset="-122"/>
                <a:ea typeface="宋体-18030" pitchFamily="49" charset="-122"/>
              </a:rPr>
              <a:t>（</a:t>
            </a:r>
            <a:r>
              <a:rPr lang="en-US" altLang="zh-CN" sz="2800" b="1" dirty="0">
                <a:solidFill>
                  <a:schemeClr val="bg1"/>
                </a:solidFill>
                <a:latin typeface="宋体-18030" pitchFamily="49" charset="-122"/>
                <a:ea typeface="宋体-18030" pitchFamily="49" charset="-122"/>
              </a:rPr>
              <a:t>A</a:t>
            </a:r>
            <a:r>
              <a:rPr lang="zh-CN" altLang="en-US" sz="2800" b="1" dirty="0">
                <a:solidFill>
                  <a:schemeClr val="bg1"/>
                </a:solidFill>
                <a:latin typeface="宋体-18030" pitchFamily="49" charset="-122"/>
                <a:ea typeface="宋体-18030" pitchFamily="49" charset="-122"/>
              </a:rPr>
              <a:t>，</a:t>
            </a:r>
            <a:r>
              <a:rPr lang="en-US" altLang="zh-CN" sz="2800" b="1" dirty="0">
                <a:solidFill>
                  <a:schemeClr val="bg1"/>
                </a:solidFill>
                <a:latin typeface="宋体-18030" pitchFamily="49" charset="-122"/>
                <a:ea typeface="宋体-18030" pitchFamily="49" charset="-122"/>
              </a:rPr>
              <a:t>B</a:t>
            </a:r>
            <a:r>
              <a:rPr lang="zh-CN" altLang="en-US" sz="2800" b="1" dirty="0">
                <a:solidFill>
                  <a:schemeClr val="bg1"/>
                </a:solidFill>
                <a:latin typeface="宋体-18030" pitchFamily="49" charset="-122"/>
                <a:ea typeface="宋体-18030" pitchFamily="49" charset="-122"/>
              </a:rPr>
              <a:t>，</a:t>
            </a:r>
            <a:r>
              <a:rPr lang="en-US" altLang="zh-CN" sz="2800" b="1" dirty="0">
                <a:solidFill>
                  <a:schemeClr val="bg1"/>
                </a:solidFill>
                <a:latin typeface="宋体-18030" pitchFamily="49" charset="-122"/>
                <a:ea typeface="宋体-18030" pitchFamily="49" charset="-122"/>
              </a:rPr>
              <a:t>C</a:t>
            </a:r>
            <a:r>
              <a:rPr lang="zh-CN" altLang="en-US" sz="2800" b="1" dirty="0">
                <a:solidFill>
                  <a:schemeClr val="bg1"/>
                </a:solidFill>
                <a:latin typeface="宋体-18030" pitchFamily="49" charset="-122"/>
                <a:ea typeface="宋体-18030" pitchFamily="49" charset="-122"/>
              </a:rPr>
              <a:t>，</a:t>
            </a:r>
            <a:r>
              <a:rPr lang="en-US" altLang="zh-CN" sz="2800" b="1" dirty="0">
                <a:solidFill>
                  <a:schemeClr val="bg1"/>
                </a:solidFill>
                <a:latin typeface="宋体-18030" pitchFamily="49" charset="-122"/>
                <a:ea typeface="宋体-18030" pitchFamily="49" charset="-122"/>
              </a:rPr>
              <a:t>D</a:t>
            </a:r>
            <a:r>
              <a:rPr lang="zh-CN" altLang="en-US" sz="2800" b="1" dirty="0">
                <a:solidFill>
                  <a:schemeClr val="bg1"/>
                </a:solidFill>
                <a:latin typeface="宋体-18030" pitchFamily="49" charset="-122"/>
                <a:ea typeface="宋体-18030" pitchFamily="49" charset="-122"/>
              </a:rPr>
              <a:t>）</a:t>
            </a:r>
            <a:r>
              <a:rPr lang="en-US" altLang="zh-CN" sz="2800" b="1" dirty="0">
                <a:solidFill>
                  <a:schemeClr val="bg1"/>
                </a:solidFill>
                <a:latin typeface="宋体-18030" pitchFamily="49" charset="-122"/>
                <a:ea typeface="宋体-18030" pitchFamily="49" charset="-122"/>
              </a:rPr>
              <a:t>=∑</a:t>
            </a:r>
            <a:r>
              <a:rPr lang="en-GB" altLang="zh-CN" sz="2800" b="1" dirty="0">
                <a:solidFill>
                  <a:schemeClr val="bg1"/>
                </a:solidFill>
                <a:latin typeface="宋体-18030" pitchFamily="49" charset="-122"/>
                <a:ea typeface="宋体-18030" pitchFamily="49" charset="-122"/>
              </a:rPr>
              <a:t>m</a:t>
            </a:r>
            <a:r>
              <a:rPr lang="en-US" altLang="zh-CN" sz="2800" b="1" dirty="0">
                <a:solidFill>
                  <a:schemeClr val="bg1"/>
                </a:solidFill>
                <a:latin typeface="宋体-18030" pitchFamily="49" charset="-122"/>
                <a:ea typeface="宋体-18030" pitchFamily="49" charset="-122"/>
              </a:rPr>
              <a:t>(1,2,3,10,11,12,13) </a:t>
            </a:r>
            <a:endParaRPr lang="en-US" altLang="zh-CN" sz="2800" b="1" dirty="0">
              <a:solidFill>
                <a:schemeClr val="bg1"/>
              </a:solidFill>
              <a:latin typeface="宋体-18030" pitchFamily="49" charset="-122"/>
              <a:ea typeface="宋体-18030" pitchFamily="49" charset="-122"/>
            </a:endParaRPr>
          </a:p>
          <a:p>
            <a:pPr indent="457200">
              <a:lnSpc>
                <a:spcPct val="150000"/>
              </a:lnSpc>
            </a:pPr>
            <a:r>
              <a:rPr lang="zh-CN" altLang="en-US" sz="2800" b="1" dirty="0">
                <a:solidFill>
                  <a:schemeClr val="bg1"/>
                </a:solidFill>
                <a:latin typeface="宋体-18030" pitchFamily="49" charset="-122"/>
                <a:ea typeface="宋体-18030" pitchFamily="49" charset="-122"/>
              </a:rPr>
              <a:t>（可以采用功能扩展法或</a:t>
            </a:r>
            <a:r>
              <a:rPr lang="zh-CN" altLang="en-US" sz="2800" b="1" dirty="0">
                <a:solidFill>
                  <a:srgbClr val="FF00FF"/>
                </a:solidFill>
                <a:latin typeface="宋体-18030" pitchFamily="49" charset="-122"/>
                <a:ea typeface="宋体-18030" pitchFamily="49" charset="-122"/>
              </a:rPr>
              <a:t>降维图法</a:t>
            </a:r>
            <a:r>
              <a:rPr lang="zh-CN" altLang="en-US" sz="2800" b="1" dirty="0">
                <a:solidFill>
                  <a:schemeClr val="bg1"/>
                </a:solidFill>
                <a:latin typeface="宋体-18030" pitchFamily="49" charset="-122"/>
                <a:ea typeface="宋体-18030" pitchFamily="49" charset="-122"/>
              </a:rPr>
              <a:t>进行设计）；</a:t>
            </a:r>
            <a:endParaRPr lang="en-US" altLang="zh-CN" sz="2800" b="1" dirty="0">
              <a:solidFill>
                <a:schemeClr val="bg1"/>
              </a:solidFill>
              <a:latin typeface="宋体-18030" pitchFamily="49" charset="-122"/>
              <a:ea typeface="宋体-18030" pitchFamily="49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7" name="组合 56"/>
          <p:cNvGrpSpPr/>
          <p:nvPr/>
        </p:nvGrpSpPr>
        <p:grpSpPr>
          <a:xfrm>
            <a:off x="134487" y="360136"/>
            <a:ext cx="10533513" cy="1077218"/>
            <a:chOff x="134487" y="360136"/>
            <a:chExt cx="10533513" cy="1077218"/>
          </a:xfrm>
        </p:grpSpPr>
        <p:sp>
          <p:nvSpPr>
            <p:cNvPr id="58" name="TextBox 39"/>
            <p:cNvSpPr txBox="1"/>
            <p:nvPr/>
          </p:nvSpPr>
          <p:spPr>
            <a:xfrm>
              <a:off x="272033" y="360136"/>
              <a:ext cx="2343426" cy="107721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zh-CN" altLang="en-US" sz="3200" dirty="0">
                  <a:solidFill>
                    <a:schemeClr val="bg1"/>
                  </a:solidFill>
                  <a:latin typeface="宋体-18030" pitchFamily="49" charset="-122"/>
                  <a:ea typeface="宋体-18030" pitchFamily="49" charset="-122"/>
                </a:rPr>
                <a:t>逻辑函数</a:t>
              </a:r>
              <a:endParaRPr lang="en-US" altLang="zh-CN" sz="3200" dirty="0">
                <a:solidFill>
                  <a:schemeClr val="bg1"/>
                </a:solidFill>
                <a:latin typeface="宋体-18030" pitchFamily="49" charset="-122"/>
                <a:ea typeface="宋体-18030" pitchFamily="49" charset="-122"/>
              </a:endParaRPr>
            </a:p>
            <a:p>
              <a:pPr algn="ctr"/>
              <a:r>
                <a:rPr lang="zh-CN" altLang="en-US" sz="3200" dirty="0">
                  <a:solidFill>
                    <a:schemeClr val="bg1"/>
                  </a:solidFill>
                  <a:latin typeface="宋体-18030" pitchFamily="49" charset="-122"/>
                  <a:ea typeface="宋体-18030" pitchFamily="49" charset="-122"/>
                </a:rPr>
                <a:t>实现</a:t>
              </a:r>
              <a:endParaRPr lang="en-US" altLang="zh-CN" sz="3200" dirty="0">
                <a:solidFill>
                  <a:schemeClr val="bg1"/>
                </a:solidFill>
              </a:endParaRPr>
            </a:p>
          </p:txBody>
        </p:sp>
        <p:sp>
          <p:nvSpPr>
            <p:cNvPr id="59" name="Rectangle 41"/>
            <p:cNvSpPr/>
            <p:nvPr/>
          </p:nvSpPr>
          <p:spPr>
            <a:xfrm rot="16200000">
              <a:off x="95249" y="885029"/>
              <a:ext cx="457200" cy="27432"/>
            </a:xfrm>
            <a:prstGeom prst="rect">
              <a:avLst/>
            </a:prstGeom>
            <a:solidFill>
              <a:srgbClr val="F4B18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1" name="Rectangle 41"/>
            <p:cNvSpPr/>
            <p:nvPr/>
          </p:nvSpPr>
          <p:spPr>
            <a:xfrm rot="16200000">
              <a:off x="-25340" y="829973"/>
              <a:ext cx="457200" cy="137545"/>
            </a:xfrm>
            <a:prstGeom prst="rect">
              <a:avLst/>
            </a:prstGeom>
            <a:solidFill>
              <a:srgbClr val="F4B18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62" name="直接连接符 61"/>
            <p:cNvCxnSpPr/>
            <p:nvPr/>
          </p:nvCxnSpPr>
          <p:spPr>
            <a:xfrm>
              <a:off x="2381250" y="898745"/>
              <a:ext cx="8286750" cy="0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矩形 1"/>
          <p:cNvSpPr/>
          <p:nvPr/>
        </p:nvSpPr>
        <p:spPr>
          <a:xfrm>
            <a:off x="3615267" y="967446"/>
            <a:ext cx="4080933" cy="73866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indent="457200">
              <a:lnSpc>
                <a:spcPct val="150000"/>
              </a:lnSpc>
            </a:pPr>
            <a:r>
              <a:rPr lang="zh-CN" altLang="en-US" sz="2800" b="1" dirty="0">
                <a:solidFill>
                  <a:schemeClr val="bg1"/>
                </a:solidFill>
                <a:latin typeface="宋体-18030" pitchFamily="49" charset="-122"/>
                <a:ea typeface="宋体-18030" pitchFamily="49" charset="-122"/>
              </a:rPr>
              <a:t>做出</a:t>
            </a:r>
            <a:r>
              <a:rPr lang="en-US" altLang="zh-CN" sz="2800" b="1" dirty="0">
                <a:solidFill>
                  <a:schemeClr val="bg1"/>
                </a:solidFill>
                <a:latin typeface="宋体-18030" pitchFamily="49" charset="-122"/>
                <a:ea typeface="宋体-18030" pitchFamily="49" charset="-122"/>
              </a:rPr>
              <a:t>F</a:t>
            </a:r>
            <a:r>
              <a:rPr lang="zh-CN" altLang="en-US" sz="2800" b="1" dirty="0">
                <a:solidFill>
                  <a:schemeClr val="bg1"/>
                </a:solidFill>
                <a:latin typeface="宋体-18030" pitchFamily="49" charset="-122"/>
                <a:ea typeface="宋体-18030" pitchFamily="49" charset="-122"/>
              </a:rPr>
              <a:t>的卡诺图</a:t>
            </a:r>
            <a:endParaRPr lang="zh-CN" altLang="en-US" sz="2800" b="1" dirty="0">
              <a:solidFill>
                <a:schemeClr val="bg1"/>
              </a:solidFill>
              <a:latin typeface="宋体-18030" pitchFamily="49" charset="-122"/>
              <a:ea typeface="宋体-18030" pitchFamily="49" charset="-122"/>
            </a:endParaRPr>
          </a:p>
        </p:txBody>
      </p:sp>
      <p:graphicFrame>
        <p:nvGraphicFramePr>
          <p:cNvPr id="3" name="表格 2"/>
          <p:cNvGraphicFramePr>
            <a:graphicFrameLocks noGrp="1"/>
          </p:cNvGraphicFramePr>
          <p:nvPr/>
        </p:nvGraphicFramePr>
        <p:xfrm>
          <a:off x="3793068" y="2874681"/>
          <a:ext cx="3903132" cy="3141132"/>
        </p:xfrm>
        <a:graphic>
          <a:graphicData uri="http://schemas.openxmlformats.org/drawingml/2006/table">
            <a:tbl>
              <a:tblPr firstRow="1" bandRow="1">
                <a:tableStyleId>{22838BEF-8BB2-4498-84A7-C5851F593DF1}</a:tableStyleId>
              </a:tblPr>
              <a:tblGrid>
                <a:gridCol w="975783"/>
                <a:gridCol w="975783"/>
                <a:gridCol w="975783"/>
                <a:gridCol w="975783"/>
              </a:tblGrid>
              <a:tr h="785283">
                <a:tc>
                  <a:txBody>
                    <a:bodyPr/>
                    <a:lstStyle/>
                    <a:p>
                      <a:r>
                        <a:rPr lang="en-US" altLang="zh-CN" sz="3200" dirty="0">
                          <a:latin typeface="Arial Unicode MS" panose="020B0604020202020204" pitchFamily="34" charset="-122"/>
                          <a:ea typeface="Arial Unicode MS" panose="020B0604020202020204" pitchFamily="34" charset="-122"/>
                          <a:cs typeface="Arial Unicode MS" panose="020B0604020202020204" pitchFamily="34" charset="-122"/>
                        </a:rPr>
                        <a:t>0</a:t>
                      </a:r>
                      <a:endParaRPr lang="zh-CN" altLang="en-US" sz="3200" dirty="0">
                        <a:latin typeface="Arial Unicode MS" panose="020B0604020202020204" pitchFamily="34" charset="-122"/>
                        <a:ea typeface="Arial Unicode MS" panose="020B0604020202020204" pitchFamily="34" charset="-122"/>
                        <a:cs typeface="Arial Unicode MS" panose="020B0604020202020204" pitchFamily="34" charset="-122"/>
                      </a:endParaRP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r>
                        <a:rPr lang="en-US" altLang="zh-CN" sz="3200" dirty="0">
                          <a:latin typeface="Arial Unicode MS" panose="020B0604020202020204" pitchFamily="34" charset="-122"/>
                          <a:ea typeface="Arial Unicode MS" panose="020B0604020202020204" pitchFamily="34" charset="-122"/>
                          <a:cs typeface="Arial Unicode MS" panose="020B0604020202020204" pitchFamily="34" charset="-122"/>
                        </a:rPr>
                        <a:t>0</a:t>
                      </a:r>
                      <a:endParaRPr lang="zh-CN" altLang="en-US" sz="3200" dirty="0">
                        <a:latin typeface="Arial Unicode MS" panose="020B0604020202020204" pitchFamily="34" charset="-122"/>
                        <a:ea typeface="Arial Unicode MS" panose="020B0604020202020204" pitchFamily="34" charset="-122"/>
                        <a:cs typeface="Arial Unicode MS" panose="020B0604020202020204" pitchFamily="34" charset="-122"/>
                      </a:endParaRP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r>
                        <a:rPr lang="en-US" altLang="zh-CN" sz="3200" dirty="0">
                          <a:latin typeface="Arial Unicode MS" panose="020B0604020202020204" pitchFamily="34" charset="-122"/>
                          <a:ea typeface="Arial Unicode MS" panose="020B0604020202020204" pitchFamily="34" charset="-122"/>
                          <a:cs typeface="Arial Unicode MS" panose="020B0604020202020204" pitchFamily="34" charset="-122"/>
                        </a:rPr>
                        <a:t>1</a:t>
                      </a:r>
                      <a:endParaRPr lang="zh-CN" altLang="en-US" sz="3200" dirty="0">
                        <a:latin typeface="Arial Unicode MS" panose="020B0604020202020204" pitchFamily="34" charset="-122"/>
                        <a:ea typeface="Arial Unicode MS" panose="020B0604020202020204" pitchFamily="34" charset="-122"/>
                        <a:cs typeface="Arial Unicode MS" panose="020B0604020202020204" pitchFamily="34" charset="-122"/>
                      </a:endParaRP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r>
                        <a:rPr lang="en-US" altLang="zh-CN" sz="3200" dirty="0">
                          <a:latin typeface="Arial Unicode MS" panose="020B0604020202020204" pitchFamily="34" charset="-122"/>
                          <a:ea typeface="Arial Unicode MS" panose="020B0604020202020204" pitchFamily="34" charset="-122"/>
                          <a:cs typeface="Arial Unicode MS" panose="020B0604020202020204" pitchFamily="34" charset="-122"/>
                        </a:rPr>
                        <a:t>0</a:t>
                      </a:r>
                      <a:endParaRPr lang="zh-CN" altLang="en-US" sz="3200" dirty="0">
                        <a:latin typeface="Arial Unicode MS" panose="020B0604020202020204" pitchFamily="34" charset="-122"/>
                        <a:ea typeface="Arial Unicode MS" panose="020B0604020202020204" pitchFamily="34" charset="-122"/>
                        <a:cs typeface="Arial Unicode MS" panose="020B0604020202020204" pitchFamily="34" charset="-122"/>
                      </a:endParaRPr>
                    </a:p>
                  </a:txBody>
                  <a:tcPr anchor="ctr" anchorCtr="1"/>
                </a:tc>
              </a:tr>
              <a:tr h="785283">
                <a:tc>
                  <a:txBody>
                    <a:bodyPr/>
                    <a:lstStyle/>
                    <a:p>
                      <a:r>
                        <a:rPr lang="en-US" altLang="zh-CN" sz="3200" dirty="0">
                          <a:latin typeface="Arial Unicode MS" panose="020B0604020202020204" pitchFamily="34" charset="-122"/>
                          <a:ea typeface="Arial Unicode MS" panose="020B0604020202020204" pitchFamily="34" charset="-122"/>
                          <a:cs typeface="Arial Unicode MS" panose="020B0604020202020204" pitchFamily="34" charset="-122"/>
                        </a:rPr>
                        <a:t>1</a:t>
                      </a:r>
                      <a:endParaRPr lang="zh-CN" altLang="en-US" sz="3200" dirty="0">
                        <a:latin typeface="Arial Unicode MS" panose="020B0604020202020204" pitchFamily="34" charset="-122"/>
                        <a:ea typeface="Arial Unicode MS" panose="020B0604020202020204" pitchFamily="34" charset="-122"/>
                        <a:cs typeface="Arial Unicode MS" panose="020B0604020202020204" pitchFamily="34" charset="-122"/>
                      </a:endParaRP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r>
                        <a:rPr lang="en-US" altLang="zh-CN" sz="3200" dirty="0">
                          <a:latin typeface="Arial Unicode MS" panose="020B0604020202020204" pitchFamily="34" charset="-122"/>
                          <a:ea typeface="Arial Unicode MS" panose="020B0604020202020204" pitchFamily="34" charset="-122"/>
                          <a:cs typeface="Arial Unicode MS" panose="020B0604020202020204" pitchFamily="34" charset="-122"/>
                        </a:rPr>
                        <a:t>0</a:t>
                      </a:r>
                      <a:endParaRPr lang="zh-CN" altLang="en-US" sz="3200" dirty="0">
                        <a:latin typeface="Arial Unicode MS" panose="020B0604020202020204" pitchFamily="34" charset="-122"/>
                        <a:ea typeface="Arial Unicode MS" panose="020B0604020202020204" pitchFamily="34" charset="-122"/>
                        <a:cs typeface="Arial Unicode MS" panose="020B0604020202020204" pitchFamily="34" charset="-122"/>
                      </a:endParaRP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r>
                        <a:rPr lang="en-US" altLang="zh-CN" sz="3200" dirty="0">
                          <a:latin typeface="Arial Unicode MS" panose="020B0604020202020204" pitchFamily="34" charset="-122"/>
                          <a:ea typeface="Arial Unicode MS" panose="020B0604020202020204" pitchFamily="34" charset="-122"/>
                          <a:cs typeface="Arial Unicode MS" panose="020B0604020202020204" pitchFamily="34" charset="-122"/>
                        </a:rPr>
                        <a:t>1</a:t>
                      </a:r>
                      <a:endParaRPr lang="zh-CN" altLang="en-US" sz="3200" dirty="0">
                        <a:latin typeface="Arial Unicode MS" panose="020B0604020202020204" pitchFamily="34" charset="-122"/>
                        <a:ea typeface="Arial Unicode MS" panose="020B0604020202020204" pitchFamily="34" charset="-122"/>
                        <a:cs typeface="Arial Unicode MS" panose="020B0604020202020204" pitchFamily="34" charset="-122"/>
                      </a:endParaRP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r>
                        <a:rPr lang="en-US" altLang="zh-CN" sz="3200" dirty="0">
                          <a:latin typeface="Arial Unicode MS" panose="020B0604020202020204" pitchFamily="34" charset="-122"/>
                          <a:ea typeface="Arial Unicode MS" panose="020B0604020202020204" pitchFamily="34" charset="-122"/>
                          <a:cs typeface="Arial Unicode MS" panose="020B0604020202020204" pitchFamily="34" charset="-122"/>
                        </a:rPr>
                        <a:t>0</a:t>
                      </a:r>
                      <a:endParaRPr lang="zh-CN" altLang="en-US" sz="3200" dirty="0">
                        <a:latin typeface="Arial Unicode MS" panose="020B0604020202020204" pitchFamily="34" charset="-122"/>
                        <a:ea typeface="Arial Unicode MS" panose="020B0604020202020204" pitchFamily="34" charset="-122"/>
                        <a:cs typeface="Arial Unicode MS" panose="020B0604020202020204" pitchFamily="34" charset="-122"/>
                      </a:endParaRPr>
                    </a:p>
                  </a:txBody>
                  <a:tcPr anchor="ctr" anchorCtr="1"/>
                </a:tc>
              </a:tr>
              <a:tr h="785283">
                <a:tc>
                  <a:txBody>
                    <a:bodyPr/>
                    <a:lstStyle/>
                    <a:p>
                      <a:r>
                        <a:rPr lang="en-US" altLang="zh-CN" sz="3200" dirty="0">
                          <a:latin typeface="Arial Unicode MS" panose="020B0604020202020204" pitchFamily="34" charset="-122"/>
                          <a:ea typeface="Arial Unicode MS" panose="020B0604020202020204" pitchFamily="34" charset="-122"/>
                          <a:cs typeface="Arial Unicode MS" panose="020B0604020202020204" pitchFamily="34" charset="-122"/>
                        </a:rPr>
                        <a:t>1</a:t>
                      </a:r>
                      <a:endParaRPr lang="zh-CN" altLang="en-US" sz="3200" dirty="0">
                        <a:latin typeface="Arial Unicode MS" panose="020B0604020202020204" pitchFamily="34" charset="-122"/>
                        <a:ea typeface="Arial Unicode MS" panose="020B0604020202020204" pitchFamily="34" charset="-122"/>
                        <a:cs typeface="Arial Unicode MS" panose="020B0604020202020204" pitchFamily="34" charset="-122"/>
                      </a:endParaRP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r>
                        <a:rPr lang="en-US" altLang="zh-CN" sz="3200" dirty="0">
                          <a:latin typeface="Arial Unicode MS" panose="020B0604020202020204" pitchFamily="34" charset="-122"/>
                          <a:ea typeface="Arial Unicode MS" panose="020B0604020202020204" pitchFamily="34" charset="-122"/>
                          <a:cs typeface="Arial Unicode MS" panose="020B0604020202020204" pitchFamily="34" charset="-122"/>
                        </a:rPr>
                        <a:t>0</a:t>
                      </a:r>
                      <a:endParaRPr lang="zh-CN" altLang="en-US" sz="3200" dirty="0">
                        <a:latin typeface="Arial Unicode MS" panose="020B0604020202020204" pitchFamily="34" charset="-122"/>
                        <a:ea typeface="Arial Unicode MS" panose="020B0604020202020204" pitchFamily="34" charset="-122"/>
                        <a:cs typeface="Arial Unicode MS" panose="020B0604020202020204" pitchFamily="34" charset="-122"/>
                      </a:endParaRP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r>
                        <a:rPr lang="en-US" altLang="zh-CN" sz="3200" dirty="0">
                          <a:latin typeface="Arial Unicode MS" panose="020B0604020202020204" pitchFamily="34" charset="-122"/>
                          <a:ea typeface="Arial Unicode MS" panose="020B0604020202020204" pitchFamily="34" charset="-122"/>
                          <a:cs typeface="Arial Unicode MS" panose="020B0604020202020204" pitchFamily="34" charset="-122"/>
                        </a:rPr>
                        <a:t>0</a:t>
                      </a:r>
                      <a:endParaRPr lang="zh-CN" altLang="en-US" sz="3200" dirty="0">
                        <a:latin typeface="Arial Unicode MS" panose="020B0604020202020204" pitchFamily="34" charset="-122"/>
                        <a:ea typeface="Arial Unicode MS" panose="020B0604020202020204" pitchFamily="34" charset="-122"/>
                        <a:cs typeface="Arial Unicode MS" panose="020B0604020202020204" pitchFamily="34" charset="-122"/>
                      </a:endParaRP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r>
                        <a:rPr lang="en-US" altLang="zh-CN" sz="3200" dirty="0">
                          <a:latin typeface="Arial Unicode MS" panose="020B0604020202020204" pitchFamily="34" charset="-122"/>
                          <a:ea typeface="Arial Unicode MS" panose="020B0604020202020204" pitchFamily="34" charset="-122"/>
                          <a:cs typeface="Arial Unicode MS" panose="020B0604020202020204" pitchFamily="34" charset="-122"/>
                        </a:rPr>
                        <a:t>1</a:t>
                      </a:r>
                      <a:endParaRPr lang="zh-CN" altLang="en-US" sz="3200" dirty="0">
                        <a:latin typeface="Arial Unicode MS" panose="020B0604020202020204" pitchFamily="34" charset="-122"/>
                        <a:ea typeface="Arial Unicode MS" panose="020B0604020202020204" pitchFamily="34" charset="-122"/>
                        <a:cs typeface="Arial Unicode MS" panose="020B0604020202020204" pitchFamily="34" charset="-122"/>
                      </a:endParaRPr>
                    </a:p>
                  </a:txBody>
                  <a:tcPr anchor="ctr" anchorCtr="1"/>
                </a:tc>
              </a:tr>
              <a:tr h="785283">
                <a:tc>
                  <a:txBody>
                    <a:bodyPr/>
                    <a:lstStyle/>
                    <a:p>
                      <a:r>
                        <a:rPr lang="en-US" altLang="zh-CN" sz="3200" dirty="0">
                          <a:latin typeface="Arial Unicode MS" panose="020B0604020202020204" pitchFamily="34" charset="-122"/>
                          <a:ea typeface="Arial Unicode MS" panose="020B0604020202020204" pitchFamily="34" charset="-122"/>
                          <a:cs typeface="Arial Unicode MS" panose="020B0604020202020204" pitchFamily="34" charset="-122"/>
                        </a:rPr>
                        <a:t>1</a:t>
                      </a:r>
                      <a:endParaRPr lang="zh-CN" altLang="en-US" sz="3200" dirty="0">
                        <a:latin typeface="Arial Unicode MS" panose="020B0604020202020204" pitchFamily="34" charset="-122"/>
                        <a:ea typeface="Arial Unicode MS" panose="020B0604020202020204" pitchFamily="34" charset="-122"/>
                        <a:cs typeface="Arial Unicode MS" panose="020B0604020202020204" pitchFamily="34" charset="-122"/>
                      </a:endParaRP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r>
                        <a:rPr lang="en-US" altLang="zh-CN" sz="3200" dirty="0">
                          <a:latin typeface="Arial Unicode MS" panose="020B0604020202020204" pitchFamily="34" charset="-122"/>
                          <a:ea typeface="Arial Unicode MS" panose="020B0604020202020204" pitchFamily="34" charset="-122"/>
                          <a:cs typeface="Arial Unicode MS" panose="020B0604020202020204" pitchFamily="34" charset="-122"/>
                        </a:rPr>
                        <a:t>0</a:t>
                      </a:r>
                      <a:endParaRPr lang="zh-CN" altLang="en-US" sz="3200" dirty="0">
                        <a:latin typeface="Arial Unicode MS" panose="020B0604020202020204" pitchFamily="34" charset="-122"/>
                        <a:ea typeface="Arial Unicode MS" panose="020B0604020202020204" pitchFamily="34" charset="-122"/>
                        <a:cs typeface="Arial Unicode MS" panose="020B0604020202020204" pitchFamily="34" charset="-122"/>
                      </a:endParaRP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r>
                        <a:rPr lang="en-US" altLang="zh-CN" sz="3200" dirty="0">
                          <a:latin typeface="Arial Unicode MS" panose="020B0604020202020204" pitchFamily="34" charset="-122"/>
                          <a:ea typeface="Arial Unicode MS" panose="020B0604020202020204" pitchFamily="34" charset="-122"/>
                          <a:cs typeface="Arial Unicode MS" panose="020B0604020202020204" pitchFamily="34" charset="-122"/>
                        </a:rPr>
                        <a:t>0</a:t>
                      </a:r>
                      <a:endParaRPr lang="zh-CN" altLang="en-US" sz="3200" dirty="0">
                        <a:latin typeface="Arial Unicode MS" panose="020B0604020202020204" pitchFamily="34" charset="-122"/>
                        <a:ea typeface="Arial Unicode MS" panose="020B0604020202020204" pitchFamily="34" charset="-122"/>
                        <a:cs typeface="Arial Unicode MS" panose="020B0604020202020204" pitchFamily="34" charset="-122"/>
                      </a:endParaRP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r>
                        <a:rPr lang="en-US" altLang="zh-CN" sz="3200" dirty="0">
                          <a:latin typeface="Arial Unicode MS" panose="020B0604020202020204" pitchFamily="34" charset="-122"/>
                          <a:ea typeface="Arial Unicode MS" panose="020B0604020202020204" pitchFamily="34" charset="-122"/>
                          <a:cs typeface="Arial Unicode MS" panose="020B0604020202020204" pitchFamily="34" charset="-122"/>
                        </a:rPr>
                        <a:t>1</a:t>
                      </a:r>
                      <a:endParaRPr lang="zh-CN" altLang="en-US" sz="3200" dirty="0">
                        <a:latin typeface="Arial Unicode MS" panose="020B0604020202020204" pitchFamily="34" charset="-122"/>
                        <a:ea typeface="Arial Unicode MS" panose="020B0604020202020204" pitchFamily="34" charset="-122"/>
                        <a:cs typeface="Arial Unicode MS" panose="020B0604020202020204" pitchFamily="34" charset="-122"/>
                      </a:endParaRPr>
                    </a:p>
                  </a:txBody>
                  <a:tcPr anchor="ctr" anchorCtr="1"/>
                </a:tc>
              </a:tr>
            </a:tbl>
          </a:graphicData>
        </a:graphic>
      </p:graphicFrame>
      <p:cxnSp>
        <p:nvCxnSpPr>
          <p:cNvPr id="6" name="直接连接符 5"/>
          <p:cNvCxnSpPr/>
          <p:nvPr/>
        </p:nvCxnSpPr>
        <p:spPr>
          <a:xfrm flipH="1" flipV="1">
            <a:off x="3251202" y="2332815"/>
            <a:ext cx="541866" cy="541866"/>
          </a:xfrm>
          <a:prstGeom prst="line">
            <a:avLst/>
          </a:prstGeom>
          <a:ln w="2857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文本框 6"/>
          <p:cNvSpPr txBox="1"/>
          <p:nvPr/>
        </p:nvSpPr>
        <p:spPr>
          <a:xfrm>
            <a:off x="3310098" y="2067317"/>
            <a:ext cx="7620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b="1" dirty="0">
                <a:solidFill>
                  <a:schemeClr val="bg1"/>
                </a:solidFill>
              </a:rPr>
              <a:t>AB</a:t>
            </a:r>
            <a:endParaRPr lang="zh-CN" altLang="en-US" sz="2400" b="1" dirty="0">
              <a:solidFill>
                <a:schemeClr val="bg1"/>
              </a:solidFill>
            </a:endParaRPr>
          </a:p>
        </p:txBody>
      </p:sp>
      <p:sp>
        <p:nvSpPr>
          <p:cNvPr id="13" name="文本框 12"/>
          <p:cNvSpPr txBox="1"/>
          <p:nvPr/>
        </p:nvSpPr>
        <p:spPr>
          <a:xfrm>
            <a:off x="2870202" y="2409758"/>
            <a:ext cx="7620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b="1" dirty="0">
                <a:solidFill>
                  <a:schemeClr val="bg1"/>
                </a:solidFill>
              </a:rPr>
              <a:t>CD</a:t>
            </a:r>
            <a:endParaRPr lang="zh-CN" altLang="en-US" sz="2400" b="1" dirty="0">
              <a:solidFill>
                <a:schemeClr val="bg1"/>
              </a:solidFill>
            </a:endParaRPr>
          </a:p>
        </p:txBody>
      </p:sp>
      <p:sp>
        <p:nvSpPr>
          <p:cNvPr id="14" name="文本框 13"/>
          <p:cNvSpPr txBox="1"/>
          <p:nvPr/>
        </p:nvSpPr>
        <p:spPr>
          <a:xfrm>
            <a:off x="3953934" y="2431001"/>
            <a:ext cx="66003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400" b="1" dirty="0">
                <a:solidFill>
                  <a:schemeClr val="bg1"/>
                </a:solidFill>
              </a:rPr>
              <a:t>00</a:t>
            </a:r>
            <a:endParaRPr lang="zh-CN" altLang="en-US" sz="2400" b="1" dirty="0">
              <a:solidFill>
                <a:schemeClr val="bg1"/>
              </a:solidFill>
            </a:endParaRPr>
          </a:p>
        </p:txBody>
      </p:sp>
      <p:sp>
        <p:nvSpPr>
          <p:cNvPr id="15" name="文本框 14"/>
          <p:cNvSpPr txBox="1"/>
          <p:nvPr/>
        </p:nvSpPr>
        <p:spPr>
          <a:xfrm>
            <a:off x="4966280" y="2409757"/>
            <a:ext cx="58880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400" b="1" dirty="0">
                <a:solidFill>
                  <a:schemeClr val="bg1"/>
                </a:solidFill>
              </a:rPr>
              <a:t>01</a:t>
            </a:r>
            <a:endParaRPr lang="zh-CN" altLang="en-US" sz="2400" b="1" dirty="0">
              <a:solidFill>
                <a:schemeClr val="bg1"/>
              </a:solidFill>
            </a:endParaRPr>
          </a:p>
        </p:txBody>
      </p:sp>
      <p:sp>
        <p:nvSpPr>
          <p:cNvPr id="16" name="文本框 15"/>
          <p:cNvSpPr txBox="1"/>
          <p:nvPr/>
        </p:nvSpPr>
        <p:spPr>
          <a:xfrm>
            <a:off x="6014190" y="2409758"/>
            <a:ext cx="58880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400" b="1" dirty="0">
                <a:solidFill>
                  <a:schemeClr val="bg1"/>
                </a:solidFill>
              </a:rPr>
              <a:t>11</a:t>
            </a:r>
            <a:endParaRPr lang="zh-CN" altLang="en-US" sz="2400" b="1" dirty="0">
              <a:solidFill>
                <a:schemeClr val="bg1"/>
              </a:solidFill>
            </a:endParaRPr>
          </a:p>
        </p:txBody>
      </p:sp>
      <p:sp>
        <p:nvSpPr>
          <p:cNvPr id="17" name="文本框 16"/>
          <p:cNvSpPr txBox="1"/>
          <p:nvPr/>
        </p:nvSpPr>
        <p:spPr>
          <a:xfrm>
            <a:off x="6870381" y="2431001"/>
            <a:ext cx="58880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400" b="1" dirty="0">
                <a:solidFill>
                  <a:schemeClr val="bg1"/>
                </a:solidFill>
              </a:rPr>
              <a:t>10</a:t>
            </a:r>
            <a:endParaRPr lang="zh-CN" altLang="en-US" sz="2400" b="1" dirty="0">
              <a:solidFill>
                <a:schemeClr val="bg1"/>
              </a:solidFill>
            </a:endParaRPr>
          </a:p>
        </p:txBody>
      </p:sp>
      <p:sp>
        <p:nvSpPr>
          <p:cNvPr id="18" name="文本框 17"/>
          <p:cNvSpPr txBox="1"/>
          <p:nvPr/>
        </p:nvSpPr>
        <p:spPr>
          <a:xfrm>
            <a:off x="3092822" y="2963504"/>
            <a:ext cx="66003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400" b="1" dirty="0">
                <a:solidFill>
                  <a:schemeClr val="bg1"/>
                </a:solidFill>
              </a:rPr>
              <a:t>00</a:t>
            </a:r>
            <a:endParaRPr lang="zh-CN" altLang="en-US" sz="2400" b="1" dirty="0">
              <a:solidFill>
                <a:schemeClr val="bg1"/>
              </a:solidFill>
            </a:endParaRPr>
          </a:p>
        </p:txBody>
      </p:sp>
      <p:sp>
        <p:nvSpPr>
          <p:cNvPr id="19" name="文本框 18"/>
          <p:cNvSpPr txBox="1"/>
          <p:nvPr/>
        </p:nvSpPr>
        <p:spPr>
          <a:xfrm>
            <a:off x="3102294" y="3757568"/>
            <a:ext cx="58880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400" b="1" dirty="0">
                <a:solidFill>
                  <a:schemeClr val="bg1"/>
                </a:solidFill>
              </a:rPr>
              <a:t>01</a:t>
            </a:r>
            <a:endParaRPr lang="zh-CN" altLang="en-US" sz="2400" b="1" dirty="0">
              <a:solidFill>
                <a:schemeClr val="bg1"/>
              </a:solidFill>
            </a:endParaRPr>
          </a:p>
        </p:txBody>
      </p:sp>
      <p:sp>
        <p:nvSpPr>
          <p:cNvPr id="20" name="文本框 19"/>
          <p:cNvSpPr txBox="1"/>
          <p:nvPr/>
        </p:nvSpPr>
        <p:spPr>
          <a:xfrm>
            <a:off x="3123831" y="4494237"/>
            <a:ext cx="58880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400" b="1" dirty="0">
                <a:solidFill>
                  <a:schemeClr val="bg1"/>
                </a:solidFill>
              </a:rPr>
              <a:t>11</a:t>
            </a:r>
            <a:endParaRPr lang="zh-CN" altLang="en-US" sz="2400" b="1" dirty="0">
              <a:solidFill>
                <a:schemeClr val="bg1"/>
              </a:solidFill>
            </a:endParaRPr>
          </a:p>
        </p:txBody>
      </p:sp>
      <p:sp>
        <p:nvSpPr>
          <p:cNvPr id="21" name="文本框 20"/>
          <p:cNvSpPr txBox="1"/>
          <p:nvPr/>
        </p:nvSpPr>
        <p:spPr>
          <a:xfrm>
            <a:off x="3102294" y="5255790"/>
            <a:ext cx="58880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400" b="1" dirty="0">
                <a:solidFill>
                  <a:schemeClr val="bg1"/>
                </a:solidFill>
              </a:rPr>
              <a:t>10</a:t>
            </a:r>
            <a:endParaRPr lang="zh-CN" altLang="en-US" sz="2400" b="1" dirty="0">
              <a:solidFill>
                <a:schemeClr val="bg1"/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7" name="组合 56"/>
          <p:cNvGrpSpPr/>
          <p:nvPr/>
        </p:nvGrpSpPr>
        <p:grpSpPr>
          <a:xfrm>
            <a:off x="134487" y="360136"/>
            <a:ext cx="10533513" cy="1077218"/>
            <a:chOff x="134487" y="360136"/>
            <a:chExt cx="10533513" cy="1077218"/>
          </a:xfrm>
        </p:grpSpPr>
        <p:sp>
          <p:nvSpPr>
            <p:cNvPr id="58" name="TextBox 39"/>
            <p:cNvSpPr txBox="1"/>
            <p:nvPr/>
          </p:nvSpPr>
          <p:spPr>
            <a:xfrm>
              <a:off x="272033" y="360136"/>
              <a:ext cx="2343426" cy="107721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zh-CN" altLang="en-US" sz="3200" dirty="0">
                  <a:solidFill>
                    <a:schemeClr val="bg1"/>
                  </a:solidFill>
                  <a:latin typeface="宋体-18030" pitchFamily="49" charset="-122"/>
                  <a:ea typeface="宋体-18030" pitchFamily="49" charset="-122"/>
                </a:rPr>
                <a:t>逻辑函数</a:t>
              </a:r>
              <a:endParaRPr lang="en-US" altLang="zh-CN" sz="3200" dirty="0">
                <a:solidFill>
                  <a:schemeClr val="bg1"/>
                </a:solidFill>
                <a:latin typeface="宋体-18030" pitchFamily="49" charset="-122"/>
                <a:ea typeface="宋体-18030" pitchFamily="49" charset="-122"/>
              </a:endParaRPr>
            </a:p>
            <a:p>
              <a:pPr algn="ctr"/>
              <a:r>
                <a:rPr lang="zh-CN" altLang="en-US" sz="3200" dirty="0">
                  <a:solidFill>
                    <a:schemeClr val="bg1"/>
                  </a:solidFill>
                  <a:latin typeface="宋体-18030" pitchFamily="49" charset="-122"/>
                  <a:ea typeface="宋体-18030" pitchFamily="49" charset="-122"/>
                </a:rPr>
                <a:t>实现</a:t>
              </a:r>
              <a:endParaRPr lang="en-US" altLang="zh-CN" sz="3200" dirty="0">
                <a:solidFill>
                  <a:schemeClr val="bg1"/>
                </a:solidFill>
              </a:endParaRPr>
            </a:p>
          </p:txBody>
        </p:sp>
        <p:sp>
          <p:nvSpPr>
            <p:cNvPr id="59" name="Rectangle 41"/>
            <p:cNvSpPr/>
            <p:nvPr/>
          </p:nvSpPr>
          <p:spPr>
            <a:xfrm rot="16200000">
              <a:off x="95249" y="885029"/>
              <a:ext cx="457200" cy="27432"/>
            </a:xfrm>
            <a:prstGeom prst="rect">
              <a:avLst/>
            </a:prstGeom>
            <a:solidFill>
              <a:srgbClr val="F4B18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1" name="Rectangle 41"/>
            <p:cNvSpPr/>
            <p:nvPr/>
          </p:nvSpPr>
          <p:spPr>
            <a:xfrm rot="16200000">
              <a:off x="-25340" y="829973"/>
              <a:ext cx="457200" cy="137545"/>
            </a:xfrm>
            <a:prstGeom prst="rect">
              <a:avLst/>
            </a:prstGeom>
            <a:solidFill>
              <a:srgbClr val="F4B18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62" name="直接连接符 61"/>
            <p:cNvCxnSpPr/>
            <p:nvPr/>
          </p:nvCxnSpPr>
          <p:spPr>
            <a:xfrm>
              <a:off x="2381250" y="898745"/>
              <a:ext cx="8286750" cy="0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矩形 1"/>
          <p:cNvSpPr/>
          <p:nvPr/>
        </p:nvSpPr>
        <p:spPr>
          <a:xfrm>
            <a:off x="3615267" y="967446"/>
            <a:ext cx="4080933" cy="6376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indent="457200" algn="ctr">
              <a:lnSpc>
                <a:spcPct val="150000"/>
              </a:lnSpc>
            </a:pPr>
            <a:r>
              <a:rPr lang="zh-CN" altLang="en-US" sz="2800" b="1" dirty="0">
                <a:solidFill>
                  <a:schemeClr val="bg1"/>
                </a:solidFill>
                <a:latin typeface="宋体-18030" pitchFamily="49" charset="-122"/>
                <a:ea typeface="宋体-18030" pitchFamily="49" charset="-122"/>
              </a:rPr>
              <a:t>降维</a:t>
            </a:r>
            <a:endParaRPr lang="zh-CN" altLang="en-US" sz="2800" b="1" dirty="0">
              <a:solidFill>
                <a:schemeClr val="bg1"/>
              </a:solidFill>
              <a:latin typeface="宋体-18030" pitchFamily="49" charset="-122"/>
              <a:ea typeface="宋体-18030" pitchFamily="49" charset="-122"/>
            </a:endParaRPr>
          </a:p>
        </p:txBody>
      </p:sp>
      <p:graphicFrame>
        <p:nvGraphicFramePr>
          <p:cNvPr id="3" name="表格 2"/>
          <p:cNvGraphicFramePr>
            <a:graphicFrameLocks noGrp="1"/>
          </p:cNvGraphicFramePr>
          <p:nvPr/>
        </p:nvGraphicFramePr>
        <p:xfrm>
          <a:off x="1260432" y="2783327"/>
          <a:ext cx="3903132" cy="3141132"/>
        </p:xfrm>
        <a:graphic>
          <a:graphicData uri="http://schemas.openxmlformats.org/drawingml/2006/table">
            <a:tbl>
              <a:tblPr firstRow="1" bandRow="1">
                <a:tableStyleId>{22838BEF-8BB2-4498-84A7-C5851F593DF1}</a:tableStyleId>
              </a:tblPr>
              <a:tblGrid>
                <a:gridCol w="975783"/>
                <a:gridCol w="975783"/>
                <a:gridCol w="975783"/>
                <a:gridCol w="975783"/>
              </a:tblGrid>
              <a:tr h="785283">
                <a:tc>
                  <a:txBody>
                    <a:bodyPr/>
                    <a:lstStyle/>
                    <a:p>
                      <a:r>
                        <a:rPr lang="en-US" altLang="zh-CN" sz="3200" b="1" dirty="0">
                          <a:latin typeface="Arial Unicode MS" panose="020B0604020202020204" pitchFamily="34" charset="-122"/>
                          <a:ea typeface="Arial Unicode MS" panose="020B0604020202020204" pitchFamily="34" charset="-122"/>
                          <a:cs typeface="Arial Unicode MS" panose="020B0604020202020204" pitchFamily="34" charset="-122"/>
                        </a:rPr>
                        <a:t>0</a:t>
                      </a:r>
                      <a:endParaRPr lang="zh-CN" altLang="en-US" sz="3200" b="1" dirty="0">
                        <a:latin typeface="Arial Unicode MS" panose="020B0604020202020204" pitchFamily="34" charset="-122"/>
                        <a:ea typeface="Arial Unicode MS" panose="020B0604020202020204" pitchFamily="34" charset="-122"/>
                        <a:cs typeface="Arial Unicode MS" panose="020B0604020202020204" pitchFamily="34" charset="-122"/>
                      </a:endParaRP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r>
                        <a:rPr lang="en-US" altLang="zh-CN" sz="3200" b="1" dirty="0">
                          <a:latin typeface="Arial Unicode MS" panose="020B0604020202020204" pitchFamily="34" charset="-122"/>
                          <a:ea typeface="Arial Unicode MS" panose="020B0604020202020204" pitchFamily="34" charset="-122"/>
                          <a:cs typeface="Arial Unicode MS" panose="020B0604020202020204" pitchFamily="34" charset="-122"/>
                        </a:rPr>
                        <a:t>0</a:t>
                      </a:r>
                      <a:endParaRPr lang="zh-CN" altLang="en-US" sz="3200" b="1" dirty="0">
                        <a:latin typeface="Arial Unicode MS" panose="020B0604020202020204" pitchFamily="34" charset="-122"/>
                        <a:ea typeface="Arial Unicode MS" panose="020B0604020202020204" pitchFamily="34" charset="-122"/>
                        <a:cs typeface="Arial Unicode MS" panose="020B0604020202020204" pitchFamily="34" charset="-122"/>
                      </a:endParaRP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r>
                        <a:rPr lang="en-US" altLang="zh-CN" sz="3200" b="1" dirty="0">
                          <a:latin typeface="Arial Unicode MS" panose="020B0604020202020204" pitchFamily="34" charset="-122"/>
                          <a:ea typeface="Arial Unicode MS" panose="020B0604020202020204" pitchFamily="34" charset="-122"/>
                          <a:cs typeface="Arial Unicode MS" panose="020B0604020202020204" pitchFamily="34" charset="-122"/>
                        </a:rPr>
                        <a:t>1</a:t>
                      </a:r>
                      <a:endParaRPr lang="zh-CN" altLang="en-US" sz="3200" b="1" dirty="0">
                        <a:latin typeface="Arial Unicode MS" panose="020B0604020202020204" pitchFamily="34" charset="-122"/>
                        <a:ea typeface="Arial Unicode MS" panose="020B0604020202020204" pitchFamily="34" charset="-122"/>
                        <a:cs typeface="Arial Unicode MS" panose="020B0604020202020204" pitchFamily="34" charset="-122"/>
                      </a:endParaRP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r>
                        <a:rPr lang="en-US" altLang="zh-CN" sz="3200" b="1" dirty="0">
                          <a:latin typeface="Arial Unicode MS" panose="020B0604020202020204" pitchFamily="34" charset="-122"/>
                          <a:ea typeface="Arial Unicode MS" panose="020B0604020202020204" pitchFamily="34" charset="-122"/>
                          <a:cs typeface="Arial Unicode MS" panose="020B0604020202020204" pitchFamily="34" charset="-122"/>
                        </a:rPr>
                        <a:t>0</a:t>
                      </a:r>
                      <a:endParaRPr lang="zh-CN" altLang="en-US" sz="3200" b="1" dirty="0">
                        <a:latin typeface="Arial Unicode MS" panose="020B0604020202020204" pitchFamily="34" charset="-122"/>
                        <a:ea typeface="Arial Unicode MS" panose="020B0604020202020204" pitchFamily="34" charset="-122"/>
                        <a:cs typeface="Arial Unicode MS" panose="020B0604020202020204" pitchFamily="34" charset="-122"/>
                      </a:endParaRPr>
                    </a:p>
                  </a:txBody>
                  <a:tcPr anchor="ctr" anchorCtr="1"/>
                </a:tc>
              </a:tr>
              <a:tr h="785283">
                <a:tc>
                  <a:txBody>
                    <a:bodyPr/>
                    <a:lstStyle/>
                    <a:p>
                      <a:r>
                        <a:rPr lang="en-US" altLang="zh-CN" sz="3200" b="1" dirty="0">
                          <a:latin typeface="Arial Unicode MS" panose="020B0604020202020204" pitchFamily="34" charset="-122"/>
                          <a:ea typeface="Arial Unicode MS" panose="020B0604020202020204" pitchFamily="34" charset="-122"/>
                          <a:cs typeface="Arial Unicode MS" panose="020B0604020202020204" pitchFamily="34" charset="-122"/>
                        </a:rPr>
                        <a:t>1</a:t>
                      </a:r>
                      <a:endParaRPr lang="zh-CN" altLang="en-US" sz="3200" b="1" dirty="0">
                        <a:latin typeface="Arial Unicode MS" panose="020B0604020202020204" pitchFamily="34" charset="-122"/>
                        <a:ea typeface="Arial Unicode MS" panose="020B0604020202020204" pitchFamily="34" charset="-122"/>
                        <a:cs typeface="Arial Unicode MS" panose="020B0604020202020204" pitchFamily="34" charset="-122"/>
                      </a:endParaRP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r>
                        <a:rPr lang="en-US" altLang="zh-CN" sz="3200" b="1" dirty="0">
                          <a:latin typeface="Arial Unicode MS" panose="020B0604020202020204" pitchFamily="34" charset="-122"/>
                          <a:ea typeface="Arial Unicode MS" panose="020B0604020202020204" pitchFamily="34" charset="-122"/>
                          <a:cs typeface="Arial Unicode MS" panose="020B0604020202020204" pitchFamily="34" charset="-122"/>
                        </a:rPr>
                        <a:t>0</a:t>
                      </a:r>
                      <a:endParaRPr lang="zh-CN" altLang="en-US" sz="3200" b="1" dirty="0">
                        <a:latin typeface="Arial Unicode MS" panose="020B0604020202020204" pitchFamily="34" charset="-122"/>
                        <a:ea typeface="Arial Unicode MS" panose="020B0604020202020204" pitchFamily="34" charset="-122"/>
                        <a:cs typeface="Arial Unicode MS" panose="020B0604020202020204" pitchFamily="34" charset="-122"/>
                      </a:endParaRP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r>
                        <a:rPr lang="en-US" altLang="zh-CN" sz="3200" b="1" dirty="0">
                          <a:latin typeface="Arial Unicode MS" panose="020B0604020202020204" pitchFamily="34" charset="-122"/>
                          <a:ea typeface="Arial Unicode MS" panose="020B0604020202020204" pitchFamily="34" charset="-122"/>
                          <a:cs typeface="Arial Unicode MS" panose="020B0604020202020204" pitchFamily="34" charset="-122"/>
                        </a:rPr>
                        <a:t>1</a:t>
                      </a:r>
                      <a:endParaRPr lang="zh-CN" altLang="en-US" sz="3200" b="1" dirty="0">
                        <a:latin typeface="Arial Unicode MS" panose="020B0604020202020204" pitchFamily="34" charset="-122"/>
                        <a:ea typeface="Arial Unicode MS" panose="020B0604020202020204" pitchFamily="34" charset="-122"/>
                        <a:cs typeface="Arial Unicode MS" panose="020B0604020202020204" pitchFamily="34" charset="-122"/>
                      </a:endParaRP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r>
                        <a:rPr lang="en-US" altLang="zh-CN" sz="3200" b="1" dirty="0">
                          <a:latin typeface="Arial Unicode MS" panose="020B0604020202020204" pitchFamily="34" charset="-122"/>
                          <a:ea typeface="Arial Unicode MS" panose="020B0604020202020204" pitchFamily="34" charset="-122"/>
                          <a:cs typeface="Arial Unicode MS" panose="020B0604020202020204" pitchFamily="34" charset="-122"/>
                        </a:rPr>
                        <a:t>0</a:t>
                      </a:r>
                      <a:endParaRPr lang="zh-CN" altLang="en-US" sz="3200" b="1" dirty="0">
                        <a:latin typeface="Arial Unicode MS" panose="020B0604020202020204" pitchFamily="34" charset="-122"/>
                        <a:ea typeface="Arial Unicode MS" panose="020B0604020202020204" pitchFamily="34" charset="-122"/>
                        <a:cs typeface="Arial Unicode MS" panose="020B0604020202020204" pitchFamily="34" charset="-122"/>
                      </a:endParaRPr>
                    </a:p>
                  </a:txBody>
                  <a:tcPr anchor="ctr" anchorCtr="1"/>
                </a:tc>
              </a:tr>
              <a:tr h="785283">
                <a:tc>
                  <a:txBody>
                    <a:bodyPr/>
                    <a:lstStyle/>
                    <a:p>
                      <a:r>
                        <a:rPr lang="en-US" altLang="zh-CN" sz="3200" b="1" dirty="0">
                          <a:latin typeface="Arial Unicode MS" panose="020B0604020202020204" pitchFamily="34" charset="-122"/>
                          <a:ea typeface="Arial Unicode MS" panose="020B0604020202020204" pitchFamily="34" charset="-122"/>
                          <a:cs typeface="Arial Unicode MS" panose="020B0604020202020204" pitchFamily="34" charset="-122"/>
                        </a:rPr>
                        <a:t>1</a:t>
                      </a:r>
                      <a:endParaRPr lang="zh-CN" altLang="en-US" sz="3200" b="1" dirty="0">
                        <a:latin typeface="Arial Unicode MS" panose="020B0604020202020204" pitchFamily="34" charset="-122"/>
                        <a:ea typeface="Arial Unicode MS" panose="020B0604020202020204" pitchFamily="34" charset="-122"/>
                        <a:cs typeface="Arial Unicode MS" panose="020B0604020202020204" pitchFamily="34" charset="-122"/>
                      </a:endParaRP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r>
                        <a:rPr lang="en-US" altLang="zh-CN" sz="3200" b="1" dirty="0">
                          <a:latin typeface="Arial Unicode MS" panose="020B0604020202020204" pitchFamily="34" charset="-122"/>
                          <a:ea typeface="Arial Unicode MS" panose="020B0604020202020204" pitchFamily="34" charset="-122"/>
                          <a:cs typeface="Arial Unicode MS" panose="020B0604020202020204" pitchFamily="34" charset="-122"/>
                        </a:rPr>
                        <a:t>0</a:t>
                      </a:r>
                      <a:endParaRPr lang="zh-CN" altLang="en-US" sz="3200" b="1" dirty="0">
                        <a:latin typeface="Arial Unicode MS" panose="020B0604020202020204" pitchFamily="34" charset="-122"/>
                        <a:ea typeface="Arial Unicode MS" panose="020B0604020202020204" pitchFamily="34" charset="-122"/>
                        <a:cs typeface="Arial Unicode MS" panose="020B0604020202020204" pitchFamily="34" charset="-122"/>
                      </a:endParaRP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r>
                        <a:rPr lang="en-US" altLang="zh-CN" sz="3200" b="1" dirty="0">
                          <a:latin typeface="Arial Unicode MS" panose="020B0604020202020204" pitchFamily="34" charset="-122"/>
                          <a:ea typeface="Arial Unicode MS" panose="020B0604020202020204" pitchFamily="34" charset="-122"/>
                          <a:cs typeface="Arial Unicode MS" panose="020B0604020202020204" pitchFamily="34" charset="-122"/>
                        </a:rPr>
                        <a:t>0</a:t>
                      </a:r>
                      <a:endParaRPr lang="zh-CN" altLang="en-US" sz="3200" b="1" dirty="0">
                        <a:latin typeface="Arial Unicode MS" panose="020B0604020202020204" pitchFamily="34" charset="-122"/>
                        <a:ea typeface="Arial Unicode MS" panose="020B0604020202020204" pitchFamily="34" charset="-122"/>
                        <a:cs typeface="Arial Unicode MS" panose="020B0604020202020204" pitchFamily="34" charset="-122"/>
                      </a:endParaRP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r>
                        <a:rPr lang="en-US" altLang="zh-CN" sz="3200" b="1" dirty="0">
                          <a:latin typeface="Arial Unicode MS" panose="020B0604020202020204" pitchFamily="34" charset="-122"/>
                          <a:ea typeface="Arial Unicode MS" panose="020B0604020202020204" pitchFamily="34" charset="-122"/>
                          <a:cs typeface="Arial Unicode MS" panose="020B0604020202020204" pitchFamily="34" charset="-122"/>
                        </a:rPr>
                        <a:t>1</a:t>
                      </a:r>
                      <a:endParaRPr lang="zh-CN" altLang="en-US" sz="3200" b="1" dirty="0">
                        <a:latin typeface="Arial Unicode MS" panose="020B0604020202020204" pitchFamily="34" charset="-122"/>
                        <a:ea typeface="Arial Unicode MS" panose="020B0604020202020204" pitchFamily="34" charset="-122"/>
                        <a:cs typeface="Arial Unicode MS" panose="020B0604020202020204" pitchFamily="34" charset="-122"/>
                      </a:endParaRPr>
                    </a:p>
                  </a:txBody>
                  <a:tcPr anchor="ctr" anchorCtr="1"/>
                </a:tc>
              </a:tr>
              <a:tr h="785283">
                <a:tc>
                  <a:txBody>
                    <a:bodyPr/>
                    <a:lstStyle/>
                    <a:p>
                      <a:r>
                        <a:rPr lang="en-US" altLang="zh-CN" sz="3200" b="1" dirty="0">
                          <a:latin typeface="Arial Unicode MS" panose="020B0604020202020204" pitchFamily="34" charset="-122"/>
                          <a:ea typeface="Arial Unicode MS" panose="020B0604020202020204" pitchFamily="34" charset="-122"/>
                          <a:cs typeface="Arial Unicode MS" panose="020B0604020202020204" pitchFamily="34" charset="-122"/>
                        </a:rPr>
                        <a:t>1</a:t>
                      </a:r>
                      <a:endParaRPr lang="zh-CN" altLang="en-US" sz="3200" b="1" dirty="0">
                        <a:latin typeface="Arial Unicode MS" panose="020B0604020202020204" pitchFamily="34" charset="-122"/>
                        <a:ea typeface="Arial Unicode MS" panose="020B0604020202020204" pitchFamily="34" charset="-122"/>
                        <a:cs typeface="Arial Unicode MS" panose="020B0604020202020204" pitchFamily="34" charset="-122"/>
                      </a:endParaRP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r>
                        <a:rPr lang="en-US" altLang="zh-CN" sz="3200" b="1" dirty="0">
                          <a:latin typeface="Arial Unicode MS" panose="020B0604020202020204" pitchFamily="34" charset="-122"/>
                          <a:ea typeface="Arial Unicode MS" panose="020B0604020202020204" pitchFamily="34" charset="-122"/>
                          <a:cs typeface="Arial Unicode MS" panose="020B0604020202020204" pitchFamily="34" charset="-122"/>
                        </a:rPr>
                        <a:t>0</a:t>
                      </a:r>
                      <a:endParaRPr lang="zh-CN" altLang="en-US" sz="3200" b="1" dirty="0">
                        <a:latin typeface="Arial Unicode MS" panose="020B0604020202020204" pitchFamily="34" charset="-122"/>
                        <a:ea typeface="Arial Unicode MS" panose="020B0604020202020204" pitchFamily="34" charset="-122"/>
                        <a:cs typeface="Arial Unicode MS" panose="020B0604020202020204" pitchFamily="34" charset="-122"/>
                      </a:endParaRP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r>
                        <a:rPr lang="en-US" altLang="zh-CN" sz="3200" b="1" dirty="0">
                          <a:latin typeface="Arial Unicode MS" panose="020B0604020202020204" pitchFamily="34" charset="-122"/>
                          <a:ea typeface="Arial Unicode MS" panose="020B0604020202020204" pitchFamily="34" charset="-122"/>
                          <a:cs typeface="Arial Unicode MS" panose="020B0604020202020204" pitchFamily="34" charset="-122"/>
                        </a:rPr>
                        <a:t>0</a:t>
                      </a:r>
                      <a:endParaRPr lang="zh-CN" altLang="en-US" sz="3200" b="1" dirty="0">
                        <a:latin typeface="Arial Unicode MS" panose="020B0604020202020204" pitchFamily="34" charset="-122"/>
                        <a:ea typeface="Arial Unicode MS" panose="020B0604020202020204" pitchFamily="34" charset="-122"/>
                        <a:cs typeface="Arial Unicode MS" panose="020B0604020202020204" pitchFamily="34" charset="-122"/>
                      </a:endParaRP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r>
                        <a:rPr lang="en-US" altLang="zh-CN" sz="3200" b="1" dirty="0">
                          <a:latin typeface="Arial Unicode MS" panose="020B0604020202020204" pitchFamily="34" charset="-122"/>
                          <a:ea typeface="Arial Unicode MS" panose="020B0604020202020204" pitchFamily="34" charset="-122"/>
                          <a:cs typeface="Arial Unicode MS" panose="020B0604020202020204" pitchFamily="34" charset="-122"/>
                        </a:rPr>
                        <a:t>1</a:t>
                      </a:r>
                      <a:endParaRPr lang="zh-CN" altLang="en-US" sz="3200" b="1" dirty="0">
                        <a:latin typeface="Arial Unicode MS" panose="020B0604020202020204" pitchFamily="34" charset="-122"/>
                        <a:ea typeface="Arial Unicode MS" panose="020B0604020202020204" pitchFamily="34" charset="-122"/>
                        <a:cs typeface="Arial Unicode MS" panose="020B0604020202020204" pitchFamily="34" charset="-122"/>
                      </a:endParaRPr>
                    </a:p>
                  </a:txBody>
                  <a:tcPr anchor="ctr" anchorCtr="1"/>
                </a:tc>
              </a:tr>
            </a:tbl>
          </a:graphicData>
        </a:graphic>
      </p:graphicFrame>
      <p:cxnSp>
        <p:nvCxnSpPr>
          <p:cNvPr id="6" name="直接连接符 5"/>
          <p:cNvCxnSpPr/>
          <p:nvPr/>
        </p:nvCxnSpPr>
        <p:spPr>
          <a:xfrm flipH="1" flipV="1">
            <a:off x="718566" y="2241461"/>
            <a:ext cx="541866" cy="541866"/>
          </a:xfrm>
          <a:prstGeom prst="line">
            <a:avLst/>
          </a:prstGeom>
          <a:ln w="2857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文本框 6"/>
          <p:cNvSpPr txBox="1"/>
          <p:nvPr/>
        </p:nvSpPr>
        <p:spPr>
          <a:xfrm>
            <a:off x="777462" y="1975963"/>
            <a:ext cx="7620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b="1" dirty="0">
                <a:solidFill>
                  <a:schemeClr val="bg1"/>
                </a:solidFill>
              </a:rPr>
              <a:t>AB</a:t>
            </a:r>
            <a:endParaRPr lang="zh-CN" altLang="en-US" sz="2400" b="1" dirty="0">
              <a:solidFill>
                <a:schemeClr val="bg1"/>
              </a:solidFill>
            </a:endParaRPr>
          </a:p>
        </p:txBody>
      </p:sp>
      <p:sp>
        <p:nvSpPr>
          <p:cNvPr id="13" name="文本框 12"/>
          <p:cNvSpPr txBox="1"/>
          <p:nvPr/>
        </p:nvSpPr>
        <p:spPr>
          <a:xfrm>
            <a:off x="337566" y="2318404"/>
            <a:ext cx="7620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b="1" dirty="0">
                <a:solidFill>
                  <a:schemeClr val="bg1"/>
                </a:solidFill>
              </a:rPr>
              <a:t>CD</a:t>
            </a:r>
            <a:endParaRPr lang="zh-CN" altLang="en-US" sz="2400" b="1" dirty="0">
              <a:solidFill>
                <a:schemeClr val="bg1"/>
              </a:solidFill>
            </a:endParaRPr>
          </a:p>
        </p:txBody>
      </p:sp>
      <p:sp>
        <p:nvSpPr>
          <p:cNvPr id="14" name="文本框 13"/>
          <p:cNvSpPr txBox="1"/>
          <p:nvPr/>
        </p:nvSpPr>
        <p:spPr>
          <a:xfrm>
            <a:off x="1421298" y="2339647"/>
            <a:ext cx="66003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400" b="1" dirty="0">
                <a:solidFill>
                  <a:schemeClr val="bg1"/>
                </a:solidFill>
              </a:rPr>
              <a:t>00</a:t>
            </a:r>
            <a:endParaRPr lang="zh-CN" altLang="en-US" sz="2400" b="1" dirty="0">
              <a:solidFill>
                <a:schemeClr val="bg1"/>
              </a:solidFill>
            </a:endParaRPr>
          </a:p>
        </p:txBody>
      </p:sp>
      <p:sp>
        <p:nvSpPr>
          <p:cNvPr id="15" name="文本框 14"/>
          <p:cNvSpPr txBox="1"/>
          <p:nvPr/>
        </p:nvSpPr>
        <p:spPr>
          <a:xfrm>
            <a:off x="2433644" y="2318403"/>
            <a:ext cx="58880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400" b="1" dirty="0">
                <a:solidFill>
                  <a:schemeClr val="bg1"/>
                </a:solidFill>
              </a:rPr>
              <a:t>01</a:t>
            </a:r>
            <a:endParaRPr lang="zh-CN" altLang="en-US" sz="2400" b="1" dirty="0">
              <a:solidFill>
                <a:schemeClr val="bg1"/>
              </a:solidFill>
            </a:endParaRPr>
          </a:p>
        </p:txBody>
      </p:sp>
      <p:sp>
        <p:nvSpPr>
          <p:cNvPr id="16" name="文本框 15"/>
          <p:cNvSpPr txBox="1"/>
          <p:nvPr/>
        </p:nvSpPr>
        <p:spPr>
          <a:xfrm>
            <a:off x="3481554" y="2318404"/>
            <a:ext cx="58880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400" b="1" dirty="0">
                <a:solidFill>
                  <a:schemeClr val="bg1"/>
                </a:solidFill>
              </a:rPr>
              <a:t>11</a:t>
            </a:r>
            <a:endParaRPr lang="zh-CN" altLang="en-US" sz="2400" b="1" dirty="0">
              <a:solidFill>
                <a:schemeClr val="bg1"/>
              </a:solidFill>
            </a:endParaRPr>
          </a:p>
        </p:txBody>
      </p:sp>
      <p:sp>
        <p:nvSpPr>
          <p:cNvPr id="17" name="文本框 16"/>
          <p:cNvSpPr txBox="1"/>
          <p:nvPr/>
        </p:nvSpPr>
        <p:spPr>
          <a:xfrm>
            <a:off x="4337745" y="2339647"/>
            <a:ext cx="58880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400" b="1" dirty="0">
                <a:solidFill>
                  <a:schemeClr val="bg1"/>
                </a:solidFill>
              </a:rPr>
              <a:t>10</a:t>
            </a:r>
            <a:endParaRPr lang="zh-CN" altLang="en-US" sz="2400" b="1" dirty="0">
              <a:solidFill>
                <a:schemeClr val="bg1"/>
              </a:solidFill>
            </a:endParaRPr>
          </a:p>
        </p:txBody>
      </p:sp>
      <p:sp>
        <p:nvSpPr>
          <p:cNvPr id="18" name="文本框 17"/>
          <p:cNvSpPr txBox="1"/>
          <p:nvPr/>
        </p:nvSpPr>
        <p:spPr>
          <a:xfrm>
            <a:off x="560186" y="2872150"/>
            <a:ext cx="66003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400" b="1" dirty="0">
                <a:solidFill>
                  <a:schemeClr val="bg1"/>
                </a:solidFill>
              </a:rPr>
              <a:t>00</a:t>
            </a:r>
            <a:endParaRPr lang="zh-CN" altLang="en-US" sz="2400" b="1" dirty="0">
              <a:solidFill>
                <a:schemeClr val="bg1"/>
              </a:solidFill>
            </a:endParaRPr>
          </a:p>
        </p:txBody>
      </p:sp>
      <p:sp>
        <p:nvSpPr>
          <p:cNvPr id="19" name="文本框 18"/>
          <p:cNvSpPr txBox="1"/>
          <p:nvPr/>
        </p:nvSpPr>
        <p:spPr>
          <a:xfrm>
            <a:off x="569658" y="3666214"/>
            <a:ext cx="58880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400" b="1" dirty="0">
                <a:solidFill>
                  <a:schemeClr val="bg1"/>
                </a:solidFill>
              </a:rPr>
              <a:t>01</a:t>
            </a:r>
            <a:endParaRPr lang="zh-CN" altLang="en-US" sz="2400" b="1" dirty="0">
              <a:solidFill>
                <a:schemeClr val="bg1"/>
              </a:solidFill>
            </a:endParaRPr>
          </a:p>
        </p:txBody>
      </p:sp>
      <p:sp>
        <p:nvSpPr>
          <p:cNvPr id="20" name="文本框 19"/>
          <p:cNvSpPr txBox="1"/>
          <p:nvPr/>
        </p:nvSpPr>
        <p:spPr>
          <a:xfrm>
            <a:off x="591195" y="4402883"/>
            <a:ext cx="58880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400" b="1" dirty="0">
                <a:solidFill>
                  <a:schemeClr val="bg1"/>
                </a:solidFill>
              </a:rPr>
              <a:t>11</a:t>
            </a:r>
            <a:endParaRPr lang="zh-CN" altLang="en-US" sz="2400" b="1" dirty="0">
              <a:solidFill>
                <a:schemeClr val="bg1"/>
              </a:solidFill>
            </a:endParaRPr>
          </a:p>
        </p:txBody>
      </p:sp>
      <p:sp>
        <p:nvSpPr>
          <p:cNvPr id="21" name="文本框 20"/>
          <p:cNvSpPr txBox="1"/>
          <p:nvPr/>
        </p:nvSpPr>
        <p:spPr>
          <a:xfrm>
            <a:off x="569658" y="5164436"/>
            <a:ext cx="58880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400" b="1" dirty="0">
                <a:solidFill>
                  <a:schemeClr val="bg1"/>
                </a:solidFill>
              </a:rPr>
              <a:t>10</a:t>
            </a:r>
            <a:endParaRPr lang="zh-CN" altLang="en-US" sz="2400" b="1" dirty="0">
              <a:solidFill>
                <a:schemeClr val="bg1"/>
              </a:solidFill>
            </a:endParaRPr>
          </a:p>
        </p:txBody>
      </p:sp>
      <p:cxnSp>
        <p:nvCxnSpPr>
          <p:cNvPr id="23" name="直接连接符 22"/>
          <p:cNvCxnSpPr/>
          <p:nvPr/>
        </p:nvCxnSpPr>
        <p:spPr>
          <a:xfrm flipH="1" flipV="1">
            <a:off x="6639727" y="1683684"/>
            <a:ext cx="541866" cy="541866"/>
          </a:xfrm>
          <a:prstGeom prst="line">
            <a:avLst/>
          </a:prstGeom>
          <a:ln w="2857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文本框 23"/>
          <p:cNvSpPr txBox="1"/>
          <p:nvPr/>
        </p:nvSpPr>
        <p:spPr>
          <a:xfrm>
            <a:off x="6698623" y="1418186"/>
            <a:ext cx="7620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b="1" dirty="0">
                <a:solidFill>
                  <a:schemeClr val="bg1"/>
                </a:solidFill>
              </a:rPr>
              <a:t>AB</a:t>
            </a:r>
            <a:endParaRPr lang="zh-CN" altLang="en-US" sz="2400" b="1" dirty="0">
              <a:solidFill>
                <a:schemeClr val="bg1"/>
              </a:solidFill>
            </a:endParaRPr>
          </a:p>
        </p:txBody>
      </p:sp>
      <p:sp>
        <p:nvSpPr>
          <p:cNvPr id="25" name="文本框 24"/>
          <p:cNvSpPr txBox="1"/>
          <p:nvPr/>
        </p:nvSpPr>
        <p:spPr>
          <a:xfrm>
            <a:off x="6478861" y="1760627"/>
            <a:ext cx="54186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400" b="1" dirty="0">
                <a:solidFill>
                  <a:schemeClr val="bg1"/>
                </a:solidFill>
              </a:rPr>
              <a:t>C</a:t>
            </a:r>
            <a:endParaRPr lang="zh-CN" altLang="en-US" sz="2400" b="1" dirty="0">
              <a:solidFill>
                <a:schemeClr val="bg1"/>
              </a:solidFill>
            </a:endParaRPr>
          </a:p>
        </p:txBody>
      </p:sp>
      <p:sp>
        <p:nvSpPr>
          <p:cNvPr id="26" name="文本框 25"/>
          <p:cNvSpPr txBox="1"/>
          <p:nvPr/>
        </p:nvSpPr>
        <p:spPr>
          <a:xfrm>
            <a:off x="7342459" y="1781870"/>
            <a:ext cx="66003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400" b="1" dirty="0">
                <a:solidFill>
                  <a:schemeClr val="bg1"/>
                </a:solidFill>
              </a:rPr>
              <a:t>00</a:t>
            </a:r>
            <a:endParaRPr lang="zh-CN" altLang="en-US" sz="2400" b="1" dirty="0">
              <a:solidFill>
                <a:schemeClr val="bg1"/>
              </a:solidFill>
            </a:endParaRPr>
          </a:p>
        </p:txBody>
      </p:sp>
      <p:sp>
        <p:nvSpPr>
          <p:cNvPr id="27" name="文本框 26"/>
          <p:cNvSpPr txBox="1"/>
          <p:nvPr/>
        </p:nvSpPr>
        <p:spPr>
          <a:xfrm>
            <a:off x="8354805" y="1760626"/>
            <a:ext cx="58880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400" b="1" dirty="0">
                <a:solidFill>
                  <a:schemeClr val="bg1"/>
                </a:solidFill>
              </a:rPr>
              <a:t>01</a:t>
            </a:r>
            <a:endParaRPr lang="zh-CN" altLang="en-US" sz="2400" b="1" dirty="0">
              <a:solidFill>
                <a:schemeClr val="bg1"/>
              </a:solidFill>
            </a:endParaRPr>
          </a:p>
        </p:txBody>
      </p:sp>
      <p:sp>
        <p:nvSpPr>
          <p:cNvPr id="28" name="文本框 27"/>
          <p:cNvSpPr txBox="1"/>
          <p:nvPr/>
        </p:nvSpPr>
        <p:spPr>
          <a:xfrm>
            <a:off x="9402715" y="1760627"/>
            <a:ext cx="58880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400" b="1" dirty="0">
                <a:solidFill>
                  <a:schemeClr val="bg1"/>
                </a:solidFill>
              </a:rPr>
              <a:t>11</a:t>
            </a:r>
            <a:endParaRPr lang="zh-CN" altLang="en-US" sz="2400" b="1" dirty="0">
              <a:solidFill>
                <a:schemeClr val="bg1"/>
              </a:solidFill>
            </a:endParaRPr>
          </a:p>
        </p:txBody>
      </p:sp>
      <p:sp>
        <p:nvSpPr>
          <p:cNvPr id="29" name="文本框 28"/>
          <p:cNvSpPr txBox="1"/>
          <p:nvPr/>
        </p:nvSpPr>
        <p:spPr>
          <a:xfrm>
            <a:off x="10258906" y="1781870"/>
            <a:ext cx="58880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400" b="1" dirty="0">
                <a:solidFill>
                  <a:schemeClr val="bg1"/>
                </a:solidFill>
              </a:rPr>
              <a:t>10</a:t>
            </a:r>
            <a:endParaRPr lang="zh-CN" altLang="en-US" sz="2400" b="1" dirty="0">
              <a:solidFill>
                <a:schemeClr val="bg1"/>
              </a:solidFill>
            </a:endParaRPr>
          </a:p>
        </p:txBody>
      </p:sp>
      <p:sp>
        <p:nvSpPr>
          <p:cNvPr id="30" name="文本框 29"/>
          <p:cNvSpPr txBox="1"/>
          <p:nvPr/>
        </p:nvSpPr>
        <p:spPr>
          <a:xfrm>
            <a:off x="6698623" y="2314373"/>
            <a:ext cx="44275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400" b="1" dirty="0">
                <a:solidFill>
                  <a:schemeClr val="bg1"/>
                </a:solidFill>
              </a:rPr>
              <a:t>0</a:t>
            </a:r>
            <a:endParaRPr lang="zh-CN" altLang="en-US" sz="2400" b="1" dirty="0">
              <a:solidFill>
                <a:schemeClr val="bg1"/>
              </a:solidFill>
            </a:endParaRPr>
          </a:p>
        </p:txBody>
      </p:sp>
      <p:sp>
        <p:nvSpPr>
          <p:cNvPr id="31" name="文本框 30"/>
          <p:cNvSpPr txBox="1"/>
          <p:nvPr/>
        </p:nvSpPr>
        <p:spPr>
          <a:xfrm>
            <a:off x="6698623" y="3108437"/>
            <a:ext cx="3810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400" b="1" dirty="0">
                <a:solidFill>
                  <a:schemeClr val="bg1"/>
                </a:solidFill>
              </a:rPr>
              <a:t>1</a:t>
            </a:r>
            <a:endParaRPr lang="zh-CN" altLang="en-US" sz="2400" b="1" dirty="0">
              <a:solidFill>
                <a:schemeClr val="bg1"/>
              </a:solidFill>
            </a:endParaRPr>
          </a:p>
        </p:txBody>
      </p:sp>
      <p:graphicFrame>
        <p:nvGraphicFramePr>
          <p:cNvPr id="5" name="表格 4"/>
          <p:cNvGraphicFramePr>
            <a:graphicFrameLocks noGrp="1"/>
          </p:cNvGraphicFramePr>
          <p:nvPr/>
        </p:nvGraphicFramePr>
        <p:xfrm>
          <a:off x="7181593" y="2231929"/>
          <a:ext cx="3903132" cy="1585466"/>
        </p:xfrm>
        <a:graphic>
          <a:graphicData uri="http://schemas.openxmlformats.org/drawingml/2006/table">
            <a:tbl>
              <a:tblPr firstRow="1" bandRow="1">
                <a:tableStyleId>{22838BEF-8BB2-4498-84A7-C5851F593DF1}</a:tableStyleId>
              </a:tblPr>
              <a:tblGrid>
                <a:gridCol w="975783"/>
                <a:gridCol w="975783"/>
                <a:gridCol w="975783"/>
                <a:gridCol w="975783"/>
              </a:tblGrid>
              <a:tr h="792733">
                <a:tc>
                  <a:txBody>
                    <a:bodyPr/>
                    <a:lstStyle/>
                    <a:p>
                      <a:r>
                        <a:rPr lang="en-US" altLang="zh-CN" sz="3200" b="1" dirty="0">
                          <a:latin typeface="Arial Unicode MS" panose="020B0604020202020204" pitchFamily="34" charset="-122"/>
                          <a:ea typeface="Arial Unicode MS" panose="020B0604020202020204" pitchFamily="34" charset="-122"/>
                          <a:cs typeface="Arial Unicode MS" panose="020B0604020202020204" pitchFamily="34" charset="-122"/>
                        </a:rPr>
                        <a:t>D</a:t>
                      </a:r>
                      <a:endParaRPr lang="zh-CN" altLang="en-US" sz="3200" b="1" dirty="0">
                        <a:latin typeface="Arial Unicode MS" panose="020B0604020202020204" pitchFamily="34" charset="-122"/>
                        <a:ea typeface="Arial Unicode MS" panose="020B0604020202020204" pitchFamily="34" charset="-122"/>
                        <a:cs typeface="Arial Unicode MS" panose="020B0604020202020204" pitchFamily="34" charset="-122"/>
                      </a:endParaRP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r>
                        <a:rPr lang="en-US" altLang="zh-CN" sz="3200" b="1" dirty="0">
                          <a:latin typeface="Arial Unicode MS" panose="020B0604020202020204" pitchFamily="34" charset="-122"/>
                          <a:ea typeface="Arial Unicode MS" panose="020B0604020202020204" pitchFamily="34" charset="-122"/>
                          <a:cs typeface="Arial Unicode MS" panose="020B0604020202020204" pitchFamily="34" charset="-122"/>
                        </a:rPr>
                        <a:t>0</a:t>
                      </a:r>
                      <a:endParaRPr lang="zh-CN" altLang="en-US" sz="3200" b="1" dirty="0">
                        <a:latin typeface="Arial Unicode MS" panose="020B0604020202020204" pitchFamily="34" charset="-122"/>
                        <a:ea typeface="Arial Unicode MS" panose="020B0604020202020204" pitchFamily="34" charset="-122"/>
                        <a:cs typeface="Arial Unicode MS" panose="020B0604020202020204" pitchFamily="34" charset="-122"/>
                      </a:endParaRP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r>
                        <a:rPr lang="en-US" altLang="zh-CN" sz="3200" b="1" dirty="0">
                          <a:latin typeface="Arial Unicode MS" panose="020B0604020202020204" pitchFamily="34" charset="-122"/>
                          <a:ea typeface="Arial Unicode MS" panose="020B0604020202020204" pitchFamily="34" charset="-122"/>
                          <a:cs typeface="Arial Unicode MS" panose="020B0604020202020204" pitchFamily="34" charset="-122"/>
                        </a:rPr>
                        <a:t>1</a:t>
                      </a:r>
                      <a:endParaRPr lang="zh-CN" altLang="en-US" sz="3200" b="1" dirty="0">
                        <a:latin typeface="Arial Unicode MS" panose="020B0604020202020204" pitchFamily="34" charset="-122"/>
                        <a:ea typeface="Arial Unicode MS" panose="020B0604020202020204" pitchFamily="34" charset="-122"/>
                        <a:cs typeface="Arial Unicode MS" panose="020B0604020202020204" pitchFamily="34" charset="-122"/>
                      </a:endParaRP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r>
                        <a:rPr lang="en-US" altLang="zh-CN" sz="3200" b="1" dirty="0">
                          <a:latin typeface="Arial Unicode MS" panose="020B0604020202020204" pitchFamily="34" charset="-122"/>
                          <a:ea typeface="Arial Unicode MS" panose="020B0604020202020204" pitchFamily="34" charset="-122"/>
                          <a:cs typeface="Arial Unicode MS" panose="020B0604020202020204" pitchFamily="34" charset="-122"/>
                        </a:rPr>
                        <a:t>0</a:t>
                      </a:r>
                      <a:endParaRPr lang="zh-CN" altLang="en-US" sz="3200" b="1" dirty="0">
                        <a:latin typeface="Arial Unicode MS" panose="020B0604020202020204" pitchFamily="34" charset="-122"/>
                        <a:ea typeface="Arial Unicode MS" panose="020B0604020202020204" pitchFamily="34" charset="-122"/>
                        <a:cs typeface="Arial Unicode MS" panose="020B0604020202020204" pitchFamily="34" charset="-122"/>
                      </a:endParaRPr>
                    </a:p>
                  </a:txBody>
                  <a:tcPr anchor="ctr" anchorCtr="1"/>
                </a:tc>
              </a:tr>
              <a:tr h="792733">
                <a:tc>
                  <a:txBody>
                    <a:bodyPr/>
                    <a:lstStyle/>
                    <a:p>
                      <a:r>
                        <a:rPr lang="en-US" altLang="zh-CN" sz="3200" b="1" dirty="0">
                          <a:latin typeface="Arial Unicode MS" panose="020B0604020202020204" pitchFamily="34" charset="-122"/>
                          <a:ea typeface="Arial Unicode MS" panose="020B0604020202020204" pitchFamily="34" charset="-122"/>
                          <a:cs typeface="Arial Unicode MS" panose="020B0604020202020204" pitchFamily="34" charset="-122"/>
                        </a:rPr>
                        <a:t>1</a:t>
                      </a:r>
                      <a:endParaRPr lang="zh-CN" altLang="en-US" sz="3200" b="1" dirty="0">
                        <a:latin typeface="Arial Unicode MS" panose="020B0604020202020204" pitchFamily="34" charset="-122"/>
                        <a:ea typeface="Arial Unicode MS" panose="020B0604020202020204" pitchFamily="34" charset="-122"/>
                        <a:cs typeface="Arial Unicode MS" panose="020B0604020202020204" pitchFamily="34" charset="-122"/>
                      </a:endParaRP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r>
                        <a:rPr lang="en-US" altLang="zh-CN" sz="3200" b="1" dirty="0">
                          <a:latin typeface="Arial Unicode MS" panose="020B0604020202020204" pitchFamily="34" charset="-122"/>
                          <a:ea typeface="Arial Unicode MS" panose="020B0604020202020204" pitchFamily="34" charset="-122"/>
                          <a:cs typeface="Arial Unicode MS" panose="020B0604020202020204" pitchFamily="34" charset="-122"/>
                        </a:rPr>
                        <a:t>0</a:t>
                      </a:r>
                      <a:endParaRPr lang="zh-CN" altLang="en-US" sz="3200" b="1" dirty="0">
                        <a:latin typeface="Arial Unicode MS" panose="020B0604020202020204" pitchFamily="34" charset="-122"/>
                        <a:ea typeface="Arial Unicode MS" panose="020B0604020202020204" pitchFamily="34" charset="-122"/>
                        <a:cs typeface="Arial Unicode MS" panose="020B0604020202020204" pitchFamily="34" charset="-122"/>
                      </a:endParaRP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r>
                        <a:rPr lang="en-US" altLang="zh-CN" sz="3200" b="1" dirty="0">
                          <a:latin typeface="Arial Unicode MS" panose="020B0604020202020204" pitchFamily="34" charset="-122"/>
                          <a:ea typeface="Arial Unicode MS" panose="020B0604020202020204" pitchFamily="34" charset="-122"/>
                          <a:cs typeface="Arial Unicode MS" panose="020B0604020202020204" pitchFamily="34" charset="-122"/>
                        </a:rPr>
                        <a:t>0</a:t>
                      </a:r>
                      <a:endParaRPr lang="zh-CN" altLang="en-US" sz="3200" b="1" dirty="0">
                        <a:latin typeface="Arial Unicode MS" panose="020B0604020202020204" pitchFamily="34" charset="-122"/>
                        <a:ea typeface="Arial Unicode MS" panose="020B0604020202020204" pitchFamily="34" charset="-122"/>
                        <a:cs typeface="Arial Unicode MS" panose="020B0604020202020204" pitchFamily="34" charset="-122"/>
                      </a:endParaRP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r>
                        <a:rPr lang="en-US" altLang="zh-CN" sz="3200" b="1" dirty="0">
                          <a:latin typeface="Arial Unicode MS" panose="020B0604020202020204" pitchFamily="34" charset="-122"/>
                          <a:ea typeface="Arial Unicode MS" panose="020B0604020202020204" pitchFamily="34" charset="-122"/>
                          <a:cs typeface="Arial Unicode MS" panose="020B0604020202020204" pitchFamily="34" charset="-122"/>
                        </a:rPr>
                        <a:t>1</a:t>
                      </a:r>
                      <a:endParaRPr lang="zh-CN" altLang="en-US" sz="3200" b="1" dirty="0">
                        <a:latin typeface="Arial Unicode MS" panose="020B0604020202020204" pitchFamily="34" charset="-122"/>
                        <a:ea typeface="Arial Unicode MS" panose="020B0604020202020204" pitchFamily="34" charset="-122"/>
                        <a:cs typeface="Arial Unicode MS" panose="020B0604020202020204" pitchFamily="34" charset="-122"/>
                      </a:endParaRPr>
                    </a:p>
                  </a:txBody>
                  <a:tcPr anchor="ctr" anchorCtr="1"/>
                </a:tc>
              </a:tr>
            </a:tbl>
          </a:graphicData>
        </a:graphic>
      </p:graphicFrame>
      <p:cxnSp>
        <p:nvCxnSpPr>
          <p:cNvPr id="34" name="直接连接符 33"/>
          <p:cNvCxnSpPr/>
          <p:nvPr/>
        </p:nvCxnSpPr>
        <p:spPr>
          <a:xfrm flipH="1" flipV="1">
            <a:off x="7512055" y="4441811"/>
            <a:ext cx="541866" cy="541866"/>
          </a:xfrm>
          <a:prstGeom prst="line">
            <a:avLst/>
          </a:prstGeom>
          <a:ln w="2857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文本框 34"/>
          <p:cNvSpPr txBox="1"/>
          <p:nvPr/>
        </p:nvSpPr>
        <p:spPr>
          <a:xfrm>
            <a:off x="7668804" y="4348656"/>
            <a:ext cx="7620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b="1" dirty="0">
                <a:solidFill>
                  <a:schemeClr val="bg1"/>
                </a:solidFill>
              </a:rPr>
              <a:t>A</a:t>
            </a:r>
            <a:endParaRPr lang="zh-CN" altLang="en-US" sz="2400" b="1" dirty="0">
              <a:solidFill>
                <a:schemeClr val="bg1"/>
              </a:solidFill>
            </a:endParaRPr>
          </a:p>
        </p:txBody>
      </p:sp>
      <p:sp>
        <p:nvSpPr>
          <p:cNvPr id="36" name="文本框 35"/>
          <p:cNvSpPr txBox="1"/>
          <p:nvPr/>
        </p:nvSpPr>
        <p:spPr>
          <a:xfrm>
            <a:off x="7351189" y="4518754"/>
            <a:ext cx="54186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400" b="1" dirty="0">
                <a:solidFill>
                  <a:schemeClr val="bg1"/>
                </a:solidFill>
              </a:rPr>
              <a:t>B</a:t>
            </a:r>
            <a:endParaRPr lang="zh-CN" altLang="en-US" sz="2400" b="1" dirty="0">
              <a:solidFill>
                <a:schemeClr val="bg1"/>
              </a:solidFill>
            </a:endParaRPr>
          </a:p>
        </p:txBody>
      </p:sp>
      <p:sp>
        <p:nvSpPr>
          <p:cNvPr id="37" name="文本框 36"/>
          <p:cNvSpPr txBox="1"/>
          <p:nvPr/>
        </p:nvSpPr>
        <p:spPr>
          <a:xfrm>
            <a:off x="8389177" y="4531650"/>
            <a:ext cx="66003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400" b="1" dirty="0">
                <a:solidFill>
                  <a:schemeClr val="bg1"/>
                </a:solidFill>
              </a:rPr>
              <a:t>0</a:t>
            </a:r>
            <a:endParaRPr lang="zh-CN" altLang="en-US" sz="2400" b="1" dirty="0">
              <a:solidFill>
                <a:schemeClr val="bg1"/>
              </a:solidFill>
            </a:endParaRPr>
          </a:p>
        </p:txBody>
      </p:sp>
      <p:sp>
        <p:nvSpPr>
          <p:cNvPr id="38" name="文本框 37"/>
          <p:cNvSpPr txBox="1"/>
          <p:nvPr/>
        </p:nvSpPr>
        <p:spPr>
          <a:xfrm>
            <a:off x="9667610" y="4535824"/>
            <a:ext cx="58880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400" b="1" dirty="0">
                <a:solidFill>
                  <a:schemeClr val="bg1"/>
                </a:solidFill>
              </a:rPr>
              <a:t>1</a:t>
            </a:r>
            <a:endParaRPr lang="zh-CN" altLang="en-US" sz="2400" b="1" dirty="0">
              <a:solidFill>
                <a:schemeClr val="bg1"/>
              </a:solidFill>
            </a:endParaRPr>
          </a:p>
        </p:txBody>
      </p:sp>
      <p:sp>
        <p:nvSpPr>
          <p:cNvPr id="41" name="文本框 40"/>
          <p:cNvSpPr txBox="1"/>
          <p:nvPr/>
        </p:nvSpPr>
        <p:spPr>
          <a:xfrm>
            <a:off x="7570951" y="5072500"/>
            <a:ext cx="44275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400" b="1" dirty="0">
                <a:solidFill>
                  <a:schemeClr val="bg1"/>
                </a:solidFill>
              </a:rPr>
              <a:t>0</a:t>
            </a:r>
            <a:endParaRPr lang="zh-CN" altLang="en-US" sz="2400" b="1" dirty="0">
              <a:solidFill>
                <a:schemeClr val="bg1"/>
              </a:solidFill>
            </a:endParaRPr>
          </a:p>
        </p:txBody>
      </p:sp>
      <p:sp>
        <p:nvSpPr>
          <p:cNvPr id="42" name="文本框 41"/>
          <p:cNvSpPr txBox="1"/>
          <p:nvPr/>
        </p:nvSpPr>
        <p:spPr>
          <a:xfrm>
            <a:off x="7570951" y="5866564"/>
            <a:ext cx="3810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400" b="1" dirty="0">
                <a:solidFill>
                  <a:schemeClr val="bg1"/>
                </a:solidFill>
              </a:rPr>
              <a:t>1</a:t>
            </a:r>
            <a:endParaRPr lang="zh-CN" altLang="en-US" sz="2400" b="1" dirty="0">
              <a:solidFill>
                <a:schemeClr val="bg1"/>
              </a:solidFill>
            </a:endParaRPr>
          </a:p>
        </p:txBody>
      </p:sp>
      <p:graphicFrame>
        <p:nvGraphicFramePr>
          <p:cNvPr id="8" name="表格 7"/>
          <p:cNvGraphicFramePr>
            <a:graphicFrameLocks noGrp="1"/>
          </p:cNvGraphicFramePr>
          <p:nvPr/>
        </p:nvGraphicFramePr>
        <p:xfrm>
          <a:off x="8053919" y="4993315"/>
          <a:ext cx="2614080" cy="1568850"/>
        </p:xfrm>
        <a:graphic>
          <a:graphicData uri="http://schemas.openxmlformats.org/drawingml/2006/table">
            <a:tbl>
              <a:tblPr firstRow="1" bandRow="1">
                <a:tableStyleId>{22838BEF-8BB2-4498-84A7-C5851F593DF1}</a:tableStyleId>
              </a:tblPr>
              <a:tblGrid>
                <a:gridCol w="1307040"/>
                <a:gridCol w="1307040"/>
              </a:tblGrid>
              <a:tr h="784425">
                <a:tc>
                  <a:txBody>
                    <a:bodyPr/>
                    <a:lstStyle/>
                    <a:p>
                      <a:endParaRPr lang="zh-CN" altLang="en-US" sz="3600" b="1" dirty="0">
                        <a:latin typeface="Arial Unicode MS" panose="020B0604020202020204" pitchFamily="34" charset="-122"/>
                        <a:ea typeface="Arial Unicode MS" panose="020B0604020202020204" pitchFamily="34" charset="-122"/>
                        <a:cs typeface="Arial Unicode MS" panose="020B0604020202020204" pitchFamily="34" charset="-122"/>
                      </a:endParaRP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endParaRPr lang="zh-CN" altLang="en-US" sz="3600" b="1" dirty="0">
                        <a:latin typeface="Arial Unicode MS" panose="020B0604020202020204" pitchFamily="34" charset="-122"/>
                        <a:ea typeface="Arial Unicode MS" panose="020B0604020202020204" pitchFamily="34" charset="-122"/>
                        <a:cs typeface="Arial Unicode MS" panose="020B0604020202020204" pitchFamily="34" charset="-122"/>
                      </a:endParaRPr>
                    </a:p>
                  </a:txBody>
                  <a:tcPr anchor="ctr" anchorCtr="1"/>
                </a:tc>
              </a:tr>
              <a:tr h="784425">
                <a:tc>
                  <a:txBody>
                    <a:bodyPr/>
                    <a:lstStyle/>
                    <a:p>
                      <a:r>
                        <a:rPr lang="en-US" altLang="zh-CN" sz="3600" b="1" dirty="0">
                          <a:latin typeface="Arial Unicode MS" panose="020B0604020202020204" pitchFamily="34" charset="-122"/>
                          <a:ea typeface="Arial Unicode MS" panose="020B0604020202020204" pitchFamily="34" charset="-122"/>
                          <a:cs typeface="Arial Unicode MS" panose="020B0604020202020204" pitchFamily="34" charset="-122"/>
                        </a:rPr>
                        <a:t>0</a:t>
                      </a:r>
                      <a:endParaRPr lang="zh-CN" altLang="en-US" sz="3600" b="1" dirty="0">
                        <a:latin typeface="Arial Unicode MS" panose="020B0604020202020204" pitchFamily="34" charset="-122"/>
                        <a:ea typeface="Arial Unicode MS" panose="020B0604020202020204" pitchFamily="34" charset="-122"/>
                        <a:cs typeface="Arial Unicode MS" panose="020B0604020202020204" pitchFamily="34" charset="-122"/>
                      </a:endParaRP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endParaRPr lang="zh-CN" altLang="en-US" sz="3600" b="1" dirty="0">
                        <a:latin typeface="Arial Unicode MS" panose="020B0604020202020204" pitchFamily="34" charset="-122"/>
                        <a:ea typeface="Arial Unicode MS" panose="020B0604020202020204" pitchFamily="34" charset="-122"/>
                        <a:cs typeface="Arial Unicode MS" panose="020B0604020202020204" pitchFamily="34" charset="-122"/>
                      </a:endParaRPr>
                    </a:p>
                  </a:txBody>
                  <a:tcPr anchor="ctr" anchorCtr="1"/>
                </a:tc>
              </a:tr>
            </a:tbl>
          </a:graphicData>
        </a:graphic>
      </p:graphicFrame>
      <p:pic>
        <p:nvPicPr>
          <p:cNvPr id="9" name="图片 8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75849" y="5072500"/>
            <a:ext cx="1238480" cy="550487"/>
          </a:xfrm>
          <a:prstGeom prst="rect">
            <a:avLst/>
          </a:prstGeom>
        </p:spPr>
      </p:pic>
      <p:pic>
        <p:nvPicPr>
          <p:cNvPr id="10" name="图片 9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58725" y="5866564"/>
            <a:ext cx="465587" cy="656581"/>
          </a:xfrm>
          <a:prstGeom prst="rect">
            <a:avLst/>
          </a:prstGeom>
        </p:spPr>
      </p:pic>
      <p:pic>
        <p:nvPicPr>
          <p:cNvPr id="12" name="图片 1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36163" y="5124244"/>
            <a:ext cx="520251" cy="611392"/>
          </a:xfrm>
          <a:prstGeom prst="rect">
            <a:avLst/>
          </a:prstGeom>
        </p:spPr>
      </p:pic>
      <p:sp>
        <p:nvSpPr>
          <p:cNvPr id="44" name="右箭头 43"/>
          <p:cNvSpPr/>
          <p:nvPr/>
        </p:nvSpPr>
        <p:spPr>
          <a:xfrm rot="19895589">
            <a:off x="5696678" y="2759424"/>
            <a:ext cx="839140" cy="622643"/>
          </a:xfrm>
          <a:prstGeom prst="rightArrow">
            <a:avLst/>
          </a:prstGeom>
          <a:solidFill>
            <a:schemeClr val="accent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5" name="下箭头 44"/>
          <p:cNvSpPr/>
          <p:nvPr/>
        </p:nvSpPr>
        <p:spPr>
          <a:xfrm>
            <a:off x="8824783" y="3850645"/>
            <a:ext cx="621494" cy="622174"/>
          </a:xfrm>
          <a:prstGeom prst="downArrow">
            <a:avLst/>
          </a:prstGeom>
          <a:solidFill>
            <a:schemeClr val="accent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7" name="组合 56"/>
          <p:cNvGrpSpPr/>
          <p:nvPr/>
        </p:nvGrpSpPr>
        <p:grpSpPr>
          <a:xfrm>
            <a:off x="134487" y="360136"/>
            <a:ext cx="10533513" cy="1077218"/>
            <a:chOff x="134487" y="360136"/>
            <a:chExt cx="10533513" cy="1077218"/>
          </a:xfrm>
        </p:grpSpPr>
        <p:sp>
          <p:nvSpPr>
            <p:cNvPr id="58" name="TextBox 39"/>
            <p:cNvSpPr txBox="1"/>
            <p:nvPr/>
          </p:nvSpPr>
          <p:spPr>
            <a:xfrm>
              <a:off x="272033" y="360136"/>
              <a:ext cx="2343426" cy="107721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zh-CN" altLang="en-US" sz="3200" dirty="0">
                  <a:solidFill>
                    <a:schemeClr val="bg1"/>
                  </a:solidFill>
                  <a:latin typeface="宋体-18030" pitchFamily="49" charset="-122"/>
                  <a:ea typeface="宋体-18030" pitchFamily="49" charset="-122"/>
                </a:rPr>
                <a:t>逻辑函数</a:t>
              </a:r>
              <a:endParaRPr lang="en-US" altLang="zh-CN" sz="3200" dirty="0">
                <a:solidFill>
                  <a:schemeClr val="bg1"/>
                </a:solidFill>
                <a:latin typeface="宋体-18030" pitchFamily="49" charset="-122"/>
                <a:ea typeface="宋体-18030" pitchFamily="49" charset="-122"/>
              </a:endParaRPr>
            </a:p>
            <a:p>
              <a:pPr algn="ctr"/>
              <a:r>
                <a:rPr lang="zh-CN" altLang="en-US" sz="3200" dirty="0">
                  <a:solidFill>
                    <a:schemeClr val="bg1"/>
                  </a:solidFill>
                  <a:latin typeface="宋体-18030" pitchFamily="49" charset="-122"/>
                  <a:ea typeface="宋体-18030" pitchFamily="49" charset="-122"/>
                </a:rPr>
                <a:t>实现</a:t>
              </a:r>
              <a:endParaRPr lang="en-US" altLang="zh-CN" sz="3200" dirty="0">
                <a:solidFill>
                  <a:schemeClr val="bg1"/>
                </a:solidFill>
              </a:endParaRPr>
            </a:p>
          </p:txBody>
        </p:sp>
        <p:sp>
          <p:nvSpPr>
            <p:cNvPr id="59" name="Rectangle 41"/>
            <p:cNvSpPr/>
            <p:nvPr/>
          </p:nvSpPr>
          <p:spPr>
            <a:xfrm rot="16200000">
              <a:off x="95249" y="885029"/>
              <a:ext cx="457200" cy="27432"/>
            </a:xfrm>
            <a:prstGeom prst="rect">
              <a:avLst/>
            </a:prstGeom>
            <a:solidFill>
              <a:srgbClr val="F4B18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1" name="Rectangle 41"/>
            <p:cNvSpPr/>
            <p:nvPr/>
          </p:nvSpPr>
          <p:spPr>
            <a:xfrm rot="16200000">
              <a:off x="-25340" y="829973"/>
              <a:ext cx="457200" cy="137545"/>
            </a:xfrm>
            <a:prstGeom prst="rect">
              <a:avLst/>
            </a:prstGeom>
            <a:solidFill>
              <a:srgbClr val="F4B18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62" name="直接连接符 61"/>
            <p:cNvCxnSpPr/>
            <p:nvPr/>
          </p:nvCxnSpPr>
          <p:spPr>
            <a:xfrm>
              <a:off x="2381250" y="898745"/>
              <a:ext cx="8286750" cy="0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矩形 1"/>
          <p:cNvSpPr/>
          <p:nvPr/>
        </p:nvSpPr>
        <p:spPr>
          <a:xfrm>
            <a:off x="3615267" y="967446"/>
            <a:ext cx="6663266" cy="73866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indent="457200" algn="ctr">
              <a:lnSpc>
                <a:spcPct val="150000"/>
              </a:lnSpc>
            </a:pPr>
            <a:r>
              <a:rPr lang="zh-CN" altLang="en-US" sz="2800" b="1" dirty="0">
                <a:solidFill>
                  <a:schemeClr val="bg1"/>
                </a:solidFill>
                <a:latin typeface="宋体-18030" pitchFamily="49" charset="-122"/>
                <a:ea typeface="宋体-18030" pitchFamily="49" charset="-122"/>
              </a:rPr>
              <a:t>将其中</a:t>
            </a:r>
            <a:r>
              <a:rPr lang="en-US" altLang="zh-CN" sz="2800" b="1" dirty="0">
                <a:solidFill>
                  <a:schemeClr val="bg1"/>
                </a:solidFill>
                <a:latin typeface="宋体-18030" pitchFamily="49" charset="-122"/>
                <a:ea typeface="宋体-18030" pitchFamily="49" charset="-122"/>
              </a:rPr>
              <a:t>4</a:t>
            </a:r>
            <a:r>
              <a:rPr lang="zh-CN" altLang="en-US" sz="2800" b="1" dirty="0">
                <a:solidFill>
                  <a:schemeClr val="bg1"/>
                </a:solidFill>
                <a:latin typeface="宋体-18030" pitchFamily="49" charset="-122"/>
                <a:ea typeface="宋体-18030" pitchFamily="49" charset="-122"/>
              </a:rPr>
              <a:t>个子函数化为最小项表达式</a:t>
            </a:r>
            <a:endParaRPr lang="zh-CN" altLang="en-US" sz="2800" b="1" dirty="0">
              <a:solidFill>
                <a:schemeClr val="bg1"/>
              </a:solidFill>
              <a:latin typeface="宋体-18030" pitchFamily="49" charset="-122"/>
              <a:ea typeface="宋体-18030" pitchFamily="49" charset="-122"/>
            </a:endParaRPr>
          </a:p>
        </p:txBody>
      </p:sp>
      <p:cxnSp>
        <p:nvCxnSpPr>
          <p:cNvPr id="34" name="直接连接符 33"/>
          <p:cNvCxnSpPr/>
          <p:nvPr/>
        </p:nvCxnSpPr>
        <p:spPr>
          <a:xfrm flipH="1" flipV="1">
            <a:off x="766555" y="2069118"/>
            <a:ext cx="541866" cy="541866"/>
          </a:xfrm>
          <a:prstGeom prst="line">
            <a:avLst/>
          </a:prstGeom>
          <a:ln w="2857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文本框 34"/>
          <p:cNvSpPr txBox="1"/>
          <p:nvPr/>
        </p:nvSpPr>
        <p:spPr>
          <a:xfrm>
            <a:off x="923304" y="1975963"/>
            <a:ext cx="7620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b="1" dirty="0">
                <a:solidFill>
                  <a:schemeClr val="bg1"/>
                </a:solidFill>
              </a:rPr>
              <a:t>A</a:t>
            </a:r>
            <a:endParaRPr lang="zh-CN" altLang="en-US" sz="2400" b="1" dirty="0">
              <a:solidFill>
                <a:schemeClr val="bg1"/>
              </a:solidFill>
            </a:endParaRPr>
          </a:p>
        </p:txBody>
      </p:sp>
      <p:sp>
        <p:nvSpPr>
          <p:cNvPr id="36" name="文本框 35"/>
          <p:cNvSpPr txBox="1"/>
          <p:nvPr/>
        </p:nvSpPr>
        <p:spPr>
          <a:xfrm>
            <a:off x="605689" y="2146061"/>
            <a:ext cx="54186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400" b="1" dirty="0">
                <a:solidFill>
                  <a:schemeClr val="bg1"/>
                </a:solidFill>
              </a:rPr>
              <a:t>B</a:t>
            </a:r>
            <a:endParaRPr lang="zh-CN" altLang="en-US" sz="2400" b="1" dirty="0">
              <a:solidFill>
                <a:schemeClr val="bg1"/>
              </a:solidFill>
            </a:endParaRPr>
          </a:p>
        </p:txBody>
      </p:sp>
      <p:sp>
        <p:nvSpPr>
          <p:cNvPr id="37" name="文本框 36"/>
          <p:cNvSpPr txBox="1"/>
          <p:nvPr/>
        </p:nvSpPr>
        <p:spPr>
          <a:xfrm>
            <a:off x="1643677" y="2158957"/>
            <a:ext cx="66003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400" b="1" dirty="0">
                <a:solidFill>
                  <a:schemeClr val="bg1"/>
                </a:solidFill>
              </a:rPr>
              <a:t>0</a:t>
            </a:r>
            <a:endParaRPr lang="zh-CN" altLang="en-US" sz="2400" b="1" dirty="0">
              <a:solidFill>
                <a:schemeClr val="bg1"/>
              </a:solidFill>
            </a:endParaRPr>
          </a:p>
        </p:txBody>
      </p:sp>
      <p:sp>
        <p:nvSpPr>
          <p:cNvPr id="38" name="文本框 37"/>
          <p:cNvSpPr txBox="1"/>
          <p:nvPr/>
        </p:nvSpPr>
        <p:spPr>
          <a:xfrm>
            <a:off x="2922110" y="2163131"/>
            <a:ext cx="58880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400" b="1" dirty="0">
                <a:solidFill>
                  <a:schemeClr val="bg1"/>
                </a:solidFill>
              </a:rPr>
              <a:t>1</a:t>
            </a:r>
            <a:endParaRPr lang="zh-CN" altLang="en-US" sz="2400" b="1" dirty="0">
              <a:solidFill>
                <a:schemeClr val="bg1"/>
              </a:solidFill>
            </a:endParaRPr>
          </a:p>
        </p:txBody>
      </p:sp>
      <p:sp>
        <p:nvSpPr>
          <p:cNvPr id="41" name="文本框 40"/>
          <p:cNvSpPr txBox="1"/>
          <p:nvPr/>
        </p:nvSpPr>
        <p:spPr>
          <a:xfrm>
            <a:off x="825451" y="2699807"/>
            <a:ext cx="44275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400" b="1" dirty="0">
                <a:solidFill>
                  <a:schemeClr val="bg1"/>
                </a:solidFill>
              </a:rPr>
              <a:t>0</a:t>
            </a:r>
            <a:endParaRPr lang="zh-CN" altLang="en-US" sz="2400" b="1" dirty="0">
              <a:solidFill>
                <a:schemeClr val="bg1"/>
              </a:solidFill>
            </a:endParaRPr>
          </a:p>
        </p:txBody>
      </p:sp>
      <p:sp>
        <p:nvSpPr>
          <p:cNvPr id="42" name="文本框 41"/>
          <p:cNvSpPr txBox="1"/>
          <p:nvPr/>
        </p:nvSpPr>
        <p:spPr>
          <a:xfrm>
            <a:off x="825451" y="3493871"/>
            <a:ext cx="3810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400" b="1" dirty="0">
                <a:solidFill>
                  <a:schemeClr val="bg1"/>
                </a:solidFill>
              </a:rPr>
              <a:t>1</a:t>
            </a:r>
            <a:endParaRPr lang="zh-CN" altLang="en-US" sz="2400" b="1" dirty="0">
              <a:solidFill>
                <a:schemeClr val="bg1"/>
              </a:solidFill>
            </a:endParaRPr>
          </a:p>
        </p:txBody>
      </p:sp>
      <p:graphicFrame>
        <p:nvGraphicFramePr>
          <p:cNvPr id="8" name="表格 7"/>
          <p:cNvGraphicFramePr>
            <a:graphicFrameLocks noGrp="1"/>
          </p:cNvGraphicFramePr>
          <p:nvPr/>
        </p:nvGraphicFramePr>
        <p:xfrm>
          <a:off x="1308419" y="2620622"/>
          <a:ext cx="2614080" cy="1568850"/>
        </p:xfrm>
        <a:graphic>
          <a:graphicData uri="http://schemas.openxmlformats.org/drawingml/2006/table">
            <a:tbl>
              <a:tblPr firstRow="1" bandRow="1">
                <a:tableStyleId>{22838BEF-8BB2-4498-84A7-C5851F593DF1}</a:tableStyleId>
              </a:tblPr>
              <a:tblGrid>
                <a:gridCol w="1307040"/>
                <a:gridCol w="1307040"/>
              </a:tblGrid>
              <a:tr h="784425">
                <a:tc>
                  <a:txBody>
                    <a:bodyPr/>
                    <a:lstStyle/>
                    <a:p>
                      <a:endParaRPr lang="zh-CN" altLang="en-US" sz="3600" b="1" dirty="0">
                        <a:latin typeface="Arial Unicode MS" panose="020B0604020202020204" pitchFamily="34" charset="-122"/>
                        <a:ea typeface="Arial Unicode MS" panose="020B0604020202020204" pitchFamily="34" charset="-122"/>
                        <a:cs typeface="Arial Unicode MS" panose="020B0604020202020204" pitchFamily="34" charset="-122"/>
                      </a:endParaRP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endParaRPr lang="zh-CN" altLang="en-US" sz="3600" b="1" dirty="0">
                        <a:latin typeface="Arial Unicode MS" panose="020B0604020202020204" pitchFamily="34" charset="-122"/>
                        <a:ea typeface="Arial Unicode MS" panose="020B0604020202020204" pitchFamily="34" charset="-122"/>
                        <a:cs typeface="Arial Unicode MS" panose="020B0604020202020204" pitchFamily="34" charset="-122"/>
                      </a:endParaRPr>
                    </a:p>
                  </a:txBody>
                  <a:tcPr anchor="ctr" anchorCtr="1"/>
                </a:tc>
              </a:tr>
              <a:tr h="784425">
                <a:tc>
                  <a:txBody>
                    <a:bodyPr/>
                    <a:lstStyle/>
                    <a:p>
                      <a:r>
                        <a:rPr lang="en-US" altLang="zh-CN" sz="3600" b="1" dirty="0">
                          <a:latin typeface="Arial Unicode MS" panose="020B0604020202020204" pitchFamily="34" charset="-122"/>
                          <a:ea typeface="Arial Unicode MS" panose="020B0604020202020204" pitchFamily="34" charset="-122"/>
                          <a:cs typeface="Arial Unicode MS" panose="020B0604020202020204" pitchFamily="34" charset="-122"/>
                        </a:rPr>
                        <a:t>0</a:t>
                      </a:r>
                      <a:endParaRPr lang="zh-CN" altLang="en-US" sz="3600" b="1" dirty="0">
                        <a:latin typeface="Arial Unicode MS" panose="020B0604020202020204" pitchFamily="34" charset="-122"/>
                        <a:ea typeface="Arial Unicode MS" panose="020B0604020202020204" pitchFamily="34" charset="-122"/>
                        <a:cs typeface="Arial Unicode MS" panose="020B0604020202020204" pitchFamily="34" charset="-122"/>
                      </a:endParaRP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endParaRPr lang="zh-CN" altLang="en-US" sz="3600" b="1" dirty="0">
                        <a:latin typeface="Arial Unicode MS" panose="020B0604020202020204" pitchFamily="34" charset="-122"/>
                        <a:ea typeface="Arial Unicode MS" panose="020B0604020202020204" pitchFamily="34" charset="-122"/>
                        <a:cs typeface="Arial Unicode MS" panose="020B0604020202020204" pitchFamily="34" charset="-122"/>
                      </a:endParaRPr>
                    </a:p>
                  </a:txBody>
                  <a:tcPr anchor="ctr" anchorCtr="1"/>
                </a:tc>
              </a:tr>
            </a:tbl>
          </a:graphicData>
        </a:graphic>
      </p:graphicFrame>
      <p:pic>
        <p:nvPicPr>
          <p:cNvPr id="9" name="图片 8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30349" y="2699807"/>
            <a:ext cx="1238480" cy="550487"/>
          </a:xfrm>
          <a:prstGeom prst="rect">
            <a:avLst/>
          </a:prstGeom>
        </p:spPr>
      </p:pic>
      <p:pic>
        <p:nvPicPr>
          <p:cNvPr id="10" name="图片 9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13225" y="3493871"/>
            <a:ext cx="465587" cy="656581"/>
          </a:xfrm>
          <a:prstGeom prst="rect">
            <a:avLst/>
          </a:prstGeom>
        </p:spPr>
      </p:pic>
      <p:pic>
        <p:nvPicPr>
          <p:cNvPr id="12" name="图片 1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90663" y="2751551"/>
            <a:ext cx="520251" cy="611392"/>
          </a:xfrm>
          <a:prstGeom prst="rect">
            <a:avLst/>
          </a:prstGeom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4" name="矩形 3"/>
              <p:cNvSpPr/>
              <p:nvPr/>
            </p:nvSpPr>
            <p:spPr>
              <a:xfrm>
                <a:off x="4704437" y="2758302"/>
                <a:ext cx="5718029" cy="2422266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m>
                        <m:mPr>
                          <m:mcs>
                            <m:mc>
                              <m:mcPr>
                                <m:count m:val="1"/>
                                <m:mcJc m:val="center"/>
                              </m:mcPr>
                            </m:mc>
                          </m:mcs>
                          <m:ctrlPr>
                            <a:rPr lang="zh-CN" altLang="en-US" sz="3600" b="1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mPr>
                        <m:mr>
                          <m:e>
                            <m:sSub>
                              <m:sSubPr>
                                <m:ctrlPr>
                                  <a:rPr lang="zh-CN" altLang="en-US" sz="3600" b="1" i="1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zh-CN" altLang="en-US" sz="3600" b="1" i="1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  <m:t>𝒇</m:t>
                                </m:r>
                              </m:e>
                              <m:sub>
                                <m:r>
                                  <a:rPr lang="zh-CN" altLang="en-US" sz="3600" b="1" i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  <m:t>𝟎</m:t>
                                </m:r>
                              </m:sub>
                            </m:sSub>
                            <m:r>
                              <a:rPr lang="zh-CN" altLang="en-US" sz="3600" b="1" i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=</m:t>
                            </m:r>
                            <m:acc>
                              <m:accPr>
                                <m:chr m:val="̅"/>
                                <m:ctrlPr>
                                  <a:rPr lang="zh-CN" altLang="en-US" sz="3600" b="1" i="1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zh-CN" altLang="en-US" sz="3600" b="1" i="1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  <m:t>𝑪</m:t>
                                </m:r>
                              </m:e>
                            </m:acc>
                            <m:r>
                              <a:rPr lang="zh-CN" altLang="en-US" sz="3600" b="1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𝑫</m:t>
                            </m:r>
                            <m:r>
                              <a:rPr lang="zh-CN" altLang="en-US" sz="3600" b="1" i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zh-CN" altLang="en-US" sz="3600" b="1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𝑪</m:t>
                            </m:r>
                            <m:r>
                              <a:rPr lang="zh-CN" altLang="en-US" sz="3600" b="1" i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=</m:t>
                            </m:r>
                            <m:acc>
                              <m:accPr>
                                <m:chr m:val="̅"/>
                                <m:ctrlPr>
                                  <a:rPr lang="zh-CN" altLang="en-US" sz="3600" b="1" i="1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zh-CN" altLang="en-US" sz="3600" b="1" i="1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  <m:t>𝑪</m:t>
                                </m:r>
                              </m:e>
                            </m:acc>
                            <m:r>
                              <a:rPr lang="zh-CN" altLang="en-US" sz="3600" b="1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𝑫</m:t>
                            </m:r>
                            <m:r>
                              <a:rPr lang="zh-CN" altLang="en-US" sz="3600" b="1" i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zh-CN" altLang="en-US" sz="3600" b="1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𝑪</m:t>
                            </m:r>
                            <m:acc>
                              <m:accPr>
                                <m:chr m:val="̅"/>
                                <m:ctrlPr>
                                  <a:rPr lang="zh-CN" altLang="en-US" sz="3600" b="1" i="1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zh-CN" altLang="en-US" sz="3600" b="1" i="1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  <m:t>𝑫</m:t>
                                </m:r>
                              </m:e>
                            </m:acc>
                            <m:r>
                              <a:rPr lang="zh-CN" altLang="en-US" sz="3600" b="1" i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zh-CN" altLang="en-US" sz="3600" b="1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𝑪𝑫</m:t>
                            </m:r>
                          </m:e>
                        </m:mr>
                        <m:mr>
                          <m:e>
                            <m:sSub>
                              <m:sSubPr>
                                <m:ctrlPr>
                                  <a:rPr lang="zh-CN" altLang="en-US" sz="3600" b="1" i="1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zh-CN" altLang="en-US" sz="3600" b="1" i="1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  <m:t>𝒇</m:t>
                                </m:r>
                              </m:e>
                              <m:sub>
                                <m:r>
                                  <a:rPr lang="zh-CN" altLang="en-US" sz="3600" b="1" i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  <m:t>𝟏</m:t>
                                </m:r>
                              </m:sub>
                            </m:sSub>
                            <m:r>
                              <a:rPr lang="zh-CN" altLang="en-US" sz="3600" b="1" i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=</m:t>
                            </m:r>
                            <m:r>
                              <a:rPr lang="zh-CN" altLang="en-US" sz="3600" b="1" i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𝟎</m:t>
                            </m:r>
                          </m:e>
                        </m:mr>
                        <m:mr>
                          <m:e>
                            <m:sSub>
                              <m:sSubPr>
                                <m:ctrlPr>
                                  <a:rPr lang="zh-CN" altLang="en-US" sz="3600" b="1" i="1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zh-CN" altLang="en-US" sz="3600" b="1" i="1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  <m:t>𝒇</m:t>
                                </m:r>
                              </m:e>
                              <m:sub>
                                <m:r>
                                  <a:rPr lang="zh-CN" altLang="en-US" sz="3600" b="1" i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  <m:t>𝟐</m:t>
                                </m:r>
                              </m:sub>
                            </m:sSub>
                            <m:r>
                              <a:rPr lang="zh-CN" altLang="en-US" sz="3600" b="1" i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=</m:t>
                            </m:r>
                            <m:r>
                              <a:rPr lang="zh-CN" altLang="en-US" sz="3600" b="1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𝑪</m:t>
                            </m:r>
                          </m:e>
                        </m:mr>
                        <m:mr>
                          <m:e>
                            <m:sSub>
                              <m:sSubPr>
                                <m:ctrlPr>
                                  <a:rPr lang="zh-CN" altLang="en-US" sz="3600" b="1" i="1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zh-CN" altLang="en-US" sz="3600" b="1" i="1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  <m:t>𝒇</m:t>
                                </m:r>
                              </m:e>
                              <m:sub>
                                <m:r>
                                  <a:rPr lang="zh-CN" altLang="en-US" sz="3600" b="1" i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  <m:t>𝟑</m:t>
                                </m:r>
                              </m:sub>
                            </m:sSub>
                            <m:r>
                              <a:rPr lang="zh-CN" altLang="en-US" sz="3600" b="1" i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=</m:t>
                            </m:r>
                            <m:acc>
                              <m:accPr>
                                <m:chr m:val="̅"/>
                                <m:ctrlPr>
                                  <a:rPr lang="zh-CN" altLang="en-US" sz="3600" b="1" i="1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zh-CN" altLang="en-US" sz="3600" b="1" i="1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  <m:t>𝑪</m:t>
                                </m:r>
                              </m:e>
                            </m:acc>
                          </m:e>
                        </m:mr>
                      </m:m>
                    </m:oMath>
                  </m:oMathPara>
                </a14:m>
                <a:endParaRPr lang="zh-CN" altLang="en-US" sz="3600" b="1" dirty="0">
                  <a:solidFill>
                    <a:schemeClr val="bg1"/>
                  </a:solidFill>
                </a:endParaRPr>
              </a:p>
            </p:txBody>
          </p:sp>
        </mc:Choice>
        <mc:Fallback>
          <p:sp>
            <p:nvSpPr>
              <p:cNvPr id="4" name="矩形 3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04437" y="2758302"/>
                <a:ext cx="5718029" cy="2422266"/>
              </a:xfrm>
              <a:prstGeom prst="rect">
                <a:avLst/>
              </a:prstGeom>
              <a:blipFill rotWithShape="1">
                <a:blip r:embed="rId4"/>
                <a:stretch>
                  <a:fillRect l="-6" t="-21" r="-8514" b="1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7" name="组合 56"/>
          <p:cNvGrpSpPr/>
          <p:nvPr/>
        </p:nvGrpSpPr>
        <p:grpSpPr>
          <a:xfrm>
            <a:off x="134487" y="360136"/>
            <a:ext cx="10533513" cy="1077218"/>
            <a:chOff x="134487" y="360136"/>
            <a:chExt cx="10533513" cy="1077218"/>
          </a:xfrm>
        </p:grpSpPr>
        <p:sp>
          <p:nvSpPr>
            <p:cNvPr id="58" name="TextBox 39"/>
            <p:cNvSpPr txBox="1"/>
            <p:nvPr/>
          </p:nvSpPr>
          <p:spPr>
            <a:xfrm>
              <a:off x="272033" y="360136"/>
              <a:ext cx="2343426" cy="107721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zh-CN" altLang="en-US" sz="3200" dirty="0">
                  <a:solidFill>
                    <a:schemeClr val="bg1"/>
                  </a:solidFill>
                  <a:latin typeface="宋体-18030" pitchFamily="49" charset="-122"/>
                  <a:ea typeface="宋体-18030" pitchFamily="49" charset="-122"/>
                </a:rPr>
                <a:t>逻辑函数</a:t>
              </a:r>
              <a:endParaRPr lang="en-US" altLang="zh-CN" sz="3200" dirty="0">
                <a:solidFill>
                  <a:schemeClr val="bg1"/>
                </a:solidFill>
                <a:latin typeface="宋体-18030" pitchFamily="49" charset="-122"/>
                <a:ea typeface="宋体-18030" pitchFamily="49" charset="-122"/>
              </a:endParaRPr>
            </a:p>
            <a:p>
              <a:pPr algn="ctr"/>
              <a:r>
                <a:rPr lang="zh-CN" altLang="en-US" sz="3200" dirty="0">
                  <a:solidFill>
                    <a:schemeClr val="bg1"/>
                  </a:solidFill>
                  <a:latin typeface="宋体-18030" pitchFamily="49" charset="-122"/>
                  <a:ea typeface="宋体-18030" pitchFamily="49" charset="-122"/>
                </a:rPr>
                <a:t>实现</a:t>
              </a:r>
              <a:endParaRPr lang="en-US" altLang="zh-CN" sz="3200" dirty="0">
                <a:solidFill>
                  <a:schemeClr val="bg1"/>
                </a:solidFill>
              </a:endParaRPr>
            </a:p>
          </p:txBody>
        </p:sp>
        <p:sp>
          <p:nvSpPr>
            <p:cNvPr id="59" name="Rectangle 41"/>
            <p:cNvSpPr/>
            <p:nvPr/>
          </p:nvSpPr>
          <p:spPr>
            <a:xfrm rot="16200000">
              <a:off x="95249" y="885029"/>
              <a:ext cx="457200" cy="27432"/>
            </a:xfrm>
            <a:prstGeom prst="rect">
              <a:avLst/>
            </a:prstGeom>
            <a:solidFill>
              <a:srgbClr val="F4B18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1" name="Rectangle 41"/>
            <p:cNvSpPr/>
            <p:nvPr/>
          </p:nvSpPr>
          <p:spPr>
            <a:xfrm rot="16200000">
              <a:off x="-25340" y="829973"/>
              <a:ext cx="457200" cy="137545"/>
            </a:xfrm>
            <a:prstGeom prst="rect">
              <a:avLst/>
            </a:prstGeom>
            <a:solidFill>
              <a:srgbClr val="F4B18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62" name="直接连接符 61"/>
            <p:cNvCxnSpPr/>
            <p:nvPr/>
          </p:nvCxnSpPr>
          <p:spPr>
            <a:xfrm>
              <a:off x="2381250" y="898745"/>
              <a:ext cx="8286750" cy="0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矩形 1"/>
          <p:cNvSpPr/>
          <p:nvPr/>
        </p:nvSpPr>
        <p:spPr>
          <a:xfrm>
            <a:off x="3615267" y="967446"/>
            <a:ext cx="4419600" cy="73866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indent="457200" algn="ctr">
              <a:lnSpc>
                <a:spcPct val="150000"/>
              </a:lnSpc>
            </a:pPr>
            <a:r>
              <a:rPr lang="zh-CN" altLang="en-US" sz="2800" b="1" dirty="0">
                <a:solidFill>
                  <a:schemeClr val="bg1"/>
                </a:solidFill>
                <a:latin typeface="宋体-18030" pitchFamily="49" charset="-122"/>
                <a:ea typeface="宋体-18030" pitchFamily="49" charset="-122"/>
              </a:rPr>
              <a:t>逻辑函数实现电路</a:t>
            </a:r>
            <a:endParaRPr lang="zh-CN" altLang="en-US" sz="2800" b="1" dirty="0">
              <a:solidFill>
                <a:schemeClr val="bg1"/>
              </a:solidFill>
              <a:latin typeface="宋体-18030" pitchFamily="49" charset="-122"/>
              <a:ea typeface="宋体-18030" pitchFamily="49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7" name="组合 56"/>
          <p:cNvGrpSpPr/>
          <p:nvPr/>
        </p:nvGrpSpPr>
        <p:grpSpPr>
          <a:xfrm>
            <a:off x="134487" y="360136"/>
            <a:ext cx="10533513" cy="1077218"/>
            <a:chOff x="134487" y="360136"/>
            <a:chExt cx="10533513" cy="1077218"/>
          </a:xfrm>
        </p:grpSpPr>
        <p:sp>
          <p:nvSpPr>
            <p:cNvPr id="58" name="TextBox 39"/>
            <p:cNvSpPr txBox="1"/>
            <p:nvPr/>
          </p:nvSpPr>
          <p:spPr>
            <a:xfrm>
              <a:off x="272033" y="360136"/>
              <a:ext cx="2343426" cy="107721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zh-CN" altLang="en-US" sz="3200" dirty="0">
                  <a:solidFill>
                    <a:schemeClr val="bg1"/>
                  </a:solidFill>
                  <a:latin typeface="宋体-18030" pitchFamily="49" charset="-122"/>
                  <a:ea typeface="宋体-18030" pitchFamily="49" charset="-122"/>
                </a:rPr>
                <a:t>逻辑函数</a:t>
              </a:r>
              <a:endParaRPr lang="en-US" altLang="zh-CN" sz="3200" dirty="0">
                <a:solidFill>
                  <a:schemeClr val="bg1"/>
                </a:solidFill>
                <a:latin typeface="宋体-18030" pitchFamily="49" charset="-122"/>
                <a:ea typeface="宋体-18030" pitchFamily="49" charset="-122"/>
              </a:endParaRPr>
            </a:p>
            <a:p>
              <a:pPr algn="ctr"/>
              <a:r>
                <a:rPr lang="zh-CN" altLang="en-US" sz="3200" dirty="0">
                  <a:solidFill>
                    <a:schemeClr val="bg1"/>
                  </a:solidFill>
                  <a:latin typeface="宋体-18030" pitchFamily="49" charset="-122"/>
                  <a:ea typeface="宋体-18030" pitchFamily="49" charset="-122"/>
                </a:rPr>
                <a:t>实现</a:t>
              </a:r>
              <a:endParaRPr lang="en-US" altLang="zh-CN" sz="3200" dirty="0">
                <a:solidFill>
                  <a:schemeClr val="bg1"/>
                </a:solidFill>
              </a:endParaRPr>
            </a:p>
          </p:txBody>
        </p:sp>
        <p:sp>
          <p:nvSpPr>
            <p:cNvPr id="59" name="Rectangle 41"/>
            <p:cNvSpPr/>
            <p:nvPr/>
          </p:nvSpPr>
          <p:spPr>
            <a:xfrm rot="16200000">
              <a:off x="95249" y="885029"/>
              <a:ext cx="457200" cy="27432"/>
            </a:xfrm>
            <a:prstGeom prst="rect">
              <a:avLst/>
            </a:prstGeom>
            <a:solidFill>
              <a:srgbClr val="F4B18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1" name="Rectangle 41"/>
            <p:cNvSpPr/>
            <p:nvPr/>
          </p:nvSpPr>
          <p:spPr>
            <a:xfrm rot="16200000">
              <a:off x="-25340" y="829973"/>
              <a:ext cx="457200" cy="137545"/>
            </a:xfrm>
            <a:prstGeom prst="rect">
              <a:avLst/>
            </a:prstGeom>
            <a:solidFill>
              <a:srgbClr val="F4B18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62" name="直接连接符 61"/>
            <p:cNvCxnSpPr/>
            <p:nvPr/>
          </p:nvCxnSpPr>
          <p:spPr>
            <a:xfrm>
              <a:off x="2381250" y="898745"/>
              <a:ext cx="8286750" cy="0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矩形 1"/>
          <p:cNvSpPr/>
          <p:nvPr/>
        </p:nvSpPr>
        <p:spPr>
          <a:xfrm>
            <a:off x="3615267" y="967446"/>
            <a:ext cx="4419600" cy="6376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indent="457200" algn="ctr">
              <a:lnSpc>
                <a:spcPct val="150000"/>
              </a:lnSpc>
            </a:pPr>
            <a:r>
              <a:rPr lang="zh-CN" altLang="en-US" sz="2800" b="1" dirty="0">
                <a:solidFill>
                  <a:schemeClr val="bg1"/>
                </a:solidFill>
                <a:latin typeface="宋体-18030" pitchFamily="49" charset="-122"/>
                <a:ea typeface="宋体-18030" pitchFamily="49" charset="-122"/>
              </a:rPr>
              <a:t>实物电路图</a:t>
            </a:r>
            <a:endParaRPr lang="zh-CN" altLang="en-US" sz="2800" b="1" dirty="0">
              <a:solidFill>
                <a:schemeClr val="bg1"/>
              </a:solidFill>
              <a:latin typeface="宋体-18030" pitchFamily="49" charset="-122"/>
              <a:ea typeface="宋体-18030" pitchFamily="49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25"/>
          <p:cNvSpPr txBox="1"/>
          <p:nvPr/>
        </p:nvSpPr>
        <p:spPr>
          <a:xfrm>
            <a:off x="4720021" y="2058356"/>
            <a:ext cx="512017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b="1" dirty="0">
                <a:solidFill>
                  <a:srgbClr val="F4B183"/>
                </a:solidFill>
                <a:latin typeface="宋体-18030" pitchFamily="49" charset="-122"/>
                <a:ea typeface="宋体-18030" pitchFamily="49" charset="-122"/>
              </a:rPr>
              <a:t>用</a:t>
            </a:r>
            <a:r>
              <a:rPr lang="en-US" altLang="zh-CN" sz="2800" b="1" dirty="0">
                <a:solidFill>
                  <a:srgbClr val="F4B183"/>
                </a:solidFill>
                <a:latin typeface="宋体-18030" pitchFamily="49" charset="-122"/>
                <a:ea typeface="宋体-18030" pitchFamily="49" charset="-122"/>
              </a:rPr>
              <a:t>74LS153</a:t>
            </a:r>
            <a:r>
              <a:rPr lang="zh-CN" altLang="en-US" sz="2800" b="1" dirty="0">
                <a:solidFill>
                  <a:srgbClr val="F4B183"/>
                </a:solidFill>
                <a:latin typeface="宋体-18030" pitchFamily="49" charset="-122"/>
                <a:ea typeface="宋体-18030" pitchFamily="49" charset="-122"/>
              </a:rPr>
              <a:t>完成一位全加器实验</a:t>
            </a:r>
            <a:endParaRPr lang="en-US" sz="2800" dirty="0">
              <a:solidFill>
                <a:srgbClr val="F4B183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6" name="TextBox 28"/>
          <p:cNvSpPr txBox="1"/>
          <p:nvPr/>
        </p:nvSpPr>
        <p:spPr>
          <a:xfrm>
            <a:off x="4720021" y="2807209"/>
            <a:ext cx="405095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>
              <a:defRPr sz="2800" b="1">
                <a:solidFill>
                  <a:srgbClr val="F4B183"/>
                </a:solidFill>
                <a:latin typeface="宋体-18030" pitchFamily="49" charset="-122"/>
                <a:ea typeface="宋体-18030" pitchFamily="49" charset="-122"/>
              </a:defRPr>
            </a:lvl1pPr>
          </a:lstStyle>
          <a:p>
            <a:r>
              <a:rPr lang="zh-CN" altLang="en-US" dirty="0"/>
              <a:t>逻辑函数实现实验</a:t>
            </a:r>
            <a:endParaRPr lang="en-US" dirty="0"/>
          </a:p>
        </p:txBody>
      </p:sp>
      <p:sp>
        <p:nvSpPr>
          <p:cNvPr id="10" name="TextBox 35"/>
          <p:cNvSpPr txBox="1"/>
          <p:nvPr/>
        </p:nvSpPr>
        <p:spPr>
          <a:xfrm>
            <a:off x="4007431" y="2058356"/>
            <a:ext cx="575696" cy="510778"/>
          </a:xfrm>
          <a:prstGeom prst="roundRect">
            <a:avLst/>
          </a:prstGeom>
          <a:solidFill>
            <a:srgbClr val="F4B183"/>
          </a:solidFill>
        </p:spPr>
        <p:txBody>
          <a:bodyPr wrap="square" rtlCol="0">
            <a:spAutoFit/>
          </a:bodyPr>
          <a:lstStyle>
            <a:defPPr>
              <a:defRPr lang="zh-CN"/>
            </a:defPPr>
            <a:lvl1pPr algn="ctr">
              <a:defRPr sz="2400" b="1">
                <a:solidFill>
                  <a:schemeClr val="tx1">
                    <a:lumMod val="95000"/>
                    <a:lumOff val="5000"/>
                  </a:schemeClr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defRPr>
            </a:lvl1pPr>
          </a:lstStyle>
          <a:p>
            <a:r>
              <a:rPr lang="en-US" dirty="0"/>
              <a:t>1.1</a:t>
            </a:r>
            <a:endParaRPr lang="en-US" dirty="0"/>
          </a:p>
        </p:txBody>
      </p:sp>
      <p:sp>
        <p:nvSpPr>
          <p:cNvPr id="11" name="TextBox 36"/>
          <p:cNvSpPr txBox="1"/>
          <p:nvPr/>
        </p:nvSpPr>
        <p:spPr>
          <a:xfrm>
            <a:off x="4007431" y="2811059"/>
            <a:ext cx="596294" cy="510778"/>
          </a:xfrm>
          <a:prstGeom prst="roundRect">
            <a:avLst/>
          </a:prstGeom>
          <a:solidFill>
            <a:srgbClr val="F4B183"/>
          </a:solidFill>
        </p:spPr>
        <p:txBody>
          <a:bodyPr wrap="square" rtlCol="0">
            <a:spAutoFit/>
          </a:bodyPr>
          <a:lstStyle>
            <a:defPPr>
              <a:defRPr lang="zh-CN"/>
            </a:defPPr>
            <a:lvl1pPr algn="ctr">
              <a:defRPr sz="2400" b="1">
                <a:solidFill>
                  <a:schemeClr val="tx1">
                    <a:lumMod val="95000"/>
                    <a:lumOff val="5000"/>
                  </a:schemeClr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defRPr>
            </a:lvl1pPr>
          </a:lstStyle>
          <a:p>
            <a:r>
              <a:rPr lang="en-US" dirty="0"/>
              <a:t>1.2</a:t>
            </a:r>
            <a:endParaRPr lang="en-US" dirty="0"/>
          </a:p>
        </p:txBody>
      </p:sp>
      <p:grpSp>
        <p:nvGrpSpPr>
          <p:cNvPr id="20" name="组合 19"/>
          <p:cNvGrpSpPr/>
          <p:nvPr/>
        </p:nvGrpSpPr>
        <p:grpSpPr>
          <a:xfrm>
            <a:off x="134487" y="634029"/>
            <a:ext cx="10533513" cy="523220"/>
            <a:chOff x="134487" y="634029"/>
            <a:chExt cx="10533513" cy="523220"/>
          </a:xfrm>
        </p:grpSpPr>
        <p:sp>
          <p:nvSpPr>
            <p:cNvPr id="16" name="TextBox 39"/>
            <p:cNvSpPr txBox="1"/>
            <p:nvPr/>
          </p:nvSpPr>
          <p:spPr>
            <a:xfrm>
              <a:off x="395986" y="634029"/>
              <a:ext cx="1620958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zh-CN" altLang="en-US" sz="2800" dirty="0">
                  <a:solidFill>
                    <a:schemeClr val="bg1">
                      <a:lumMod val="95000"/>
                    </a:schemeClr>
                  </a:solidFill>
                  <a:latin typeface="Dense" panose="02000000000000000000" pitchFamily="50" charset="0"/>
                  <a:ea typeface="微软雅黑 Light" panose="020B0502040204020203" pitchFamily="34" charset="-122"/>
                </a:rPr>
                <a:t>课程内容</a:t>
              </a:r>
              <a:endParaRPr lang="en-US" sz="2800" dirty="0">
                <a:solidFill>
                  <a:schemeClr val="bg1">
                    <a:lumMod val="95000"/>
                  </a:schemeClr>
                </a:solidFill>
                <a:latin typeface="Dense" panose="02000000000000000000" pitchFamily="50" charset="0"/>
                <a:ea typeface="微软雅黑 Light" panose="020B0502040204020203" pitchFamily="34" charset="-122"/>
              </a:endParaRPr>
            </a:p>
          </p:txBody>
        </p:sp>
        <p:sp>
          <p:nvSpPr>
            <p:cNvPr id="17" name="Rectangle 41"/>
            <p:cNvSpPr/>
            <p:nvPr/>
          </p:nvSpPr>
          <p:spPr>
            <a:xfrm rot="16200000">
              <a:off x="95249" y="885029"/>
              <a:ext cx="457200" cy="27432"/>
            </a:xfrm>
            <a:prstGeom prst="rect">
              <a:avLst/>
            </a:prstGeom>
            <a:solidFill>
              <a:srgbClr val="F4B18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9" name="Rectangle 41"/>
            <p:cNvSpPr/>
            <p:nvPr/>
          </p:nvSpPr>
          <p:spPr>
            <a:xfrm rot="16200000">
              <a:off x="-25340" y="829973"/>
              <a:ext cx="457200" cy="137545"/>
            </a:xfrm>
            <a:prstGeom prst="rect">
              <a:avLst/>
            </a:prstGeom>
            <a:solidFill>
              <a:srgbClr val="F4B18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3" name="直接连接符 2"/>
            <p:cNvCxnSpPr/>
            <p:nvPr/>
          </p:nvCxnSpPr>
          <p:spPr>
            <a:xfrm>
              <a:off x="2381250" y="898745"/>
              <a:ext cx="8286750" cy="0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3" name="TextBox 28"/>
          <p:cNvSpPr txBox="1"/>
          <p:nvPr/>
        </p:nvSpPr>
        <p:spPr>
          <a:xfrm>
            <a:off x="4720020" y="3599467"/>
            <a:ext cx="405095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>
              <a:defRPr sz="2400" b="1">
                <a:solidFill>
                  <a:schemeClr val="bg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1pPr>
          </a:lstStyle>
          <a:p>
            <a:r>
              <a:rPr lang="zh-CN" altLang="en-US" sz="2800" dirty="0">
                <a:latin typeface="宋体-18030" pitchFamily="49" charset="-122"/>
                <a:ea typeface="宋体-18030" pitchFamily="49" charset="-122"/>
              </a:rPr>
              <a:t>脉冲序列产生实验</a:t>
            </a:r>
            <a:endParaRPr lang="en-US" sz="2800" dirty="0"/>
          </a:p>
        </p:txBody>
      </p:sp>
      <p:sp>
        <p:nvSpPr>
          <p:cNvPr id="14" name="TextBox 36"/>
          <p:cNvSpPr txBox="1"/>
          <p:nvPr/>
        </p:nvSpPr>
        <p:spPr>
          <a:xfrm>
            <a:off x="4010044" y="3602335"/>
            <a:ext cx="596294" cy="510778"/>
          </a:xfrm>
          <a:prstGeom prst="round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pPr algn="ctr"/>
            <a:r>
              <a:rPr lang="en-US" sz="2400" b="1" dirty="0">
                <a:solidFill>
                  <a:schemeClr val="tx1">
                    <a:lumMod val="95000"/>
                    <a:lumOff val="5000"/>
                  </a:schemeClr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1.3</a:t>
            </a:r>
            <a:endParaRPr lang="en-US" sz="2400" b="1" dirty="0">
              <a:solidFill>
                <a:schemeClr val="tx1">
                  <a:lumMod val="95000"/>
                  <a:lumOff val="5000"/>
                </a:schemeClr>
              </a:solidFill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</p:txBody>
      </p:sp>
      <p:sp>
        <p:nvSpPr>
          <p:cNvPr id="15" name="TextBox 28"/>
          <p:cNvSpPr txBox="1"/>
          <p:nvPr/>
        </p:nvSpPr>
        <p:spPr>
          <a:xfrm>
            <a:off x="4722634" y="4382125"/>
            <a:ext cx="405095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>
              <a:defRPr sz="3200" b="1">
                <a:solidFill>
                  <a:srgbClr val="F4B183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defRPr>
            </a:lvl1pPr>
          </a:lstStyle>
          <a:p>
            <a:endParaRPr lang="en-US" sz="2800" dirty="0">
              <a:solidFill>
                <a:schemeClr val="bg1"/>
              </a:solidFill>
            </a:endParaRPr>
          </a:p>
        </p:txBody>
      </p:sp>
      <p:sp>
        <p:nvSpPr>
          <p:cNvPr id="18" name="TextBox 36"/>
          <p:cNvSpPr txBox="1"/>
          <p:nvPr/>
        </p:nvSpPr>
        <p:spPr>
          <a:xfrm>
            <a:off x="4007431" y="4393611"/>
            <a:ext cx="601521" cy="510778"/>
          </a:xfrm>
          <a:prstGeom prst="round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pPr algn="ctr"/>
            <a:r>
              <a:rPr lang="en-US" sz="2400" b="1" dirty="0">
                <a:solidFill>
                  <a:schemeClr val="tx1">
                    <a:lumMod val="95000"/>
                    <a:lumOff val="5000"/>
                  </a:schemeClr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1.4</a:t>
            </a:r>
            <a:endParaRPr lang="en-US" sz="2400" b="1" dirty="0">
              <a:solidFill>
                <a:schemeClr val="tx1">
                  <a:lumMod val="95000"/>
                  <a:lumOff val="5000"/>
                </a:schemeClr>
              </a:solidFill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</p:txBody>
      </p:sp>
      <p:sp>
        <p:nvSpPr>
          <p:cNvPr id="21" name="TextBox 28"/>
          <p:cNvSpPr txBox="1"/>
          <p:nvPr/>
        </p:nvSpPr>
        <p:spPr>
          <a:xfrm>
            <a:off x="4720019" y="4391725"/>
            <a:ext cx="405095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>
              <a:defRPr sz="2400" b="1">
                <a:solidFill>
                  <a:schemeClr val="bg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1pPr>
          </a:lstStyle>
          <a:p>
            <a:r>
              <a:rPr lang="zh-CN" altLang="en-US" sz="2800" dirty="0"/>
              <a:t>下一实验内容</a:t>
            </a:r>
            <a:endParaRPr lang="en-US" sz="2800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25"/>
          <p:cNvSpPr txBox="1"/>
          <p:nvPr/>
        </p:nvSpPr>
        <p:spPr>
          <a:xfrm>
            <a:off x="4720021" y="2058356"/>
            <a:ext cx="512017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b="1" dirty="0">
                <a:solidFill>
                  <a:srgbClr val="F4B183"/>
                </a:solidFill>
                <a:latin typeface="宋体-18030" pitchFamily="49" charset="-122"/>
                <a:ea typeface="宋体-18030" pitchFamily="49" charset="-122"/>
              </a:rPr>
              <a:t>用</a:t>
            </a:r>
            <a:r>
              <a:rPr lang="en-US" altLang="zh-CN" sz="2800" b="1" dirty="0">
                <a:solidFill>
                  <a:srgbClr val="F4B183"/>
                </a:solidFill>
                <a:latin typeface="宋体-18030" pitchFamily="49" charset="-122"/>
                <a:ea typeface="宋体-18030" pitchFamily="49" charset="-122"/>
              </a:rPr>
              <a:t>74LS153</a:t>
            </a:r>
            <a:r>
              <a:rPr lang="zh-CN" altLang="en-US" sz="2800" b="1" dirty="0">
                <a:solidFill>
                  <a:srgbClr val="F4B183"/>
                </a:solidFill>
                <a:latin typeface="宋体-18030" pitchFamily="49" charset="-122"/>
                <a:ea typeface="宋体-18030" pitchFamily="49" charset="-122"/>
              </a:rPr>
              <a:t>完成一位全加器实验</a:t>
            </a:r>
            <a:endParaRPr lang="en-US" sz="2800" dirty="0">
              <a:solidFill>
                <a:srgbClr val="F4B183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6" name="TextBox 28"/>
          <p:cNvSpPr txBox="1"/>
          <p:nvPr/>
        </p:nvSpPr>
        <p:spPr>
          <a:xfrm>
            <a:off x="4720021" y="2807209"/>
            <a:ext cx="405095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>
              <a:defRPr sz="2800" b="1">
                <a:solidFill>
                  <a:srgbClr val="F4B183"/>
                </a:solidFill>
                <a:latin typeface="宋体-18030" pitchFamily="49" charset="-122"/>
                <a:ea typeface="宋体-18030" pitchFamily="49" charset="-122"/>
              </a:defRPr>
            </a:lvl1pPr>
          </a:lstStyle>
          <a:p>
            <a:r>
              <a:rPr lang="zh-CN" altLang="en-US" dirty="0"/>
              <a:t>逻辑函数实现实验</a:t>
            </a:r>
            <a:endParaRPr lang="en-US" dirty="0"/>
          </a:p>
        </p:txBody>
      </p:sp>
      <p:sp>
        <p:nvSpPr>
          <p:cNvPr id="10" name="TextBox 35"/>
          <p:cNvSpPr txBox="1"/>
          <p:nvPr/>
        </p:nvSpPr>
        <p:spPr>
          <a:xfrm>
            <a:off x="4007431" y="2058356"/>
            <a:ext cx="575696" cy="510778"/>
          </a:xfrm>
          <a:prstGeom prst="roundRect">
            <a:avLst/>
          </a:prstGeom>
          <a:solidFill>
            <a:srgbClr val="F4B183"/>
          </a:solidFill>
        </p:spPr>
        <p:txBody>
          <a:bodyPr wrap="square" rtlCol="0">
            <a:spAutoFit/>
          </a:bodyPr>
          <a:lstStyle>
            <a:defPPr>
              <a:defRPr lang="zh-CN"/>
            </a:defPPr>
            <a:lvl1pPr algn="ctr">
              <a:defRPr sz="2400" b="1">
                <a:solidFill>
                  <a:schemeClr val="tx1">
                    <a:lumMod val="95000"/>
                    <a:lumOff val="5000"/>
                  </a:schemeClr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defRPr>
            </a:lvl1pPr>
          </a:lstStyle>
          <a:p>
            <a:r>
              <a:rPr lang="en-US" dirty="0"/>
              <a:t>1.1</a:t>
            </a:r>
            <a:endParaRPr lang="en-US" dirty="0"/>
          </a:p>
        </p:txBody>
      </p:sp>
      <p:sp>
        <p:nvSpPr>
          <p:cNvPr id="11" name="TextBox 36"/>
          <p:cNvSpPr txBox="1"/>
          <p:nvPr/>
        </p:nvSpPr>
        <p:spPr>
          <a:xfrm>
            <a:off x="4007431" y="2811059"/>
            <a:ext cx="596294" cy="510778"/>
          </a:xfrm>
          <a:prstGeom prst="roundRect">
            <a:avLst/>
          </a:prstGeom>
          <a:solidFill>
            <a:srgbClr val="F4B183"/>
          </a:solidFill>
        </p:spPr>
        <p:txBody>
          <a:bodyPr wrap="square" rtlCol="0">
            <a:spAutoFit/>
          </a:bodyPr>
          <a:lstStyle>
            <a:defPPr>
              <a:defRPr lang="zh-CN"/>
            </a:defPPr>
            <a:lvl1pPr algn="ctr">
              <a:defRPr sz="2400" b="1">
                <a:solidFill>
                  <a:schemeClr val="tx1">
                    <a:lumMod val="95000"/>
                    <a:lumOff val="5000"/>
                  </a:schemeClr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defRPr>
            </a:lvl1pPr>
          </a:lstStyle>
          <a:p>
            <a:r>
              <a:rPr lang="en-US" dirty="0"/>
              <a:t>1.2</a:t>
            </a:r>
            <a:endParaRPr lang="en-US" dirty="0"/>
          </a:p>
        </p:txBody>
      </p:sp>
      <p:grpSp>
        <p:nvGrpSpPr>
          <p:cNvPr id="20" name="组合 19"/>
          <p:cNvGrpSpPr/>
          <p:nvPr/>
        </p:nvGrpSpPr>
        <p:grpSpPr>
          <a:xfrm>
            <a:off x="134487" y="634029"/>
            <a:ext cx="10533513" cy="523220"/>
            <a:chOff x="134487" y="634029"/>
            <a:chExt cx="10533513" cy="523220"/>
          </a:xfrm>
        </p:grpSpPr>
        <p:sp>
          <p:nvSpPr>
            <p:cNvPr id="16" name="TextBox 39"/>
            <p:cNvSpPr txBox="1"/>
            <p:nvPr/>
          </p:nvSpPr>
          <p:spPr>
            <a:xfrm>
              <a:off x="395986" y="634029"/>
              <a:ext cx="1620958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zh-CN" altLang="en-US" sz="2800" dirty="0">
                  <a:solidFill>
                    <a:schemeClr val="bg1">
                      <a:lumMod val="95000"/>
                    </a:schemeClr>
                  </a:solidFill>
                  <a:latin typeface="Dense" panose="02000000000000000000" pitchFamily="50" charset="0"/>
                  <a:ea typeface="微软雅黑 Light" panose="020B0502040204020203" pitchFamily="34" charset="-122"/>
                </a:rPr>
                <a:t>课程内容</a:t>
              </a:r>
              <a:endParaRPr lang="en-US" sz="2800" dirty="0">
                <a:solidFill>
                  <a:schemeClr val="bg1">
                    <a:lumMod val="95000"/>
                  </a:schemeClr>
                </a:solidFill>
                <a:latin typeface="Dense" panose="02000000000000000000" pitchFamily="50" charset="0"/>
                <a:ea typeface="微软雅黑 Light" panose="020B0502040204020203" pitchFamily="34" charset="-122"/>
              </a:endParaRPr>
            </a:p>
          </p:txBody>
        </p:sp>
        <p:sp>
          <p:nvSpPr>
            <p:cNvPr id="17" name="Rectangle 41"/>
            <p:cNvSpPr/>
            <p:nvPr/>
          </p:nvSpPr>
          <p:spPr>
            <a:xfrm rot="16200000">
              <a:off x="95249" y="885029"/>
              <a:ext cx="457200" cy="27432"/>
            </a:xfrm>
            <a:prstGeom prst="rect">
              <a:avLst/>
            </a:prstGeom>
            <a:solidFill>
              <a:srgbClr val="F4B18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9" name="Rectangle 41"/>
            <p:cNvSpPr/>
            <p:nvPr/>
          </p:nvSpPr>
          <p:spPr>
            <a:xfrm rot="16200000">
              <a:off x="-25340" y="829973"/>
              <a:ext cx="457200" cy="137545"/>
            </a:xfrm>
            <a:prstGeom prst="rect">
              <a:avLst/>
            </a:prstGeom>
            <a:solidFill>
              <a:srgbClr val="F4B18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3" name="直接连接符 2"/>
            <p:cNvCxnSpPr/>
            <p:nvPr/>
          </p:nvCxnSpPr>
          <p:spPr>
            <a:xfrm>
              <a:off x="2381250" y="898745"/>
              <a:ext cx="8286750" cy="0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3" name="TextBox 28"/>
          <p:cNvSpPr txBox="1"/>
          <p:nvPr/>
        </p:nvSpPr>
        <p:spPr>
          <a:xfrm>
            <a:off x="4720020" y="3599467"/>
            <a:ext cx="405095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>
              <a:defRPr sz="2800" b="1">
                <a:solidFill>
                  <a:srgbClr val="F4B183"/>
                </a:solidFill>
                <a:latin typeface="宋体-18030" pitchFamily="49" charset="-122"/>
                <a:ea typeface="宋体-18030" pitchFamily="49" charset="-122"/>
              </a:defRPr>
            </a:lvl1pPr>
          </a:lstStyle>
          <a:p>
            <a:r>
              <a:rPr lang="zh-CN" altLang="en-US" dirty="0"/>
              <a:t>脉冲序列产生实验</a:t>
            </a:r>
            <a:endParaRPr lang="en-US" dirty="0"/>
          </a:p>
        </p:txBody>
      </p:sp>
      <p:sp>
        <p:nvSpPr>
          <p:cNvPr id="14" name="TextBox 36"/>
          <p:cNvSpPr txBox="1"/>
          <p:nvPr/>
        </p:nvSpPr>
        <p:spPr>
          <a:xfrm>
            <a:off x="4010044" y="3602335"/>
            <a:ext cx="596294" cy="510778"/>
          </a:xfrm>
          <a:prstGeom prst="roundRect">
            <a:avLst/>
          </a:prstGeom>
          <a:solidFill>
            <a:srgbClr val="F4B183"/>
          </a:solidFill>
        </p:spPr>
        <p:txBody>
          <a:bodyPr wrap="square" rtlCol="0">
            <a:spAutoFit/>
          </a:bodyPr>
          <a:lstStyle>
            <a:defPPr>
              <a:defRPr lang="zh-CN"/>
            </a:defPPr>
            <a:lvl1pPr algn="ctr">
              <a:defRPr sz="2400" b="1">
                <a:solidFill>
                  <a:schemeClr val="tx1">
                    <a:lumMod val="95000"/>
                    <a:lumOff val="5000"/>
                  </a:schemeClr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defRPr>
            </a:lvl1pPr>
          </a:lstStyle>
          <a:p>
            <a:r>
              <a:rPr lang="en-US" dirty="0"/>
              <a:t>1.3</a:t>
            </a:r>
            <a:endParaRPr lang="en-US" dirty="0"/>
          </a:p>
        </p:txBody>
      </p:sp>
      <p:sp>
        <p:nvSpPr>
          <p:cNvPr id="15" name="TextBox 28"/>
          <p:cNvSpPr txBox="1"/>
          <p:nvPr/>
        </p:nvSpPr>
        <p:spPr>
          <a:xfrm>
            <a:off x="4722634" y="4382125"/>
            <a:ext cx="405095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>
              <a:defRPr sz="3200" b="1">
                <a:solidFill>
                  <a:srgbClr val="F4B183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defRPr>
            </a:lvl1pPr>
          </a:lstStyle>
          <a:p>
            <a:endParaRPr lang="en-US" sz="2800" dirty="0">
              <a:solidFill>
                <a:schemeClr val="bg1"/>
              </a:solidFill>
            </a:endParaRPr>
          </a:p>
        </p:txBody>
      </p:sp>
      <p:sp>
        <p:nvSpPr>
          <p:cNvPr id="18" name="TextBox 36"/>
          <p:cNvSpPr txBox="1"/>
          <p:nvPr/>
        </p:nvSpPr>
        <p:spPr>
          <a:xfrm>
            <a:off x="4007431" y="4393611"/>
            <a:ext cx="601521" cy="510778"/>
          </a:xfrm>
          <a:prstGeom prst="round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pPr algn="ctr"/>
            <a:r>
              <a:rPr lang="en-US" sz="2400" b="1" dirty="0">
                <a:solidFill>
                  <a:schemeClr val="tx1">
                    <a:lumMod val="95000"/>
                    <a:lumOff val="5000"/>
                  </a:schemeClr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1.4</a:t>
            </a:r>
            <a:endParaRPr lang="en-US" sz="2400" b="1" dirty="0">
              <a:solidFill>
                <a:schemeClr val="tx1">
                  <a:lumMod val="95000"/>
                  <a:lumOff val="5000"/>
                </a:schemeClr>
              </a:solidFill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</p:txBody>
      </p:sp>
      <p:sp>
        <p:nvSpPr>
          <p:cNvPr id="21" name="TextBox 28"/>
          <p:cNvSpPr txBox="1"/>
          <p:nvPr/>
        </p:nvSpPr>
        <p:spPr>
          <a:xfrm>
            <a:off x="4720019" y="4391725"/>
            <a:ext cx="405095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>
              <a:defRPr sz="2400" b="1">
                <a:solidFill>
                  <a:schemeClr val="bg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1pPr>
          </a:lstStyle>
          <a:p>
            <a:r>
              <a:rPr lang="zh-CN" altLang="en-US" sz="2800" dirty="0"/>
              <a:t>下一实验内容</a:t>
            </a:r>
            <a:endParaRPr lang="en-US" sz="2800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7" name="组合 56"/>
          <p:cNvGrpSpPr/>
          <p:nvPr/>
        </p:nvGrpSpPr>
        <p:grpSpPr>
          <a:xfrm>
            <a:off x="134487" y="360136"/>
            <a:ext cx="10533513" cy="1077218"/>
            <a:chOff x="134487" y="360136"/>
            <a:chExt cx="10533513" cy="1077218"/>
          </a:xfrm>
        </p:grpSpPr>
        <p:sp>
          <p:nvSpPr>
            <p:cNvPr id="58" name="TextBox 39"/>
            <p:cNvSpPr txBox="1"/>
            <p:nvPr/>
          </p:nvSpPr>
          <p:spPr>
            <a:xfrm>
              <a:off x="272033" y="360136"/>
              <a:ext cx="1870034" cy="107721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zh-CN" altLang="en-US" sz="3200" dirty="0">
                  <a:solidFill>
                    <a:schemeClr val="bg1"/>
                  </a:solidFill>
                </a:rPr>
                <a:t>脉冲序列产生实验</a:t>
              </a:r>
              <a:endParaRPr lang="en-US" altLang="zh-CN" sz="3200" dirty="0">
                <a:solidFill>
                  <a:schemeClr val="bg1"/>
                </a:solidFill>
              </a:endParaRPr>
            </a:p>
          </p:txBody>
        </p:sp>
        <p:sp>
          <p:nvSpPr>
            <p:cNvPr id="59" name="Rectangle 41"/>
            <p:cNvSpPr/>
            <p:nvPr/>
          </p:nvSpPr>
          <p:spPr>
            <a:xfrm rot="16200000">
              <a:off x="95249" y="885029"/>
              <a:ext cx="457200" cy="27432"/>
            </a:xfrm>
            <a:prstGeom prst="rect">
              <a:avLst/>
            </a:prstGeom>
            <a:solidFill>
              <a:srgbClr val="F4B18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1" name="Rectangle 41"/>
            <p:cNvSpPr/>
            <p:nvPr/>
          </p:nvSpPr>
          <p:spPr>
            <a:xfrm rot="16200000">
              <a:off x="-25340" y="829973"/>
              <a:ext cx="457200" cy="137545"/>
            </a:xfrm>
            <a:prstGeom prst="rect">
              <a:avLst/>
            </a:prstGeom>
            <a:solidFill>
              <a:srgbClr val="F4B18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62" name="直接连接符 61"/>
            <p:cNvCxnSpPr/>
            <p:nvPr/>
          </p:nvCxnSpPr>
          <p:spPr>
            <a:xfrm>
              <a:off x="2381250" y="898745"/>
              <a:ext cx="8286750" cy="0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矩形 1"/>
          <p:cNvSpPr/>
          <p:nvPr/>
        </p:nvSpPr>
        <p:spPr>
          <a:xfrm>
            <a:off x="2260600" y="2294049"/>
            <a:ext cx="7662333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indent="457200">
              <a:lnSpc>
                <a:spcPct val="150000"/>
              </a:lnSpc>
            </a:pPr>
            <a:r>
              <a:rPr lang="zh-CN" altLang="en-US" sz="2400" b="1" dirty="0">
                <a:solidFill>
                  <a:schemeClr val="bg1"/>
                </a:solidFill>
                <a:latin typeface="宋体-18030" pitchFamily="49" charset="-122"/>
                <a:ea typeface="宋体-18030" pitchFamily="49" charset="-122"/>
              </a:rPr>
              <a:t>用数据选择器</a:t>
            </a:r>
            <a:r>
              <a:rPr lang="en-US" altLang="zh-CN" sz="2400" b="1" dirty="0">
                <a:solidFill>
                  <a:schemeClr val="bg1"/>
                </a:solidFill>
                <a:latin typeface="宋体-18030" pitchFamily="49" charset="-122"/>
                <a:ea typeface="宋体-18030" pitchFamily="49" charset="-122"/>
              </a:rPr>
              <a:t>74LS153</a:t>
            </a:r>
            <a:r>
              <a:rPr lang="zh-CN" altLang="en-US" sz="2400" b="1" dirty="0">
                <a:solidFill>
                  <a:schemeClr val="bg1"/>
                </a:solidFill>
                <a:latin typeface="宋体-18030" pitchFamily="49" charset="-122"/>
                <a:ea typeface="宋体-18030" pitchFamily="49" charset="-122"/>
              </a:rPr>
              <a:t>产生</a:t>
            </a:r>
            <a:r>
              <a:rPr lang="en-US" altLang="zh-CN" sz="2400" b="1" dirty="0">
                <a:solidFill>
                  <a:schemeClr val="bg1"/>
                </a:solidFill>
                <a:latin typeface="宋体-18030" pitchFamily="49" charset="-122"/>
                <a:ea typeface="宋体-18030" pitchFamily="49" charset="-122"/>
              </a:rPr>
              <a:t>1011 0110</a:t>
            </a:r>
            <a:r>
              <a:rPr lang="zh-CN" altLang="en-US" sz="2400" b="1" dirty="0">
                <a:solidFill>
                  <a:schemeClr val="bg1"/>
                </a:solidFill>
                <a:latin typeface="宋体-18030" pitchFamily="49" charset="-122"/>
                <a:ea typeface="宋体-18030" pitchFamily="49" charset="-122"/>
              </a:rPr>
              <a:t>脉冲序列，并搭试电路进行验证。</a:t>
            </a:r>
            <a:endParaRPr lang="en-US" altLang="zh-CN" sz="2400" b="1" dirty="0">
              <a:solidFill>
                <a:schemeClr val="bg1"/>
              </a:solidFill>
              <a:latin typeface="宋体-18030" pitchFamily="49" charset="-122"/>
              <a:ea typeface="宋体-18030" pitchFamily="49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7" name="组合 56"/>
          <p:cNvGrpSpPr/>
          <p:nvPr/>
        </p:nvGrpSpPr>
        <p:grpSpPr>
          <a:xfrm>
            <a:off x="134487" y="360136"/>
            <a:ext cx="10533513" cy="1077218"/>
            <a:chOff x="134487" y="360136"/>
            <a:chExt cx="10533513" cy="1077218"/>
          </a:xfrm>
        </p:grpSpPr>
        <p:sp>
          <p:nvSpPr>
            <p:cNvPr id="58" name="TextBox 39"/>
            <p:cNvSpPr txBox="1"/>
            <p:nvPr/>
          </p:nvSpPr>
          <p:spPr>
            <a:xfrm>
              <a:off x="272033" y="360136"/>
              <a:ext cx="1870034" cy="107721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zh-CN" altLang="en-US" sz="3200" dirty="0">
                  <a:solidFill>
                    <a:schemeClr val="bg1"/>
                  </a:solidFill>
                </a:rPr>
                <a:t>脉冲序列产生实验</a:t>
              </a:r>
              <a:endParaRPr lang="en-US" altLang="zh-CN" sz="3200" dirty="0">
                <a:solidFill>
                  <a:schemeClr val="bg1"/>
                </a:solidFill>
              </a:endParaRPr>
            </a:p>
          </p:txBody>
        </p:sp>
        <p:sp>
          <p:nvSpPr>
            <p:cNvPr id="59" name="Rectangle 41"/>
            <p:cNvSpPr/>
            <p:nvPr/>
          </p:nvSpPr>
          <p:spPr>
            <a:xfrm rot="16200000">
              <a:off x="95249" y="885029"/>
              <a:ext cx="457200" cy="27432"/>
            </a:xfrm>
            <a:prstGeom prst="rect">
              <a:avLst/>
            </a:prstGeom>
            <a:solidFill>
              <a:srgbClr val="F4B18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1" name="Rectangle 41"/>
            <p:cNvSpPr/>
            <p:nvPr/>
          </p:nvSpPr>
          <p:spPr>
            <a:xfrm rot="16200000">
              <a:off x="-25340" y="829973"/>
              <a:ext cx="457200" cy="137545"/>
            </a:xfrm>
            <a:prstGeom prst="rect">
              <a:avLst/>
            </a:prstGeom>
            <a:solidFill>
              <a:srgbClr val="F4B18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62" name="直接连接符 61"/>
            <p:cNvCxnSpPr/>
            <p:nvPr/>
          </p:nvCxnSpPr>
          <p:spPr>
            <a:xfrm>
              <a:off x="2381250" y="898745"/>
              <a:ext cx="8286750" cy="0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矩形 1"/>
          <p:cNvSpPr/>
          <p:nvPr/>
        </p:nvSpPr>
        <p:spPr>
          <a:xfrm>
            <a:off x="2210859" y="1303449"/>
            <a:ext cx="8457142" cy="111376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indent="457200">
              <a:lnSpc>
                <a:spcPct val="150000"/>
              </a:lnSpc>
            </a:pPr>
            <a:r>
              <a:rPr lang="zh-CN" altLang="en-US" sz="2400" b="1" dirty="0">
                <a:solidFill>
                  <a:schemeClr val="bg1"/>
                </a:solidFill>
                <a:latin typeface="宋体-18030" pitchFamily="49" charset="-122"/>
                <a:ea typeface="宋体-18030" pitchFamily="49" charset="-122"/>
              </a:rPr>
              <a:t>将并行码送至数据选择器的信号输入端，是数据选择器的控制信号按一定的编码顺序依次变换，即可获得串行码输出。</a:t>
            </a:r>
            <a:endParaRPr lang="en-US" altLang="zh-CN" sz="2400" b="1" dirty="0">
              <a:solidFill>
                <a:schemeClr val="bg1"/>
              </a:solidFill>
              <a:latin typeface="宋体-18030" pitchFamily="49" charset="-122"/>
              <a:ea typeface="宋体-18030" pitchFamily="49" charset="-122"/>
            </a:endParaRPr>
          </a:p>
        </p:txBody>
      </p:sp>
      <p:sp>
        <p:nvSpPr>
          <p:cNvPr id="8" name="矩形 7"/>
          <p:cNvSpPr/>
          <p:nvPr/>
        </p:nvSpPr>
        <p:spPr>
          <a:xfrm>
            <a:off x="337566" y="3600851"/>
            <a:ext cx="3919009" cy="175432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indent="457200">
              <a:lnSpc>
                <a:spcPct val="150000"/>
              </a:lnSpc>
            </a:pPr>
            <a:r>
              <a:rPr lang="zh-CN" altLang="en-US" sz="2400" b="1" dirty="0">
                <a:solidFill>
                  <a:schemeClr val="bg1"/>
                </a:solidFill>
                <a:latin typeface="宋体-18030" pitchFamily="49" charset="-122"/>
                <a:ea typeface="宋体-18030" pitchFamily="49" charset="-122"/>
              </a:rPr>
              <a:t>因脉冲序列</a:t>
            </a:r>
            <a:r>
              <a:rPr lang="en-US" altLang="zh-CN" sz="2400" b="1" dirty="0">
                <a:solidFill>
                  <a:schemeClr val="bg1"/>
                </a:solidFill>
                <a:latin typeface="宋体-18030" pitchFamily="49" charset="-122"/>
                <a:ea typeface="宋体-18030" pitchFamily="49" charset="-122"/>
              </a:rPr>
              <a:t>1011 0110</a:t>
            </a:r>
            <a:r>
              <a:rPr lang="zh-CN" altLang="en-US" sz="2400" b="1" dirty="0">
                <a:solidFill>
                  <a:schemeClr val="bg1"/>
                </a:solidFill>
                <a:latin typeface="宋体-18030" pitchFamily="49" charset="-122"/>
                <a:ea typeface="宋体-18030" pitchFamily="49" charset="-122"/>
              </a:rPr>
              <a:t>为</a:t>
            </a:r>
            <a:r>
              <a:rPr lang="en-US" altLang="zh-CN" sz="2400" b="1" dirty="0">
                <a:solidFill>
                  <a:schemeClr val="bg1"/>
                </a:solidFill>
                <a:latin typeface="宋体-18030" pitchFamily="49" charset="-122"/>
                <a:ea typeface="宋体-18030" pitchFamily="49" charset="-122"/>
              </a:rPr>
              <a:t>8</a:t>
            </a:r>
            <a:r>
              <a:rPr lang="zh-CN" altLang="en-US" sz="2400" b="1" dirty="0">
                <a:solidFill>
                  <a:schemeClr val="bg1"/>
                </a:solidFill>
                <a:latin typeface="宋体-18030" pitchFamily="49" charset="-122"/>
                <a:ea typeface="宋体-18030" pitchFamily="49" charset="-122"/>
              </a:rPr>
              <a:t>位序列，将</a:t>
            </a:r>
            <a:r>
              <a:rPr lang="en-US" altLang="zh-CN" sz="2400" b="1" dirty="0">
                <a:solidFill>
                  <a:schemeClr val="bg1"/>
                </a:solidFill>
                <a:latin typeface="宋体-18030" pitchFamily="49" charset="-122"/>
                <a:ea typeface="宋体-18030" pitchFamily="49" charset="-122"/>
              </a:rPr>
              <a:t>74LS153</a:t>
            </a:r>
            <a:r>
              <a:rPr lang="zh-CN" altLang="en-US" sz="2400" b="1" dirty="0">
                <a:solidFill>
                  <a:schemeClr val="bg1"/>
                </a:solidFill>
                <a:latin typeface="宋体-18030" pitchFamily="49" charset="-122"/>
                <a:ea typeface="宋体-18030" pitchFamily="49" charset="-122"/>
              </a:rPr>
              <a:t>扩展成</a:t>
            </a:r>
            <a:r>
              <a:rPr lang="en-US" altLang="zh-CN" sz="2400" b="1" dirty="0">
                <a:solidFill>
                  <a:schemeClr val="bg1"/>
                </a:solidFill>
                <a:latin typeface="宋体-18030" pitchFamily="49" charset="-122"/>
                <a:ea typeface="宋体-18030" pitchFamily="49" charset="-122"/>
              </a:rPr>
              <a:t>8</a:t>
            </a:r>
            <a:r>
              <a:rPr lang="zh-CN" altLang="en-US" sz="2400" b="1" dirty="0">
                <a:solidFill>
                  <a:schemeClr val="bg1"/>
                </a:solidFill>
                <a:latin typeface="宋体-18030" pitchFamily="49" charset="-122"/>
                <a:ea typeface="宋体-18030" pitchFamily="49" charset="-122"/>
              </a:rPr>
              <a:t>选</a:t>
            </a:r>
            <a:r>
              <a:rPr lang="en-US" altLang="zh-CN" sz="2400" b="1" dirty="0">
                <a:solidFill>
                  <a:schemeClr val="bg1"/>
                </a:solidFill>
                <a:latin typeface="宋体-18030" pitchFamily="49" charset="-122"/>
                <a:ea typeface="宋体-18030" pitchFamily="49" charset="-122"/>
              </a:rPr>
              <a:t>1</a:t>
            </a:r>
            <a:r>
              <a:rPr lang="zh-CN" altLang="en-US" sz="2400" b="1" dirty="0">
                <a:solidFill>
                  <a:schemeClr val="bg1"/>
                </a:solidFill>
                <a:latin typeface="宋体-18030" pitchFamily="49" charset="-122"/>
                <a:ea typeface="宋体-18030" pitchFamily="49" charset="-122"/>
              </a:rPr>
              <a:t>的数据选择器。</a:t>
            </a:r>
            <a:endParaRPr lang="en-US" altLang="zh-CN" sz="2400" b="1" dirty="0">
              <a:solidFill>
                <a:schemeClr val="bg1"/>
              </a:solidFill>
              <a:latin typeface="宋体-18030" pitchFamily="49" charset="-122"/>
              <a:ea typeface="宋体-18030" pitchFamily="49" charset="-122"/>
            </a:endParaRPr>
          </a:p>
        </p:txBody>
      </p:sp>
      <p:graphicFrame>
        <p:nvGraphicFramePr>
          <p:cNvPr id="3" name="表格 2"/>
          <p:cNvGraphicFramePr>
            <a:graphicFrameLocks noGrp="1"/>
          </p:cNvGraphicFramePr>
          <p:nvPr/>
        </p:nvGraphicFramePr>
        <p:xfrm>
          <a:off x="5650753" y="2591297"/>
          <a:ext cx="5662706" cy="4069080"/>
        </p:xfrm>
        <a:graphic>
          <a:graphicData uri="http://schemas.openxmlformats.org/drawingml/2006/table">
            <a:tbl>
              <a:tblPr firstRow="1" bandRow="1">
                <a:tableStyleId>{22838BEF-8BB2-4498-84A7-C5851F593DF1}</a:tableStyleId>
              </a:tblPr>
              <a:tblGrid>
                <a:gridCol w="618388"/>
                <a:gridCol w="573761"/>
                <a:gridCol w="640700"/>
                <a:gridCol w="1723151"/>
                <a:gridCol w="2106706"/>
              </a:tblGrid>
              <a:tr h="401320">
                <a:tc gridSpan="3">
                  <a:txBody>
                    <a:bodyPr/>
                    <a:lstStyle/>
                    <a:p>
                      <a:r>
                        <a:rPr lang="zh-CN" altLang="en-US" sz="2400" dirty="0"/>
                        <a:t>控制信号端</a:t>
                      </a:r>
                      <a:endParaRPr lang="zh-CN" altLang="en-US" sz="2400" dirty="0"/>
                    </a:p>
                  </a:txBody>
                  <a:tcPr anchor="ctr" anchorCtr="1"/>
                </a:tc>
                <a:tc hMerge="1">
                  <a:tcPr/>
                </a:tc>
                <a:tc hMerge="1"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sz="2400" dirty="0"/>
                        <a:t>并行序列</a:t>
                      </a:r>
                      <a:endParaRPr lang="zh-CN" altLang="en-US" sz="2400" baseline="-25000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r>
                        <a:rPr lang="zh-CN" altLang="en-US" sz="2400" dirty="0"/>
                        <a:t>串行脉冲序列</a:t>
                      </a:r>
                      <a:endParaRPr lang="zh-CN" altLang="en-US" sz="2400" dirty="0"/>
                    </a:p>
                  </a:txBody>
                  <a:tcPr anchor="ctr" anchorCtr="1"/>
                </a:tc>
              </a:tr>
              <a:tr h="401320">
                <a:tc>
                  <a:txBody>
                    <a:bodyPr/>
                    <a:lstStyle/>
                    <a:p>
                      <a:r>
                        <a:rPr lang="en-US" altLang="zh-CN" sz="2000" b="1" dirty="0">
                          <a:latin typeface="Arial Unicode MS" panose="020B0604020202020204" pitchFamily="34" charset="-122"/>
                          <a:ea typeface="Arial Unicode MS" panose="020B0604020202020204" pitchFamily="34" charset="-122"/>
                          <a:cs typeface="Arial Unicode MS" panose="020B0604020202020204" pitchFamily="34" charset="-122"/>
                        </a:rPr>
                        <a:t>A</a:t>
                      </a:r>
                      <a:endParaRPr lang="zh-CN" altLang="en-US" sz="2000" b="1" dirty="0">
                        <a:latin typeface="Arial Unicode MS" panose="020B0604020202020204" pitchFamily="34" charset="-122"/>
                        <a:ea typeface="Arial Unicode MS" panose="020B0604020202020204" pitchFamily="34" charset="-122"/>
                        <a:cs typeface="Arial Unicode MS" panose="020B0604020202020204" pitchFamily="34" charset="-122"/>
                      </a:endParaRP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r>
                        <a:rPr lang="en-US" altLang="zh-CN" sz="2000" b="1" dirty="0">
                          <a:latin typeface="Arial Unicode MS" panose="020B0604020202020204" pitchFamily="34" charset="-122"/>
                          <a:ea typeface="Arial Unicode MS" panose="020B0604020202020204" pitchFamily="34" charset="-122"/>
                          <a:cs typeface="Arial Unicode MS" panose="020B0604020202020204" pitchFamily="34" charset="-122"/>
                        </a:rPr>
                        <a:t>B</a:t>
                      </a:r>
                      <a:endParaRPr lang="zh-CN" altLang="en-US" sz="2000" b="1" dirty="0">
                        <a:latin typeface="Arial Unicode MS" panose="020B0604020202020204" pitchFamily="34" charset="-122"/>
                        <a:ea typeface="Arial Unicode MS" panose="020B0604020202020204" pitchFamily="34" charset="-122"/>
                        <a:cs typeface="Arial Unicode MS" panose="020B0604020202020204" pitchFamily="34" charset="-122"/>
                      </a:endParaRP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r>
                        <a:rPr lang="en-US" altLang="zh-CN" sz="2000" b="1" dirty="0">
                          <a:latin typeface="Arial Unicode MS" panose="020B0604020202020204" pitchFamily="34" charset="-122"/>
                          <a:ea typeface="Arial Unicode MS" panose="020B0604020202020204" pitchFamily="34" charset="-122"/>
                          <a:cs typeface="Arial Unicode MS" panose="020B0604020202020204" pitchFamily="34" charset="-122"/>
                        </a:rPr>
                        <a:t>C</a:t>
                      </a:r>
                      <a:endParaRPr lang="zh-CN" altLang="en-US" sz="2000" b="1" dirty="0">
                        <a:latin typeface="Arial Unicode MS" panose="020B0604020202020204" pitchFamily="34" charset="-122"/>
                        <a:ea typeface="Arial Unicode MS" panose="020B0604020202020204" pitchFamily="34" charset="-122"/>
                        <a:cs typeface="Arial Unicode MS" panose="020B0604020202020204" pitchFamily="34" charset="-122"/>
                      </a:endParaRP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r>
                        <a:rPr lang="en-US" altLang="zh-CN" sz="2000" b="1" kern="1200" dirty="0">
                          <a:solidFill>
                            <a:schemeClr val="dk1"/>
                          </a:solidFill>
                          <a:latin typeface="Arial Unicode MS" panose="020B0604020202020204" pitchFamily="34" charset="-122"/>
                          <a:ea typeface="Arial Unicode MS" panose="020B0604020202020204" pitchFamily="34" charset="-122"/>
                          <a:cs typeface="Arial Unicode MS" panose="020B0604020202020204" pitchFamily="34" charset="-122"/>
                        </a:rPr>
                        <a:t>D0-D7</a:t>
                      </a:r>
                      <a:endParaRPr lang="zh-CN" altLang="en-US" sz="2000" b="1" kern="1200" dirty="0">
                        <a:solidFill>
                          <a:schemeClr val="dk1"/>
                        </a:solidFill>
                        <a:latin typeface="Arial Unicode MS" panose="020B0604020202020204" pitchFamily="34" charset="-122"/>
                        <a:ea typeface="Arial Unicode MS" panose="020B0604020202020204" pitchFamily="34" charset="-122"/>
                        <a:cs typeface="Arial Unicode MS" panose="020B0604020202020204" pitchFamily="34" charset="-122"/>
                      </a:endParaRP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r>
                        <a:rPr lang="en-US" altLang="zh-CN" sz="2000" b="1" dirty="0">
                          <a:latin typeface="Arial Unicode MS" panose="020B0604020202020204" pitchFamily="34" charset="-122"/>
                          <a:ea typeface="Arial Unicode MS" panose="020B0604020202020204" pitchFamily="34" charset="-122"/>
                          <a:cs typeface="Arial Unicode MS" panose="020B0604020202020204" pitchFamily="34" charset="-122"/>
                        </a:rPr>
                        <a:t>E</a:t>
                      </a:r>
                      <a:endParaRPr lang="zh-CN" altLang="en-US" sz="2000" b="1" dirty="0">
                        <a:latin typeface="Arial Unicode MS" panose="020B0604020202020204" pitchFamily="34" charset="-122"/>
                        <a:ea typeface="Arial Unicode MS" panose="020B0604020202020204" pitchFamily="34" charset="-122"/>
                        <a:cs typeface="Arial Unicode MS" panose="020B0604020202020204" pitchFamily="34" charset="-122"/>
                      </a:endParaRPr>
                    </a:p>
                  </a:txBody>
                  <a:tcPr anchor="ctr" anchorCtr="1"/>
                </a:tc>
              </a:tr>
              <a:tr h="401320">
                <a:tc>
                  <a:txBody>
                    <a:bodyPr/>
                    <a:lstStyle/>
                    <a:p>
                      <a:r>
                        <a:rPr lang="en-US" altLang="zh-CN" sz="2000" b="1" dirty="0">
                          <a:latin typeface="Arial Unicode MS" panose="020B0604020202020204" pitchFamily="34" charset="-122"/>
                          <a:ea typeface="Arial Unicode MS" panose="020B0604020202020204" pitchFamily="34" charset="-122"/>
                          <a:cs typeface="Arial Unicode MS" panose="020B0604020202020204" pitchFamily="34" charset="-122"/>
                        </a:rPr>
                        <a:t>0</a:t>
                      </a:r>
                      <a:endParaRPr lang="zh-CN" altLang="en-US" sz="2000" b="1" dirty="0">
                        <a:latin typeface="Arial Unicode MS" panose="020B0604020202020204" pitchFamily="34" charset="-122"/>
                        <a:ea typeface="Arial Unicode MS" panose="020B0604020202020204" pitchFamily="34" charset="-122"/>
                        <a:cs typeface="Arial Unicode MS" panose="020B0604020202020204" pitchFamily="34" charset="-122"/>
                      </a:endParaRP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r>
                        <a:rPr lang="en-US" altLang="zh-CN" sz="2000" b="1" dirty="0">
                          <a:latin typeface="Arial Unicode MS" panose="020B0604020202020204" pitchFamily="34" charset="-122"/>
                          <a:ea typeface="Arial Unicode MS" panose="020B0604020202020204" pitchFamily="34" charset="-122"/>
                          <a:cs typeface="Arial Unicode MS" panose="020B0604020202020204" pitchFamily="34" charset="-122"/>
                        </a:rPr>
                        <a:t>0</a:t>
                      </a:r>
                      <a:endParaRPr lang="zh-CN" altLang="en-US" sz="2000" b="1" dirty="0">
                        <a:latin typeface="Arial Unicode MS" panose="020B0604020202020204" pitchFamily="34" charset="-122"/>
                        <a:ea typeface="Arial Unicode MS" panose="020B0604020202020204" pitchFamily="34" charset="-122"/>
                        <a:cs typeface="Arial Unicode MS" panose="020B0604020202020204" pitchFamily="34" charset="-122"/>
                      </a:endParaRP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r>
                        <a:rPr lang="en-US" altLang="zh-CN" sz="2000" b="1" dirty="0">
                          <a:latin typeface="Arial Unicode MS" panose="020B0604020202020204" pitchFamily="34" charset="-122"/>
                          <a:ea typeface="Arial Unicode MS" panose="020B0604020202020204" pitchFamily="34" charset="-122"/>
                          <a:cs typeface="Arial Unicode MS" panose="020B0604020202020204" pitchFamily="34" charset="-122"/>
                        </a:rPr>
                        <a:t>0</a:t>
                      </a:r>
                      <a:endParaRPr lang="zh-CN" altLang="en-US" sz="2000" b="1" dirty="0">
                        <a:latin typeface="Arial Unicode MS" panose="020B0604020202020204" pitchFamily="34" charset="-122"/>
                        <a:ea typeface="Arial Unicode MS" panose="020B0604020202020204" pitchFamily="34" charset="-122"/>
                        <a:cs typeface="Arial Unicode MS" panose="020B0604020202020204" pitchFamily="34" charset="-122"/>
                      </a:endParaRPr>
                    </a:p>
                  </a:txBody>
                  <a:tcPr anchor="ctr" anchorCtr="1"/>
                </a:tc>
                <a:tc rowSpan="8"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2000" b="1" kern="1200" dirty="0">
                          <a:solidFill>
                            <a:schemeClr val="dk1"/>
                          </a:solidFill>
                          <a:latin typeface="Arial Unicode MS" panose="020B0604020202020204" pitchFamily="34" charset="-122"/>
                          <a:ea typeface="Arial Unicode MS" panose="020B0604020202020204" pitchFamily="34" charset="-122"/>
                          <a:cs typeface="Arial Unicode MS" panose="020B0604020202020204" pitchFamily="34" charset="-122"/>
                        </a:rPr>
                        <a:t>1011 0110</a:t>
                      </a:r>
                      <a:endParaRPr lang="zh-CN" altLang="en-US" sz="2000" b="1" kern="1200" dirty="0">
                        <a:solidFill>
                          <a:schemeClr val="dk1"/>
                        </a:solidFill>
                        <a:latin typeface="Arial Unicode MS" panose="020B0604020202020204" pitchFamily="34" charset="-122"/>
                        <a:ea typeface="Arial Unicode MS" panose="020B0604020202020204" pitchFamily="34" charset="-122"/>
                        <a:cs typeface="Arial Unicode MS" panose="020B0604020202020204" pitchFamily="34" charset="-122"/>
                      </a:endParaRPr>
                    </a:p>
                    <a:p>
                      <a:endParaRPr lang="zh-CN" altLang="en-US" sz="2000" b="1" dirty="0">
                        <a:latin typeface="Arial Unicode MS" panose="020B0604020202020204" pitchFamily="34" charset="-122"/>
                        <a:ea typeface="Arial Unicode MS" panose="020B0604020202020204" pitchFamily="34" charset="-122"/>
                        <a:cs typeface="Arial Unicode MS" panose="020B0604020202020204" pitchFamily="34" charset="-122"/>
                      </a:endParaRP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r>
                        <a:rPr lang="en-US" altLang="zh-CN" sz="2000" b="1" dirty="0">
                          <a:latin typeface="Arial Unicode MS" panose="020B0604020202020204" pitchFamily="34" charset="-122"/>
                          <a:ea typeface="Arial Unicode MS" panose="020B0604020202020204" pitchFamily="34" charset="-122"/>
                          <a:cs typeface="Arial Unicode MS" panose="020B0604020202020204" pitchFamily="34" charset="-122"/>
                        </a:rPr>
                        <a:t>1</a:t>
                      </a:r>
                      <a:endParaRPr lang="zh-CN" altLang="en-US" sz="2000" b="1" dirty="0">
                        <a:latin typeface="Arial Unicode MS" panose="020B0604020202020204" pitchFamily="34" charset="-122"/>
                        <a:ea typeface="Arial Unicode MS" panose="020B0604020202020204" pitchFamily="34" charset="-122"/>
                        <a:cs typeface="Arial Unicode MS" panose="020B0604020202020204" pitchFamily="34" charset="-122"/>
                      </a:endParaRPr>
                    </a:p>
                  </a:txBody>
                  <a:tcPr anchor="ctr" anchorCtr="1"/>
                </a:tc>
              </a:tr>
              <a:tr h="401320">
                <a:tc>
                  <a:txBody>
                    <a:bodyPr/>
                    <a:lstStyle/>
                    <a:p>
                      <a:r>
                        <a:rPr lang="en-US" altLang="zh-CN" sz="2000" b="1" dirty="0">
                          <a:latin typeface="Arial Unicode MS" panose="020B0604020202020204" pitchFamily="34" charset="-122"/>
                          <a:ea typeface="Arial Unicode MS" panose="020B0604020202020204" pitchFamily="34" charset="-122"/>
                          <a:cs typeface="Arial Unicode MS" panose="020B0604020202020204" pitchFamily="34" charset="-122"/>
                        </a:rPr>
                        <a:t>0</a:t>
                      </a:r>
                      <a:endParaRPr lang="zh-CN" altLang="en-US" sz="2000" b="1" dirty="0">
                        <a:latin typeface="Arial Unicode MS" panose="020B0604020202020204" pitchFamily="34" charset="-122"/>
                        <a:ea typeface="Arial Unicode MS" panose="020B0604020202020204" pitchFamily="34" charset="-122"/>
                        <a:cs typeface="Arial Unicode MS" panose="020B0604020202020204" pitchFamily="34" charset="-122"/>
                      </a:endParaRP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r>
                        <a:rPr lang="en-US" altLang="zh-CN" sz="2000" b="1" dirty="0">
                          <a:latin typeface="Arial Unicode MS" panose="020B0604020202020204" pitchFamily="34" charset="-122"/>
                          <a:ea typeface="Arial Unicode MS" panose="020B0604020202020204" pitchFamily="34" charset="-122"/>
                          <a:cs typeface="Arial Unicode MS" panose="020B0604020202020204" pitchFamily="34" charset="-122"/>
                        </a:rPr>
                        <a:t>0</a:t>
                      </a:r>
                      <a:endParaRPr lang="zh-CN" altLang="en-US" sz="2000" b="1" dirty="0">
                        <a:latin typeface="Arial Unicode MS" panose="020B0604020202020204" pitchFamily="34" charset="-122"/>
                        <a:ea typeface="Arial Unicode MS" panose="020B0604020202020204" pitchFamily="34" charset="-122"/>
                        <a:cs typeface="Arial Unicode MS" panose="020B0604020202020204" pitchFamily="34" charset="-122"/>
                      </a:endParaRP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r>
                        <a:rPr lang="en-US" altLang="zh-CN" sz="2000" b="1" dirty="0">
                          <a:latin typeface="Arial Unicode MS" panose="020B0604020202020204" pitchFamily="34" charset="-122"/>
                          <a:ea typeface="Arial Unicode MS" panose="020B0604020202020204" pitchFamily="34" charset="-122"/>
                          <a:cs typeface="Arial Unicode MS" panose="020B0604020202020204" pitchFamily="34" charset="-122"/>
                        </a:rPr>
                        <a:t>1</a:t>
                      </a:r>
                      <a:endParaRPr lang="zh-CN" altLang="en-US" sz="2000" b="1" dirty="0">
                        <a:latin typeface="Arial Unicode MS" panose="020B0604020202020204" pitchFamily="34" charset="-122"/>
                        <a:ea typeface="Arial Unicode MS" panose="020B0604020202020204" pitchFamily="34" charset="-122"/>
                        <a:cs typeface="Arial Unicode MS" panose="020B0604020202020204" pitchFamily="34" charset="-122"/>
                      </a:endParaRPr>
                    </a:p>
                  </a:txBody>
                  <a:tcPr anchor="ctr" anchorCtr="1"/>
                </a:tc>
                <a:tc vMerge="1">
                  <a:tcPr anchor="ctr" anchorCtr="1"/>
                </a:tc>
                <a:tc>
                  <a:txBody>
                    <a:bodyPr/>
                    <a:lstStyle/>
                    <a:p>
                      <a:r>
                        <a:rPr lang="en-US" altLang="zh-CN" sz="2000" b="1" dirty="0">
                          <a:latin typeface="Arial Unicode MS" panose="020B0604020202020204" pitchFamily="34" charset="-122"/>
                          <a:ea typeface="Arial Unicode MS" panose="020B0604020202020204" pitchFamily="34" charset="-122"/>
                          <a:cs typeface="Arial Unicode MS" panose="020B0604020202020204" pitchFamily="34" charset="-122"/>
                        </a:rPr>
                        <a:t>0</a:t>
                      </a:r>
                      <a:endParaRPr lang="zh-CN" altLang="en-US" sz="2000" b="1" dirty="0">
                        <a:latin typeface="Arial Unicode MS" panose="020B0604020202020204" pitchFamily="34" charset="-122"/>
                        <a:ea typeface="Arial Unicode MS" panose="020B0604020202020204" pitchFamily="34" charset="-122"/>
                        <a:cs typeface="Arial Unicode MS" panose="020B0604020202020204" pitchFamily="34" charset="-122"/>
                      </a:endParaRPr>
                    </a:p>
                  </a:txBody>
                  <a:tcPr anchor="ctr" anchorCtr="1"/>
                </a:tc>
              </a:tr>
              <a:tr h="401320">
                <a:tc>
                  <a:txBody>
                    <a:bodyPr/>
                    <a:lstStyle/>
                    <a:p>
                      <a:r>
                        <a:rPr lang="en-US" altLang="zh-CN" sz="2000" b="1" dirty="0">
                          <a:latin typeface="Arial Unicode MS" panose="020B0604020202020204" pitchFamily="34" charset="-122"/>
                          <a:ea typeface="Arial Unicode MS" panose="020B0604020202020204" pitchFamily="34" charset="-122"/>
                          <a:cs typeface="Arial Unicode MS" panose="020B0604020202020204" pitchFamily="34" charset="-122"/>
                        </a:rPr>
                        <a:t>0</a:t>
                      </a:r>
                      <a:endParaRPr lang="zh-CN" altLang="en-US" sz="2000" b="1" dirty="0">
                        <a:latin typeface="Arial Unicode MS" panose="020B0604020202020204" pitchFamily="34" charset="-122"/>
                        <a:ea typeface="Arial Unicode MS" panose="020B0604020202020204" pitchFamily="34" charset="-122"/>
                        <a:cs typeface="Arial Unicode MS" panose="020B0604020202020204" pitchFamily="34" charset="-122"/>
                      </a:endParaRP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r>
                        <a:rPr lang="en-US" altLang="zh-CN" sz="2000" b="1" dirty="0">
                          <a:latin typeface="Arial Unicode MS" panose="020B0604020202020204" pitchFamily="34" charset="-122"/>
                          <a:ea typeface="Arial Unicode MS" panose="020B0604020202020204" pitchFamily="34" charset="-122"/>
                          <a:cs typeface="Arial Unicode MS" panose="020B0604020202020204" pitchFamily="34" charset="-122"/>
                        </a:rPr>
                        <a:t>1</a:t>
                      </a:r>
                      <a:endParaRPr lang="zh-CN" altLang="en-US" sz="2000" b="1" dirty="0">
                        <a:latin typeface="Arial Unicode MS" panose="020B0604020202020204" pitchFamily="34" charset="-122"/>
                        <a:ea typeface="Arial Unicode MS" panose="020B0604020202020204" pitchFamily="34" charset="-122"/>
                        <a:cs typeface="Arial Unicode MS" panose="020B0604020202020204" pitchFamily="34" charset="-122"/>
                      </a:endParaRP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r>
                        <a:rPr lang="en-US" altLang="zh-CN" sz="2000" b="1" dirty="0">
                          <a:latin typeface="Arial Unicode MS" panose="020B0604020202020204" pitchFamily="34" charset="-122"/>
                          <a:ea typeface="Arial Unicode MS" panose="020B0604020202020204" pitchFamily="34" charset="-122"/>
                          <a:cs typeface="Arial Unicode MS" panose="020B0604020202020204" pitchFamily="34" charset="-122"/>
                        </a:rPr>
                        <a:t>0</a:t>
                      </a:r>
                      <a:endParaRPr lang="zh-CN" altLang="en-US" sz="2000" b="1" dirty="0">
                        <a:latin typeface="Arial Unicode MS" panose="020B0604020202020204" pitchFamily="34" charset="-122"/>
                        <a:ea typeface="Arial Unicode MS" panose="020B0604020202020204" pitchFamily="34" charset="-122"/>
                        <a:cs typeface="Arial Unicode MS" panose="020B0604020202020204" pitchFamily="34" charset="-122"/>
                      </a:endParaRPr>
                    </a:p>
                  </a:txBody>
                  <a:tcPr anchor="ctr" anchorCtr="1"/>
                </a:tc>
                <a:tc vMerge="1">
                  <a:tcPr anchor="ctr" anchorCtr="1"/>
                </a:tc>
                <a:tc>
                  <a:txBody>
                    <a:bodyPr/>
                    <a:lstStyle/>
                    <a:p>
                      <a:r>
                        <a:rPr lang="en-US" altLang="zh-CN" sz="2000" b="1" dirty="0">
                          <a:latin typeface="Arial Unicode MS" panose="020B0604020202020204" pitchFamily="34" charset="-122"/>
                          <a:ea typeface="Arial Unicode MS" panose="020B0604020202020204" pitchFamily="34" charset="-122"/>
                          <a:cs typeface="Arial Unicode MS" panose="020B0604020202020204" pitchFamily="34" charset="-122"/>
                        </a:rPr>
                        <a:t>1</a:t>
                      </a:r>
                      <a:endParaRPr lang="zh-CN" altLang="en-US" sz="2000" b="1" dirty="0">
                        <a:latin typeface="Arial Unicode MS" panose="020B0604020202020204" pitchFamily="34" charset="-122"/>
                        <a:ea typeface="Arial Unicode MS" panose="020B0604020202020204" pitchFamily="34" charset="-122"/>
                        <a:cs typeface="Arial Unicode MS" panose="020B0604020202020204" pitchFamily="34" charset="-122"/>
                      </a:endParaRPr>
                    </a:p>
                  </a:txBody>
                  <a:tcPr anchor="ctr" anchorCtr="1"/>
                </a:tc>
              </a:tr>
              <a:tr h="401320">
                <a:tc>
                  <a:txBody>
                    <a:bodyPr/>
                    <a:lstStyle/>
                    <a:p>
                      <a:r>
                        <a:rPr lang="en-US" altLang="zh-CN" sz="2000" b="1" dirty="0">
                          <a:latin typeface="Arial Unicode MS" panose="020B0604020202020204" pitchFamily="34" charset="-122"/>
                          <a:ea typeface="Arial Unicode MS" panose="020B0604020202020204" pitchFamily="34" charset="-122"/>
                          <a:cs typeface="Arial Unicode MS" panose="020B0604020202020204" pitchFamily="34" charset="-122"/>
                        </a:rPr>
                        <a:t>0</a:t>
                      </a:r>
                      <a:endParaRPr lang="zh-CN" altLang="en-US" sz="2000" b="1" dirty="0">
                        <a:latin typeface="Arial Unicode MS" panose="020B0604020202020204" pitchFamily="34" charset="-122"/>
                        <a:ea typeface="Arial Unicode MS" panose="020B0604020202020204" pitchFamily="34" charset="-122"/>
                        <a:cs typeface="Arial Unicode MS" panose="020B0604020202020204" pitchFamily="34" charset="-122"/>
                      </a:endParaRP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r>
                        <a:rPr lang="en-US" altLang="zh-CN" sz="2000" b="1" dirty="0">
                          <a:latin typeface="Arial Unicode MS" panose="020B0604020202020204" pitchFamily="34" charset="-122"/>
                          <a:ea typeface="Arial Unicode MS" panose="020B0604020202020204" pitchFamily="34" charset="-122"/>
                          <a:cs typeface="Arial Unicode MS" panose="020B0604020202020204" pitchFamily="34" charset="-122"/>
                        </a:rPr>
                        <a:t>1</a:t>
                      </a:r>
                      <a:endParaRPr lang="zh-CN" altLang="en-US" sz="2000" b="1" dirty="0">
                        <a:latin typeface="Arial Unicode MS" panose="020B0604020202020204" pitchFamily="34" charset="-122"/>
                        <a:ea typeface="Arial Unicode MS" panose="020B0604020202020204" pitchFamily="34" charset="-122"/>
                        <a:cs typeface="Arial Unicode MS" panose="020B0604020202020204" pitchFamily="34" charset="-122"/>
                      </a:endParaRP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r>
                        <a:rPr lang="en-US" altLang="zh-CN" sz="2000" b="1" dirty="0">
                          <a:latin typeface="Arial Unicode MS" panose="020B0604020202020204" pitchFamily="34" charset="-122"/>
                          <a:ea typeface="Arial Unicode MS" panose="020B0604020202020204" pitchFamily="34" charset="-122"/>
                          <a:cs typeface="Arial Unicode MS" panose="020B0604020202020204" pitchFamily="34" charset="-122"/>
                        </a:rPr>
                        <a:t>1</a:t>
                      </a:r>
                      <a:endParaRPr lang="zh-CN" altLang="en-US" sz="2000" b="1" dirty="0">
                        <a:latin typeface="Arial Unicode MS" panose="020B0604020202020204" pitchFamily="34" charset="-122"/>
                        <a:ea typeface="Arial Unicode MS" panose="020B0604020202020204" pitchFamily="34" charset="-122"/>
                        <a:cs typeface="Arial Unicode MS" panose="020B0604020202020204" pitchFamily="34" charset="-122"/>
                      </a:endParaRPr>
                    </a:p>
                  </a:txBody>
                  <a:tcPr anchor="ctr" anchorCtr="1"/>
                </a:tc>
                <a:tc vMerge="1">
                  <a:tcPr anchor="ctr" anchorCtr="1"/>
                </a:tc>
                <a:tc>
                  <a:txBody>
                    <a:bodyPr/>
                    <a:lstStyle/>
                    <a:p>
                      <a:r>
                        <a:rPr lang="en-US" altLang="zh-CN" sz="2000" b="1" dirty="0">
                          <a:latin typeface="Arial Unicode MS" panose="020B0604020202020204" pitchFamily="34" charset="-122"/>
                          <a:ea typeface="Arial Unicode MS" panose="020B0604020202020204" pitchFamily="34" charset="-122"/>
                          <a:cs typeface="Arial Unicode MS" panose="020B0604020202020204" pitchFamily="34" charset="-122"/>
                        </a:rPr>
                        <a:t>1</a:t>
                      </a:r>
                      <a:endParaRPr lang="zh-CN" altLang="en-US" sz="2000" b="1" dirty="0">
                        <a:latin typeface="Arial Unicode MS" panose="020B0604020202020204" pitchFamily="34" charset="-122"/>
                        <a:ea typeface="Arial Unicode MS" panose="020B0604020202020204" pitchFamily="34" charset="-122"/>
                        <a:cs typeface="Arial Unicode MS" panose="020B0604020202020204" pitchFamily="34" charset="-122"/>
                      </a:endParaRPr>
                    </a:p>
                  </a:txBody>
                  <a:tcPr anchor="ctr" anchorCtr="1"/>
                </a:tc>
              </a:tr>
              <a:tr h="401320">
                <a:tc>
                  <a:txBody>
                    <a:bodyPr/>
                    <a:lstStyle/>
                    <a:p>
                      <a:r>
                        <a:rPr lang="en-US" altLang="zh-CN" sz="2000" b="1" dirty="0">
                          <a:latin typeface="Arial Unicode MS" panose="020B0604020202020204" pitchFamily="34" charset="-122"/>
                          <a:ea typeface="Arial Unicode MS" panose="020B0604020202020204" pitchFamily="34" charset="-122"/>
                          <a:cs typeface="Arial Unicode MS" panose="020B0604020202020204" pitchFamily="34" charset="-122"/>
                        </a:rPr>
                        <a:t>1</a:t>
                      </a:r>
                      <a:endParaRPr lang="zh-CN" altLang="en-US" sz="2000" b="1" dirty="0">
                        <a:latin typeface="Arial Unicode MS" panose="020B0604020202020204" pitchFamily="34" charset="-122"/>
                        <a:ea typeface="Arial Unicode MS" panose="020B0604020202020204" pitchFamily="34" charset="-122"/>
                        <a:cs typeface="Arial Unicode MS" panose="020B0604020202020204" pitchFamily="34" charset="-122"/>
                      </a:endParaRP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r>
                        <a:rPr lang="en-US" altLang="zh-CN" sz="2000" b="1" dirty="0">
                          <a:latin typeface="Arial Unicode MS" panose="020B0604020202020204" pitchFamily="34" charset="-122"/>
                          <a:ea typeface="Arial Unicode MS" panose="020B0604020202020204" pitchFamily="34" charset="-122"/>
                          <a:cs typeface="Arial Unicode MS" panose="020B0604020202020204" pitchFamily="34" charset="-122"/>
                        </a:rPr>
                        <a:t>0</a:t>
                      </a:r>
                      <a:endParaRPr lang="zh-CN" altLang="en-US" sz="2000" b="1" dirty="0">
                        <a:latin typeface="Arial Unicode MS" panose="020B0604020202020204" pitchFamily="34" charset="-122"/>
                        <a:ea typeface="Arial Unicode MS" panose="020B0604020202020204" pitchFamily="34" charset="-122"/>
                        <a:cs typeface="Arial Unicode MS" panose="020B0604020202020204" pitchFamily="34" charset="-122"/>
                      </a:endParaRP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r>
                        <a:rPr lang="en-US" altLang="zh-CN" sz="2000" b="1" dirty="0">
                          <a:latin typeface="Arial Unicode MS" panose="020B0604020202020204" pitchFamily="34" charset="-122"/>
                          <a:ea typeface="Arial Unicode MS" panose="020B0604020202020204" pitchFamily="34" charset="-122"/>
                          <a:cs typeface="Arial Unicode MS" panose="020B0604020202020204" pitchFamily="34" charset="-122"/>
                        </a:rPr>
                        <a:t>0</a:t>
                      </a:r>
                      <a:endParaRPr lang="zh-CN" altLang="en-US" sz="2000" b="1" dirty="0">
                        <a:latin typeface="Arial Unicode MS" panose="020B0604020202020204" pitchFamily="34" charset="-122"/>
                        <a:ea typeface="Arial Unicode MS" panose="020B0604020202020204" pitchFamily="34" charset="-122"/>
                        <a:cs typeface="Arial Unicode MS" panose="020B0604020202020204" pitchFamily="34" charset="-122"/>
                      </a:endParaRPr>
                    </a:p>
                  </a:txBody>
                  <a:tcPr anchor="ctr" anchorCtr="1"/>
                </a:tc>
                <a:tc vMerge="1">
                  <a:tcPr anchor="ctr" anchorCtr="1"/>
                </a:tc>
                <a:tc>
                  <a:txBody>
                    <a:bodyPr/>
                    <a:lstStyle/>
                    <a:p>
                      <a:r>
                        <a:rPr lang="en-US" altLang="zh-CN" sz="2000" b="1" dirty="0">
                          <a:latin typeface="Arial Unicode MS" panose="020B0604020202020204" pitchFamily="34" charset="-122"/>
                          <a:ea typeface="Arial Unicode MS" panose="020B0604020202020204" pitchFamily="34" charset="-122"/>
                          <a:cs typeface="Arial Unicode MS" panose="020B0604020202020204" pitchFamily="34" charset="-122"/>
                        </a:rPr>
                        <a:t>0</a:t>
                      </a:r>
                      <a:endParaRPr lang="zh-CN" altLang="en-US" sz="2000" b="1" dirty="0">
                        <a:latin typeface="Arial Unicode MS" panose="020B0604020202020204" pitchFamily="34" charset="-122"/>
                        <a:ea typeface="Arial Unicode MS" panose="020B0604020202020204" pitchFamily="34" charset="-122"/>
                        <a:cs typeface="Arial Unicode MS" panose="020B0604020202020204" pitchFamily="34" charset="-122"/>
                      </a:endParaRPr>
                    </a:p>
                  </a:txBody>
                  <a:tcPr anchor="ctr" anchorCtr="1"/>
                </a:tc>
              </a:tr>
              <a:tr h="401320">
                <a:tc>
                  <a:txBody>
                    <a:bodyPr/>
                    <a:lstStyle/>
                    <a:p>
                      <a:r>
                        <a:rPr lang="en-US" altLang="zh-CN" sz="2000" b="1" dirty="0">
                          <a:latin typeface="Arial Unicode MS" panose="020B0604020202020204" pitchFamily="34" charset="-122"/>
                          <a:ea typeface="Arial Unicode MS" panose="020B0604020202020204" pitchFamily="34" charset="-122"/>
                          <a:cs typeface="Arial Unicode MS" panose="020B0604020202020204" pitchFamily="34" charset="-122"/>
                        </a:rPr>
                        <a:t>1</a:t>
                      </a:r>
                      <a:endParaRPr lang="zh-CN" altLang="en-US" sz="2000" b="1" dirty="0">
                        <a:latin typeface="Arial Unicode MS" panose="020B0604020202020204" pitchFamily="34" charset="-122"/>
                        <a:ea typeface="Arial Unicode MS" panose="020B0604020202020204" pitchFamily="34" charset="-122"/>
                        <a:cs typeface="Arial Unicode MS" panose="020B0604020202020204" pitchFamily="34" charset="-122"/>
                      </a:endParaRP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r>
                        <a:rPr lang="en-US" altLang="zh-CN" sz="2000" b="1" dirty="0">
                          <a:latin typeface="Arial Unicode MS" panose="020B0604020202020204" pitchFamily="34" charset="-122"/>
                          <a:ea typeface="Arial Unicode MS" panose="020B0604020202020204" pitchFamily="34" charset="-122"/>
                          <a:cs typeface="Arial Unicode MS" panose="020B0604020202020204" pitchFamily="34" charset="-122"/>
                        </a:rPr>
                        <a:t>0</a:t>
                      </a:r>
                      <a:endParaRPr lang="zh-CN" altLang="en-US" sz="2000" b="1" dirty="0">
                        <a:latin typeface="Arial Unicode MS" panose="020B0604020202020204" pitchFamily="34" charset="-122"/>
                        <a:ea typeface="Arial Unicode MS" panose="020B0604020202020204" pitchFamily="34" charset="-122"/>
                        <a:cs typeface="Arial Unicode MS" panose="020B0604020202020204" pitchFamily="34" charset="-122"/>
                      </a:endParaRP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r>
                        <a:rPr lang="en-US" altLang="zh-CN" sz="2000" b="1" dirty="0">
                          <a:latin typeface="Arial Unicode MS" panose="020B0604020202020204" pitchFamily="34" charset="-122"/>
                          <a:ea typeface="Arial Unicode MS" panose="020B0604020202020204" pitchFamily="34" charset="-122"/>
                          <a:cs typeface="Arial Unicode MS" panose="020B0604020202020204" pitchFamily="34" charset="-122"/>
                        </a:rPr>
                        <a:t>1</a:t>
                      </a:r>
                      <a:endParaRPr lang="zh-CN" altLang="en-US" sz="2000" b="1" dirty="0">
                        <a:latin typeface="Arial Unicode MS" panose="020B0604020202020204" pitchFamily="34" charset="-122"/>
                        <a:ea typeface="Arial Unicode MS" panose="020B0604020202020204" pitchFamily="34" charset="-122"/>
                        <a:cs typeface="Arial Unicode MS" panose="020B0604020202020204" pitchFamily="34" charset="-122"/>
                      </a:endParaRPr>
                    </a:p>
                  </a:txBody>
                  <a:tcPr anchor="ctr" anchorCtr="1"/>
                </a:tc>
                <a:tc vMerge="1">
                  <a:tcPr anchor="ctr" anchorCtr="1"/>
                </a:tc>
                <a:tc>
                  <a:txBody>
                    <a:bodyPr/>
                    <a:lstStyle/>
                    <a:p>
                      <a:r>
                        <a:rPr lang="en-US" altLang="zh-CN" sz="2000" b="1" dirty="0">
                          <a:latin typeface="Arial Unicode MS" panose="020B0604020202020204" pitchFamily="34" charset="-122"/>
                          <a:ea typeface="Arial Unicode MS" panose="020B0604020202020204" pitchFamily="34" charset="-122"/>
                          <a:cs typeface="Arial Unicode MS" panose="020B0604020202020204" pitchFamily="34" charset="-122"/>
                        </a:rPr>
                        <a:t>1</a:t>
                      </a:r>
                      <a:endParaRPr lang="zh-CN" altLang="en-US" sz="2000" b="1" dirty="0">
                        <a:latin typeface="Arial Unicode MS" panose="020B0604020202020204" pitchFamily="34" charset="-122"/>
                        <a:ea typeface="Arial Unicode MS" panose="020B0604020202020204" pitchFamily="34" charset="-122"/>
                        <a:cs typeface="Arial Unicode MS" panose="020B0604020202020204" pitchFamily="34" charset="-122"/>
                      </a:endParaRPr>
                    </a:p>
                  </a:txBody>
                  <a:tcPr anchor="ctr" anchorCtr="1"/>
                </a:tc>
              </a:tr>
              <a:tr h="401320">
                <a:tc>
                  <a:txBody>
                    <a:bodyPr/>
                    <a:lstStyle/>
                    <a:p>
                      <a:r>
                        <a:rPr lang="en-US" altLang="zh-CN" sz="2000" b="1" dirty="0">
                          <a:latin typeface="Arial Unicode MS" panose="020B0604020202020204" pitchFamily="34" charset="-122"/>
                          <a:ea typeface="Arial Unicode MS" panose="020B0604020202020204" pitchFamily="34" charset="-122"/>
                          <a:cs typeface="Arial Unicode MS" panose="020B0604020202020204" pitchFamily="34" charset="-122"/>
                        </a:rPr>
                        <a:t>1</a:t>
                      </a:r>
                      <a:endParaRPr lang="zh-CN" altLang="en-US" sz="2000" b="1" dirty="0">
                        <a:latin typeface="Arial Unicode MS" panose="020B0604020202020204" pitchFamily="34" charset="-122"/>
                        <a:ea typeface="Arial Unicode MS" panose="020B0604020202020204" pitchFamily="34" charset="-122"/>
                        <a:cs typeface="Arial Unicode MS" panose="020B0604020202020204" pitchFamily="34" charset="-122"/>
                      </a:endParaRP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r>
                        <a:rPr lang="en-US" altLang="zh-CN" sz="2000" b="1" dirty="0">
                          <a:latin typeface="Arial Unicode MS" panose="020B0604020202020204" pitchFamily="34" charset="-122"/>
                          <a:ea typeface="Arial Unicode MS" panose="020B0604020202020204" pitchFamily="34" charset="-122"/>
                          <a:cs typeface="Arial Unicode MS" panose="020B0604020202020204" pitchFamily="34" charset="-122"/>
                        </a:rPr>
                        <a:t>1</a:t>
                      </a:r>
                      <a:endParaRPr lang="zh-CN" altLang="en-US" sz="2000" b="1" dirty="0">
                        <a:latin typeface="Arial Unicode MS" panose="020B0604020202020204" pitchFamily="34" charset="-122"/>
                        <a:ea typeface="Arial Unicode MS" panose="020B0604020202020204" pitchFamily="34" charset="-122"/>
                        <a:cs typeface="Arial Unicode MS" panose="020B0604020202020204" pitchFamily="34" charset="-122"/>
                      </a:endParaRP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r>
                        <a:rPr lang="en-US" altLang="zh-CN" sz="2000" b="1" dirty="0">
                          <a:latin typeface="Arial Unicode MS" panose="020B0604020202020204" pitchFamily="34" charset="-122"/>
                          <a:ea typeface="Arial Unicode MS" panose="020B0604020202020204" pitchFamily="34" charset="-122"/>
                          <a:cs typeface="Arial Unicode MS" panose="020B0604020202020204" pitchFamily="34" charset="-122"/>
                        </a:rPr>
                        <a:t>0</a:t>
                      </a:r>
                      <a:endParaRPr lang="zh-CN" altLang="en-US" sz="2000" b="1" dirty="0">
                        <a:latin typeface="Arial Unicode MS" panose="020B0604020202020204" pitchFamily="34" charset="-122"/>
                        <a:ea typeface="Arial Unicode MS" panose="020B0604020202020204" pitchFamily="34" charset="-122"/>
                        <a:cs typeface="Arial Unicode MS" panose="020B0604020202020204" pitchFamily="34" charset="-122"/>
                      </a:endParaRPr>
                    </a:p>
                  </a:txBody>
                  <a:tcPr anchor="ctr" anchorCtr="1"/>
                </a:tc>
                <a:tc vMerge="1">
                  <a:tcPr anchor="ctr" anchorCtr="1"/>
                </a:tc>
                <a:tc>
                  <a:txBody>
                    <a:bodyPr/>
                    <a:lstStyle/>
                    <a:p>
                      <a:r>
                        <a:rPr lang="en-US" altLang="zh-CN" sz="2000" b="1" dirty="0">
                          <a:latin typeface="Arial Unicode MS" panose="020B0604020202020204" pitchFamily="34" charset="-122"/>
                          <a:ea typeface="Arial Unicode MS" panose="020B0604020202020204" pitchFamily="34" charset="-122"/>
                          <a:cs typeface="Arial Unicode MS" panose="020B0604020202020204" pitchFamily="34" charset="-122"/>
                        </a:rPr>
                        <a:t>1</a:t>
                      </a:r>
                      <a:endParaRPr lang="zh-CN" altLang="en-US" sz="2000" b="1" dirty="0">
                        <a:latin typeface="Arial Unicode MS" panose="020B0604020202020204" pitchFamily="34" charset="-122"/>
                        <a:ea typeface="Arial Unicode MS" panose="020B0604020202020204" pitchFamily="34" charset="-122"/>
                        <a:cs typeface="Arial Unicode MS" panose="020B0604020202020204" pitchFamily="34" charset="-122"/>
                      </a:endParaRPr>
                    </a:p>
                  </a:txBody>
                  <a:tcPr anchor="ctr" anchorCtr="1"/>
                </a:tc>
              </a:tr>
              <a:tr h="401320">
                <a:tc>
                  <a:txBody>
                    <a:bodyPr/>
                    <a:lstStyle/>
                    <a:p>
                      <a:r>
                        <a:rPr lang="en-US" altLang="zh-CN" sz="2000" b="1" dirty="0">
                          <a:latin typeface="Arial Unicode MS" panose="020B0604020202020204" pitchFamily="34" charset="-122"/>
                          <a:ea typeface="Arial Unicode MS" panose="020B0604020202020204" pitchFamily="34" charset="-122"/>
                          <a:cs typeface="Arial Unicode MS" panose="020B0604020202020204" pitchFamily="34" charset="-122"/>
                        </a:rPr>
                        <a:t>1</a:t>
                      </a:r>
                      <a:endParaRPr lang="zh-CN" altLang="en-US" sz="2000" b="1" dirty="0">
                        <a:latin typeface="Arial Unicode MS" panose="020B0604020202020204" pitchFamily="34" charset="-122"/>
                        <a:ea typeface="Arial Unicode MS" panose="020B0604020202020204" pitchFamily="34" charset="-122"/>
                        <a:cs typeface="Arial Unicode MS" panose="020B0604020202020204" pitchFamily="34" charset="-122"/>
                      </a:endParaRP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r>
                        <a:rPr lang="en-US" altLang="zh-CN" sz="2000" b="1" dirty="0">
                          <a:latin typeface="Arial Unicode MS" panose="020B0604020202020204" pitchFamily="34" charset="-122"/>
                          <a:ea typeface="Arial Unicode MS" panose="020B0604020202020204" pitchFamily="34" charset="-122"/>
                          <a:cs typeface="Arial Unicode MS" panose="020B0604020202020204" pitchFamily="34" charset="-122"/>
                        </a:rPr>
                        <a:t>1</a:t>
                      </a:r>
                      <a:endParaRPr lang="zh-CN" altLang="en-US" sz="2000" b="1" dirty="0">
                        <a:latin typeface="Arial Unicode MS" panose="020B0604020202020204" pitchFamily="34" charset="-122"/>
                        <a:ea typeface="Arial Unicode MS" panose="020B0604020202020204" pitchFamily="34" charset="-122"/>
                        <a:cs typeface="Arial Unicode MS" panose="020B0604020202020204" pitchFamily="34" charset="-122"/>
                      </a:endParaRP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r>
                        <a:rPr lang="en-US" altLang="zh-CN" sz="2000" b="1" dirty="0">
                          <a:latin typeface="Arial Unicode MS" panose="020B0604020202020204" pitchFamily="34" charset="-122"/>
                          <a:ea typeface="Arial Unicode MS" panose="020B0604020202020204" pitchFamily="34" charset="-122"/>
                          <a:cs typeface="Arial Unicode MS" panose="020B0604020202020204" pitchFamily="34" charset="-122"/>
                        </a:rPr>
                        <a:t>1</a:t>
                      </a:r>
                      <a:endParaRPr lang="zh-CN" altLang="en-US" sz="2000" b="1" dirty="0">
                        <a:latin typeface="Arial Unicode MS" panose="020B0604020202020204" pitchFamily="34" charset="-122"/>
                        <a:ea typeface="Arial Unicode MS" panose="020B0604020202020204" pitchFamily="34" charset="-122"/>
                        <a:cs typeface="Arial Unicode MS" panose="020B0604020202020204" pitchFamily="34" charset="-122"/>
                      </a:endParaRPr>
                    </a:p>
                  </a:txBody>
                  <a:tcPr anchor="ctr" anchorCtr="1"/>
                </a:tc>
                <a:tc vMerge="1">
                  <a:tcPr anchor="ctr" anchorCtr="1"/>
                </a:tc>
                <a:tc>
                  <a:txBody>
                    <a:bodyPr/>
                    <a:lstStyle/>
                    <a:p>
                      <a:r>
                        <a:rPr lang="en-US" altLang="zh-CN" sz="2000" b="1" dirty="0">
                          <a:latin typeface="Arial Unicode MS" panose="020B0604020202020204" pitchFamily="34" charset="-122"/>
                          <a:ea typeface="Arial Unicode MS" panose="020B0604020202020204" pitchFamily="34" charset="-122"/>
                          <a:cs typeface="Arial Unicode MS" panose="020B0604020202020204" pitchFamily="34" charset="-122"/>
                        </a:rPr>
                        <a:t>0</a:t>
                      </a:r>
                      <a:endParaRPr lang="zh-CN" altLang="en-US" sz="2000" b="1" dirty="0">
                        <a:latin typeface="Arial Unicode MS" panose="020B0604020202020204" pitchFamily="34" charset="-122"/>
                        <a:ea typeface="Arial Unicode MS" panose="020B0604020202020204" pitchFamily="34" charset="-122"/>
                        <a:cs typeface="Arial Unicode MS" panose="020B0604020202020204" pitchFamily="34" charset="-122"/>
                      </a:endParaRPr>
                    </a:p>
                  </a:txBody>
                  <a:tcPr anchor="ctr" anchorCtr="1"/>
                </a:tc>
              </a:tr>
            </a:tbl>
          </a:graphicData>
        </a:graphic>
      </p:graphicFrame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7" name="组合 56"/>
          <p:cNvGrpSpPr/>
          <p:nvPr/>
        </p:nvGrpSpPr>
        <p:grpSpPr>
          <a:xfrm>
            <a:off x="134487" y="360136"/>
            <a:ext cx="10533513" cy="1077218"/>
            <a:chOff x="134487" y="360136"/>
            <a:chExt cx="10533513" cy="1077218"/>
          </a:xfrm>
        </p:grpSpPr>
        <p:sp>
          <p:nvSpPr>
            <p:cNvPr id="58" name="TextBox 39"/>
            <p:cNvSpPr txBox="1"/>
            <p:nvPr/>
          </p:nvSpPr>
          <p:spPr>
            <a:xfrm>
              <a:off x="272033" y="360136"/>
              <a:ext cx="1870034" cy="107721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zh-CN" altLang="en-US" sz="3200" dirty="0">
                  <a:solidFill>
                    <a:schemeClr val="bg1"/>
                  </a:solidFill>
                </a:rPr>
                <a:t>脉冲序列产生实验</a:t>
              </a:r>
              <a:endParaRPr lang="en-US" altLang="zh-CN" sz="3200" dirty="0">
                <a:solidFill>
                  <a:schemeClr val="bg1"/>
                </a:solidFill>
              </a:endParaRPr>
            </a:p>
          </p:txBody>
        </p:sp>
        <p:sp>
          <p:nvSpPr>
            <p:cNvPr id="59" name="Rectangle 41"/>
            <p:cNvSpPr/>
            <p:nvPr/>
          </p:nvSpPr>
          <p:spPr>
            <a:xfrm rot="16200000">
              <a:off x="95249" y="885029"/>
              <a:ext cx="457200" cy="27432"/>
            </a:xfrm>
            <a:prstGeom prst="rect">
              <a:avLst/>
            </a:prstGeom>
            <a:solidFill>
              <a:srgbClr val="F4B18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1" name="Rectangle 41"/>
            <p:cNvSpPr/>
            <p:nvPr/>
          </p:nvSpPr>
          <p:spPr>
            <a:xfrm rot="16200000">
              <a:off x="-25340" y="829973"/>
              <a:ext cx="457200" cy="137545"/>
            </a:xfrm>
            <a:prstGeom prst="rect">
              <a:avLst/>
            </a:prstGeom>
            <a:solidFill>
              <a:srgbClr val="F4B18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62" name="直接连接符 61"/>
            <p:cNvCxnSpPr/>
            <p:nvPr/>
          </p:nvCxnSpPr>
          <p:spPr>
            <a:xfrm>
              <a:off x="2381250" y="898745"/>
              <a:ext cx="8286750" cy="0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矩形 1"/>
          <p:cNvSpPr/>
          <p:nvPr/>
        </p:nvSpPr>
        <p:spPr>
          <a:xfrm>
            <a:off x="2381250" y="983910"/>
            <a:ext cx="6431056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indent="457200" algn="ctr">
              <a:lnSpc>
                <a:spcPct val="150000"/>
              </a:lnSpc>
            </a:pPr>
            <a:r>
              <a:rPr lang="zh-CN" altLang="en-US" sz="2400" b="1" dirty="0">
                <a:solidFill>
                  <a:schemeClr val="bg1"/>
                </a:solidFill>
                <a:latin typeface="宋体-18030" pitchFamily="49" charset="-122"/>
                <a:ea typeface="宋体-18030" pitchFamily="49" charset="-122"/>
              </a:rPr>
              <a:t>脉冲序列产生电路图</a:t>
            </a:r>
            <a:endParaRPr lang="en-US" altLang="zh-CN" sz="2400" b="1" dirty="0">
              <a:solidFill>
                <a:schemeClr val="bg1"/>
              </a:solidFill>
              <a:latin typeface="宋体-18030" pitchFamily="49" charset="-122"/>
              <a:ea typeface="宋体-18030" pitchFamily="49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7" name="组合 56"/>
          <p:cNvGrpSpPr/>
          <p:nvPr/>
        </p:nvGrpSpPr>
        <p:grpSpPr>
          <a:xfrm>
            <a:off x="134487" y="360136"/>
            <a:ext cx="10533513" cy="1077218"/>
            <a:chOff x="134487" y="360136"/>
            <a:chExt cx="10533513" cy="1077218"/>
          </a:xfrm>
        </p:grpSpPr>
        <p:sp>
          <p:nvSpPr>
            <p:cNvPr id="58" name="TextBox 39"/>
            <p:cNvSpPr txBox="1"/>
            <p:nvPr/>
          </p:nvSpPr>
          <p:spPr>
            <a:xfrm>
              <a:off x="272033" y="360136"/>
              <a:ext cx="1870034" cy="107721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zh-CN" altLang="en-US" sz="3200" dirty="0">
                  <a:solidFill>
                    <a:schemeClr val="bg1"/>
                  </a:solidFill>
                </a:rPr>
                <a:t>脉冲序列产生实验</a:t>
              </a:r>
              <a:endParaRPr lang="en-US" altLang="zh-CN" sz="3200" dirty="0">
                <a:solidFill>
                  <a:schemeClr val="bg1"/>
                </a:solidFill>
              </a:endParaRPr>
            </a:p>
          </p:txBody>
        </p:sp>
        <p:sp>
          <p:nvSpPr>
            <p:cNvPr id="59" name="Rectangle 41"/>
            <p:cNvSpPr/>
            <p:nvPr/>
          </p:nvSpPr>
          <p:spPr>
            <a:xfrm rot="16200000">
              <a:off x="95249" y="885029"/>
              <a:ext cx="457200" cy="27432"/>
            </a:xfrm>
            <a:prstGeom prst="rect">
              <a:avLst/>
            </a:prstGeom>
            <a:solidFill>
              <a:srgbClr val="F4B18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1" name="Rectangle 41"/>
            <p:cNvSpPr/>
            <p:nvPr/>
          </p:nvSpPr>
          <p:spPr>
            <a:xfrm rot="16200000">
              <a:off x="-25340" y="829973"/>
              <a:ext cx="457200" cy="137545"/>
            </a:xfrm>
            <a:prstGeom prst="rect">
              <a:avLst/>
            </a:prstGeom>
            <a:solidFill>
              <a:srgbClr val="F4B18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62" name="直接连接符 61"/>
            <p:cNvCxnSpPr/>
            <p:nvPr/>
          </p:nvCxnSpPr>
          <p:spPr>
            <a:xfrm>
              <a:off x="2381250" y="898745"/>
              <a:ext cx="8286750" cy="0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矩形 1"/>
          <p:cNvSpPr/>
          <p:nvPr/>
        </p:nvSpPr>
        <p:spPr>
          <a:xfrm>
            <a:off x="2381250" y="983910"/>
            <a:ext cx="6431056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indent="457200" algn="ctr">
              <a:lnSpc>
                <a:spcPct val="150000"/>
              </a:lnSpc>
            </a:pPr>
            <a:r>
              <a:rPr lang="zh-CN" altLang="en-US" sz="2400" b="1" dirty="0">
                <a:solidFill>
                  <a:schemeClr val="bg1"/>
                </a:solidFill>
                <a:latin typeface="宋体-18030" pitchFamily="49" charset="-122"/>
                <a:ea typeface="宋体-18030" pitchFamily="49" charset="-122"/>
              </a:rPr>
              <a:t>脉冲序列产生电路实物图</a:t>
            </a:r>
            <a:endParaRPr lang="en-US" altLang="zh-CN" sz="2400" b="1" dirty="0">
              <a:solidFill>
                <a:schemeClr val="bg1"/>
              </a:solidFill>
              <a:latin typeface="宋体-18030" pitchFamily="49" charset="-122"/>
              <a:ea typeface="宋体-18030" pitchFamily="49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25"/>
          <p:cNvSpPr txBox="1"/>
          <p:nvPr/>
        </p:nvSpPr>
        <p:spPr>
          <a:xfrm>
            <a:off x="4720021" y="2058356"/>
            <a:ext cx="512017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b="1" dirty="0">
                <a:solidFill>
                  <a:srgbClr val="F4B183"/>
                </a:solidFill>
                <a:latin typeface="宋体-18030" pitchFamily="49" charset="-122"/>
                <a:ea typeface="宋体-18030" pitchFamily="49" charset="-122"/>
              </a:rPr>
              <a:t>用</a:t>
            </a:r>
            <a:r>
              <a:rPr lang="en-US" altLang="zh-CN" sz="2800" b="1" dirty="0">
                <a:solidFill>
                  <a:srgbClr val="F4B183"/>
                </a:solidFill>
                <a:latin typeface="宋体-18030" pitchFamily="49" charset="-122"/>
                <a:ea typeface="宋体-18030" pitchFamily="49" charset="-122"/>
              </a:rPr>
              <a:t>74LS153</a:t>
            </a:r>
            <a:r>
              <a:rPr lang="zh-CN" altLang="en-US" sz="2800" b="1" dirty="0">
                <a:solidFill>
                  <a:srgbClr val="F4B183"/>
                </a:solidFill>
                <a:latin typeface="宋体-18030" pitchFamily="49" charset="-122"/>
                <a:ea typeface="宋体-18030" pitchFamily="49" charset="-122"/>
              </a:rPr>
              <a:t>完成一位全加器实验</a:t>
            </a:r>
            <a:endParaRPr lang="en-US" sz="2800" dirty="0">
              <a:solidFill>
                <a:srgbClr val="F4B183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6" name="TextBox 28"/>
          <p:cNvSpPr txBox="1"/>
          <p:nvPr/>
        </p:nvSpPr>
        <p:spPr>
          <a:xfrm>
            <a:off x="4720021" y="2807209"/>
            <a:ext cx="405095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>
              <a:defRPr sz="2800" b="1">
                <a:solidFill>
                  <a:srgbClr val="F4B183"/>
                </a:solidFill>
                <a:latin typeface="宋体-18030" pitchFamily="49" charset="-122"/>
                <a:ea typeface="宋体-18030" pitchFamily="49" charset="-122"/>
              </a:defRPr>
            </a:lvl1pPr>
          </a:lstStyle>
          <a:p>
            <a:r>
              <a:rPr lang="zh-CN" altLang="en-US" dirty="0"/>
              <a:t>逻辑函数实现实验</a:t>
            </a:r>
            <a:endParaRPr lang="en-US" dirty="0"/>
          </a:p>
        </p:txBody>
      </p:sp>
      <p:sp>
        <p:nvSpPr>
          <p:cNvPr id="10" name="TextBox 35"/>
          <p:cNvSpPr txBox="1"/>
          <p:nvPr/>
        </p:nvSpPr>
        <p:spPr>
          <a:xfrm>
            <a:off x="4007431" y="2058356"/>
            <a:ext cx="575696" cy="510778"/>
          </a:xfrm>
          <a:prstGeom prst="roundRect">
            <a:avLst/>
          </a:prstGeom>
          <a:solidFill>
            <a:srgbClr val="F4B183"/>
          </a:solidFill>
        </p:spPr>
        <p:txBody>
          <a:bodyPr wrap="square" rtlCol="0">
            <a:spAutoFit/>
          </a:bodyPr>
          <a:lstStyle>
            <a:defPPr>
              <a:defRPr lang="zh-CN"/>
            </a:defPPr>
            <a:lvl1pPr algn="ctr">
              <a:defRPr sz="2400" b="1">
                <a:solidFill>
                  <a:schemeClr val="tx1">
                    <a:lumMod val="95000"/>
                    <a:lumOff val="5000"/>
                  </a:schemeClr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defRPr>
            </a:lvl1pPr>
          </a:lstStyle>
          <a:p>
            <a:r>
              <a:rPr lang="en-US" dirty="0"/>
              <a:t>1.1</a:t>
            </a:r>
            <a:endParaRPr lang="en-US" dirty="0"/>
          </a:p>
        </p:txBody>
      </p:sp>
      <p:sp>
        <p:nvSpPr>
          <p:cNvPr id="11" name="TextBox 36"/>
          <p:cNvSpPr txBox="1"/>
          <p:nvPr/>
        </p:nvSpPr>
        <p:spPr>
          <a:xfrm>
            <a:off x="4007431" y="2811059"/>
            <a:ext cx="596294" cy="510778"/>
          </a:xfrm>
          <a:prstGeom prst="roundRect">
            <a:avLst/>
          </a:prstGeom>
          <a:solidFill>
            <a:srgbClr val="F4B183"/>
          </a:solidFill>
        </p:spPr>
        <p:txBody>
          <a:bodyPr wrap="square" rtlCol="0">
            <a:spAutoFit/>
          </a:bodyPr>
          <a:lstStyle>
            <a:defPPr>
              <a:defRPr lang="zh-CN"/>
            </a:defPPr>
            <a:lvl1pPr algn="ctr">
              <a:defRPr sz="2400" b="1">
                <a:solidFill>
                  <a:schemeClr val="tx1">
                    <a:lumMod val="95000"/>
                    <a:lumOff val="5000"/>
                  </a:schemeClr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defRPr>
            </a:lvl1pPr>
          </a:lstStyle>
          <a:p>
            <a:r>
              <a:rPr lang="en-US" dirty="0"/>
              <a:t>1.2</a:t>
            </a:r>
            <a:endParaRPr lang="en-US" dirty="0"/>
          </a:p>
        </p:txBody>
      </p:sp>
      <p:grpSp>
        <p:nvGrpSpPr>
          <p:cNvPr id="20" name="组合 19"/>
          <p:cNvGrpSpPr/>
          <p:nvPr/>
        </p:nvGrpSpPr>
        <p:grpSpPr>
          <a:xfrm>
            <a:off x="134487" y="634029"/>
            <a:ext cx="10533513" cy="523220"/>
            <a:chOff x="134487" y="634029"/>
            <a:chExt cx="10533513" cy="523220"/>
          </a:xfrm>
        </p:grpSpPr>
        <p:sp>
          <p:nvSpPr>
            <p:cNvPr id="16" name="TextBox 39"/>
            <p:cNvSpPr txBox="1"/>
            <p:nvPr/>
          </p:nvSpPr>
          <p:spPr>
            <a:xfrm>
              <a:off x="395986" y="634029"/>
              <a:ext cx="1620958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zh-CN" altLang="en-US" sz="2800" dirty="0">
                  <a:solidFill>
                    <a:schemeClr val="bg1">
                      <a:lumMod val="95000"/>
                    </a:schemeClr>
                  </a:solidFill>
                  <a:latin typeface="Dense" panose="02000000000000000000" pitchFamily="50" charset="0"/>
                  <a:ea typeface="微软雅黑 Light" panose="020B0502040204020203" pitchFamily="34" charset="-122"/>
                </a:rPr>
                <a:t>课程内容</a:t>
              </a:r>
              <a:endParaRPr lang="en-US" sz="2800" dirty="0">
                <a:solidFill>
                  <a:schemeClr val="bg1">
                    <a:lumMod val="95000"/>
                  </a:schemeClr>
                </a:solidFill>
                <a:latin typeface="Dense" panose="02000000000000000000" pitchFamily="50" charset="0"/>
                <a:ea typeface="微软雅黑 Light" panose="020B0502040204020203" pitchFamily="34" charset="-122"/>
              </a:endParaRPr>
            </a:p>
          </p:txBody>
        </p:sp>
        <p:sp>
          <p:nvSpPr>
            <p:cNvPr id="17" name="Rectangle 41"/>
            <p:cNvSpPr/>
            <p:nvPr/>
          </p:nvSpPr>
          <p:spPr>
            <a:xfrm rot="16200000">
              <a:off x="95249" y="885029"/>
              <a:ext cx="457200" cy="27432"/>
            </a:xfrm>
            <a:prstGeom prst="rect">
              <a:avLst/>
            </a:prstGeom>
            <a:solidFill>
              <a:srgbClr val="F4B18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9" name="Rectangle 41"/>
            <p:cNvSpPr/>
            <p:nvPr/>
          </p:nvSpPr>
          <p:spPr>
            <a:xfrm rot="16200000">
              <a:off x="-25340" y="829973"/>
              <a:ext cx="457200" cy="137545"/>
            </a:xfrm>
            <a:prstGeom prst="rect">
              <a:avLst/>
            </a:prstGeom>
            <a:solidFill>
              <a:srgbClr val="F4B18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3" name="直接连接符 2"/>
            <p:cNvCxnSpPr/>
            <p:nvPr/>
          </p:nvCxnSpPr>
          <p:spPr>
            <a:xfrm>
              <a:off x="2381250" y="898745"/>
              <a:ext cx="8286750" cy="0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3" name="TextBox 28"/>
          <p:cNvSpPr txBox="1"/>
          <p:nvPr/>
        </p:nvSpPr>
        <p:spPr>
          <a:xfrm>
            <a:off x="4720020" y="3599467"/>
            <a:ext cx="405095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>
              <a:defRPr sz="2800" b="1">
                <a:solidFill>
                  <a:srgbClr val="F4B183"/>
                </a:solidFill>
                <a:latin typeface="宋体-18030" pitchFamily="49" charset="-122"/>
                <a:ea typeface="宋体-18030" pitchFamily="49" charset="-122"/>
              </a:defRPr>
            </a:lvl1pPr>
          </a:lstStyle>
          <a:p>
            <a:r>
              <a:rPr lang="zh-CN" altLang="en-US" dirty="0"/>
              <a:t>脉冲序列产生实验</a:t>
            </a:r>
            <a:endParaRPr lang="en-US" dirty="0"/>
          </a:p>
        </p:txBody>
      </p:sp>
      <p:sp>
        <p:nvSpPr>
          <p:cNvPr id="14" name="TextBox 36"/>
          <p:cNvSpPr txBox="1"/>
          <p:nvPr/>
        </p:nvSpPr>
        <p:spPr>
          <a:xfrm>
            <a:off x="4010044" y="3602335"/>
            <a:ext cx="596294" cy="510778"/>
          </a:xfrm>
          <a:prstGeom prst="roundRect">
            <a:avLst/>
          </a:prstGeom>
          <a:solidFill>
            <a:srgbClr val="F4B183"/>
          </a:solidFill>
        </p:spPr>
        <p:txBody>
          <a:bodyPr wrap="square" rtlCol="0">
            <a:spAutoFit/>
          </a:bodyPr>
          <a:lstStyle>
            <a:defPPr>
              <a:defRPr lang="zh-CN"/>
            </a:defPPr>
            <a:lvl1pPr algn="ctr">
              <a:defRPr sz="2400" b="1">
                <a:solidFill>
                  <a:schemeClr val="tx1">
                    <a:lumMod val="95000"/>
                    <a:lumOff val="5000"/>
                  </a:schemeClr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defRPr>
            </a:lvl1pPr>
          </a:lstStyle>
          <a:p>
            <a:r>
              <a:rPr lang="en-US" dirty="0"/>
              <a:t>1.3</a:t>
            </a:r>
            <a:endParaRPr lang="en-US" dirty="0"/>
          </a:p>
        </p:txBody>
      </p:sp>
      <p:sp>
        <p:nvSpPr>
          <p:cNvPr id="15" name="TextBox 28"/>
          <p:cNvSpPr txBox="1"/>
          <p:nvPr/>
        </p:nvSpPr>
        <p:spPr>
          <a:xfrm>
            <a:off x="4722634" y="4382125"/>
            <a:ext cx="405095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>
              <a:defRPr sz="3200" b="1">
                <a:solidFill>
                  <a:srgbClr val="F4B183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defRPr>
            </a:lvl1pPr>
          </a:lstStyle>
          <a:p>
            <a:endParaRPr lang="en-US" sz="2800" dirty="0">
              <a:solidFill>
                <a:schemeClr val="bg1"/>
              </a:solidFill>
            </a:endParaRPr>
          </a:p>
        </p:txBody>
      </p:sp>
      <p:sp>
        <p:nvSpPr>
          <p:cNvPr id="18" name="TextBox 36"/>
          <p:cNvSpPr txBox="1"/>
          <p:nvPr/>
        </p:nvSpPr>
        <p:spPr>
          <a:xfrm>
            <a:off x="4007431" y="4393611"/>
            <a:ext cx="601521" cy="510778"/>
          </a:xfrm>
          <a:prstGeom prst="round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pPr algn="ctr"/>
            <a:r>
              <a:rPr lang="en-US" sz="2400" b="1" dirty="0">
                <a:solidFill>
                  <a:schemeClr val="tx1">
                    <a:lumMod val="95000"/>
                    <a:lumOff val="5000"/>
                  </a:schemeClr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1.4</a:t>
            </a:r>
            <a:endParaRPr lang="en-US" sz="2400" b="1" dirty="0">
              <a:solidFill>
                <a:schemeClr val="tx1">
                  <a:lumMod val="95000"/>
                  <a:lumOff val="5000"/>
                </a:schemeClr>
              </a:solidFill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</p:txBody>
      </p:sp>
      <p:sp>
        <p:nvSpPr>
          <p:cNvPr id="21" name="TextBox 28"/>
          <p:cNvSpPr txBox="1"/>
          <p:nvPr/>
        </p:nvSpPr>
        <p:spPr>
          <a:xfrm>
            <a:off x="4720019" y="4391725"/>
            <a:ext cx="405095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>
              <a:defRPr sz="2400" b="1">
                <a:solidFill>
                  <a:schemeClr val="bg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1pPr>
          </a:lstStyle>
          <a:p>
            <a:r>
              <a:rPr lang="zh-CN" altLang="en-US" sz="2800" dirty="0"/>
              <a:t>下一实验内容</a:t>
            </a:r>
            <a:endParaRPr lang="en-US" sz="2800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25"/>
          <p:cNvSpPr txBox="1"/>
          <p:nvPr/>
        </p:nvSpPr>
        <p:spPr>
          <a:xfrm>
            <a:off x="4720021" y="2058356"/>
            <a:ext cx="512017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b="1" dirty="0">
                <a:solidFill>
                  <a:srgbClr val="F4B183"/>
                </a:solidFill>
                <a:latin typeface="宋体-18030" pitchFamily="49" charset="-122"/>
                <a:ea typeface="宋体-18030" pitchFamily="49" charset="-122"/>
              </a:rPr>
              <a:t>用</a:t>
            </a:r>
            <a:r>
              <a:rPr lang="en-US" altLang="zh-CN" sz="2800" b="1" dirty="0">
                <a:solidFill>
                  <a:srgbClr val="F4B183"/>
                </a:solidFill>
                <a:latin typeface="宋体-18030" pitchFamily="49" charset="-122"/>
                <a:ea typeface="宋体-18030" pitchFamily="49" charset="-122"/>
              </a:rPr>
              <a:t>74LS153</a:t>
            </a:r>
            <a:r>
              <a:rPr lang="zh-CN" altLang="en-US" sz="2800" b="1" dirty="0">
                <a:solidFill>
                  <a:srgbClr val="F4B183"/>
                </a:solidFill>
                <a:latin typeface="宋体-18030" pitchFamily="49" charset="-122"/>
                <a:ea typeface="宋体-18030" pitchFamily="49" charset="-122"/>
              </a:rPr>
              <a:t>完成一位全加器实验</a:t>
            </a:r>
            <a:endParaRPr lang="en-US" sz="2800" dirty="0">
              <a:solidFill>
                <a:srgbClr val="F4B183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6" name="TextBox 28"/>
          <p:cNvSpPr txBox="1"/>
          <p:nvPr/>
        </p:nvSpPr>
        <p:spPr>
          <a:xfrm>
            <a:off x="4720021" y="2807209"/>
            <a:ext cx="405095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>
              <a:defRPr sz="2800" b="1">
                <a:solidFill>
                  <a:srgbClr val="F4B183"/>
                </a:solidFill>
                <a:latin typeface="宋体-18030" pitchFamily="49" charset="-122"/>
                <a:ea typeface="宋体-18030" pitchFamily="49" charset="-122"/>
              </a:defRPr>
            </a:lvl1pPr>
          </a:lstStyle>
          <a:p>
            <a:r>
              <a:rPr lang="zh-CN" altLang="en-US" dirty="0"/>
              <a:t>逻辑函数实现实验</a:t>
            </a:r>
            <a:endParaRPr lang="en-US" dirty="0"/>
          </a:p>
        </p:txBody>
      </p:sp>
      <p:sp>
        <p:nvSpPr>
          <p:cNvPr id="10" name="TextBox 35"/>
          <p:cNvSpPr txBox="1"/>
          <p:nvPr/>
        </p:nvSpPr>
        <p:spPr>
          <a:xfrm>
            <a:off x="4007431" y="2058356"/>
            <a:ext cx="575696" cy="510778"/>
          </a:xfrm>
          <a:prstGeom prst="roundRect">
            <a:avLst/>
          </a:prstGeom>
          <a:solidFill>
            <a:srgbClr val="F4B183"/>
          </a:solidFill>
        </p:spPr>
        <p:txBody>
          <a:bodyPr wrap="square" rtlCol="0">
            <a:spAutoFit/>
          </a:bodyPr>
          <a:lstStyle>
            <a:defPPr>
              <a:defRPr lang="zh-CN"/>
            </a:defPPr>
            <a:lvl1pPr algn="ctr">
              <a:defRPr sz="2400" b="1">
                <a:solidFill>
                  <a:schemeClr val="tx1">
                    <a:lumMod val="95000"/>
                    <a:lumOff val="5000"/>
                  </a:schemeClr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defRPr>
            </a:lvl1pPr>
          </a:lstStyle>
          <a:p>
            <a:r>
              <a:rPr lang="en-US" dirty="0"/>
              <a:t>1.1</a:t>
            </a:r>
            <a:endParaRPr lang="en-US" dirty="0"/>
          </a:p>
        </p:txBody>
      </p:sp>
      <p:sp>
        <p:nvSpPr>
          <p:cNvPr id="11" name="TextBox 36"/>
          <p:cNvSpPr txBox="1"/>
          <p:nvPr/>
        </p:nvSpPr>
        <p:spPr>
          <a:xfrm>
            <a:off x="4007431" y="2811059"/>
            <a:ext cx="596294" cy="510778"/>
          </a:xfrm>
          <a:prstGeom prst="roundRect">
            <a:avLst/>
          </a:prstGeom>
          <a:solidFill>
            <a:srgbClr val="F4B183"/>
          </a:solidFill>
        </p:spPr>
        <p:txBody>
          <a:bodyPr wrap="square" rtlCol="0">
            <a:spAutoFit/>
          </a:bodyPr>
          <a:lstStyle>
            <a:defPPr>
              <a:defRPr lang="zh-CN"/>
            </a:defPPr>
            <a:lvl1pPr algn="ctr">
              <a:defRPr sz="2400" b="1">
                <a:solidFill>
                  <a:schemeClr val="tx1">
                    <a:lumMod val="95000"/>
                    <a:lumOff val="5000"/>
                  </a:schemeClr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defRPr>
            </a:lvl1pPr>
          </a:lstStyle>
          <a:p>
            <a:r>
              <a:rPr lang="en-US" dirty="0"/>
              <a:t>1.2</a:t>
            </a:r>
            <a:endParaRPr lang="en-US" dirty="0"/>
          </a:p>
        </p:txBody>
      </p:sp>
      <p:grpSp>
        <p:nvGrpSpPr>
          <p:cNvPr id="20" name="组合 19"/>
          <p:cNvGrpSpPr/>
          <p:nvPr/>
        </p:nvGrpSpPr>
        <p:grpSpPr>
          <a:xfrm>
            <a:off x="134487" y="634029"/>
            <a:ext cx="10533513" cy="523220"/>
            <a:chOff x="134487" y="634029"/>
            <a:chExt cx="10533513" cy="523220"/>
          </a:xfrm>
        </p:grpSpPr>
        <p:sp>
          <p:nvSpPr>
            <p:cNvPr id="16" name="TextBox 39"/>
            <p:cNvSpPr txBox="1"/>
            <p:nvPr/>
          </p:nvSpPr>
          <p:spPr>
            <a:xfrm>
              <a:off x="395986" y="634029"/>
              <a:ext cx="1620958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zh-CN" altLang="en-US" sz="2800" dirty="0">
                  <a:solidFill>
                    <a:schemeClr val="bg1">
                      <a:lumMod val="95000"/>
                    </a:schemeClr>
                  </a:solidFill>
                  <a:latin typeface="Dense" panose="02000000000000000000" pitchFamily="50" charset="0"/>
                  <a:ea typeface="微软雅黑 Light" panose="020B0502040204020203" pitchFamily="34" charset="-122"/>
                </a:rPr>
                <a:t>课程内容</a:t>
              </a:r>
              <a:endParaRPr lang="en-US" sz="2800" dirty="0">
                <a:solidFill>
                  <a:schemeClr val="bg1">
                    <a:lumMod val="95000"/>
                  </a:schemeClr>
                </a:solidFill>
                <a:latin typeface="Dense" panose="02000000000000000000" pitchFamily="50" charset="0"/>
                <a:ea typeface="微软雅黑 Light" panose="020B0502040204020203" pitchFamily="34" charset="-122"/>
              </a:endParaRPr>
            </a:p>
          </p:txBody>
        </p:sp>
        <p:sp>
          <p:nvSpPr>
            <p:cNvPr id="17" name="Rectangle 41"/>
            <p:cNvSpPr/>
            <p:nvPr/>
          </p:nvSpPr>
          <p:spPr>
            <a:xfrm rot="16200000">
              <a:off x="95249" y="885029"/>
              <a:ext cx="457200" cy="27432"/>
            </a:xfrm>
            <a:prstGeom prst="rect">
              <a:avLst/>
            </a:prstGeom>
            <a:solidFill>
              <a:srgbClr val="F4B18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9" name="Rectangle 41"/>
            <p:cNvSpPr/>
            <p:nvPr/>
          </p:nvSpPr>
          <p:spPr>
            <a:xfrm rot="16200000">
              <a:off x="-25340" y="829973"/>
              <a:ext cx="457200" cy="137545"/>
            </a:xfrm>
            <a:prstGeom prst="rect">
              <a:avLst/>
            </a:prstGeom>
            <a:solidFill>
              <a:srgbClr val="F4B18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3" name="直接连接符 2"/>
            <p:cNvCxnSpPr/>
            <p:nvPr/>
          </p:nvCxnSpPr>
          <p:spPr>
            <a:xfrm>
              <a:off x="2381250" y="898745"/>
              <a:ext cx="8286750" cy="0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3" name="TextBox 28"/>
          <p:cNvSpPr txBox="1"/>
          <p:nvPr/>
        </p:nvSpPr>
        <p:spPr>
          <a:xfrm>
            <a:off x="4720020" y="3599467"/>
            <a:ext cx="405095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>
              <a:defRPr sz="2800" b="1">
                <a:solidFill>
                  <a:srgbClr val="F4B183"/>
                </a:solidFill>
                <a:latin typeface="宋体-18030" pitchFamily="49" charset="-122"/>
                <a:ea typeface="宋体-18030" pitchFamily="49" charset="-122"/>
              </a:defRPr>
            </a:lvl1pPr>
          </a:lstStyle>
          <a:p>
            <a:r>
              <a:rPr lang="zh-CN" altLang="en-US" dirty="0"/>
              <a:t>脉冲序列产生实验</a:t>
            </a:r>
            <a:endParaRPr lang="en-US" dirty="0"/>
          </a:p>
        </p:txBody>
      </p:sp>
      <p:sp>
        <p:nvSpPr>
          <p:cNvPr id="14" name="TextBox 36"/>
          <p:cNvSpPr txBox="1"/>
          <p:nvPr/>
        </p:nvSpPr>
        <p:spPr>
          <a:xfrm>
            <a:off x="4010044" y="3602335"/>
            <a:ext cx="596294" cy="510778"/>
          </a:xfrm>
          <a:prstGeom prst="roundRect">
            <a:avLst/>
          </a:prstGeom>
          <a:solidFill>
            <a:srgbClr val="F4B183"/>
          </a:solidFill>
        </p:spPr>
        <p:txBody>
          <a:bodyPr wrap="square" rtlCol="0">
            <a:spAutoFit/>
          </a:bodyPr>
          <a:lstStyle>
            <a:defPPr>
              <a:defRPr lang="zh-CN"/>
            </a:defPPr>
            <a:lvl1pPr algn="ctr">
              <a:defRPr sz="2400" b="1">
                <a:solidFill>
                  <a:schemeClr val="tx1">
                    <a:lumMod val="95000"/>
                    <a:lumOff val="5000"/>
                  </a:schemeClr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defRPr>
            </a:lvl1pPr>
          </a:lstStyle>
          <a:p>
            <a:r>
              <a:rPr lang="en-US" dirty="0"/>
              <a:t>1.3</a:t>
            </a:r>
            <a:endParaRPr lang="en-US" dirty="0"/>
          </a:p>
        </p:txBody>
      </p:sp>
      <p:sp>
        <p:nvSpPr>
          <p:cNvPr id="15" name="TextBox 28"/>
          <p:cNvSpPr txBox="1"/>
          <p:nvPr/>
        </p:nvSpPr>
        <p:spPr>
          <a:xfrm>
            <a:off x="4722634" y="4382125"/>
            <a:ext cx="405095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>
              <a:defRPr sz="3200" b="1">
                <a:solidFill>
                  <a:srgbClr val="F4B183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defRPr>
            </a:lvl1pPr>
          </a:lstStyle>
          <a:p>
            <a:endParaRPr lang="en-US" sz="2800" dirty="0">
              <a:solidFill>
                <a:schemeClr val="bg1"/>
              </a:solidFill>
            </a:endParaRPr>
          </a:p>
        </p:txBody>
      </p:sp>
      <p:sp>
        <p:nvSpPr>
          <p:cNvPr id="18" name="TextBox 36"/>
          <p:cNvSpPr txBox="1"/>
          <p:nvPr/>
        </p:nvSpPr>
        <p:spPr>
          <a:xfrm>
            <a:off x="4007431" y="4393611"/>
            <a:ext cx="601521" cy="510778"/>
          </a:xfrm>
          <a:prstGeom prst="roundRect">
            <a:avLst/>
          </a:prstGeom>
          <a:solidFill>
            <a:srgbClr val="F4B183"/>
          </a:solidFill>
        </p:spPr>
        <p:txBody>
          <a:bodyPr wrap="square" rtlCol="0">
            <a:spAutoFit/>
          </a:bodyPr>
          <a:lstStyle>
            <a:defPPr>
              <a:defRPr lang="zh-CN"/>
            </a:defPPr>
            <a:lvl1pPr algn="ctr">
              <a:defRPr sz="2400" b="1">
                <a:solidFill>
                  <a:schemeClr val="tx1">
                    <a:lumMod val="95000"/>
                    <a:lumOff val="5000"/>
                  </a:schemeClr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defRPr>
            </a:lvl1pPr>
          </a:lstStyle>
          <a:p>
            <a:r>
              <a:rPr lang="en-US" dirty="0"/>
              <a:t>1.4</a:t>
            </a:r>
            <a:endParaRPr lang="en-US" dirty="0"/>
          </a:p>
        </p:txBody>
      </p:sp>
      <p:sp>
        <p:nvSpPr>
          <p:cNvPr id="21" name="TextBox 28"/>
          <p:cNvSpPr txBox="1"/>
          <p:nvPr/>
        </p:nvSpPr>
        <p:spPr>
          <a:xfrm>
            <a:off x="4720019" y="4391725"/>
            <a:ext cx="405095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>
              <a:defRPr sz="2800" b="1">
                <a:solidFill>
                  <a:srgbClr val="F4B183"/>
                </a:solidFill>
                <a:latin typeface="宋体-18030" pitchFamily="49" charset="-122"/>
                <a:ea typeface="宋体-18030" pitchFamily="49" charset="-122"/>
              </a:defRPr>
            </a:lvl1pPr>
          </a:lstStyle>
          <a:p>
            <a:r>
              <a:rPr lang="zh-CN" altLang="en-US" dirty="0"/>
              <a:t>下一实验内容</a:t>
            </a:r>
            <a:endParaRPr lang="en-US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7" name="组合 56"/>
          <p:cNvGrpSpPr/>
          <p:nvPr/>
        </p:nvGrpSpPr>
        <p:grpSpPr>
          <a:xfrm>
            <a:off x="134487" y="360136"/>
            <a:ext cx="10533513" cy="1077218"/>
            <a:chOff x="134487" y="360136"/>
            <a:chExt cx="10533513" cy="1077218"/>
          </a:xfrm>
        </p:grpSpPr>
        <p:sp>
          <p:nvSpPr>
            <p:cNvPr id="58" name="TextBox 39"/>
            <p:cNvSpPr txBox="1"/>
            <p:nvPr/>
          </p:nvSpPr>
          <p:spPr>
            <a:xfrm>
              <a:off x="187695" y="360136"/>
              <a:ext cx="2343426" cy="107721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zh-CN" altLang="en-US" sz="3200" b="1" dirty="0">
                  <a:solidFill>
                    <a:schemeClr val="bg1">
                      <a:lumMod val="95000"/>
                    </a:schemeClr>
                  </a:solidFill>
                  <a:latin typeface="Dense" panose="02000000000000000000" pitchFamily="50" charset="0"/>
                  <a:ea typeface="微软雅黑 Light" panose="020B0502040204020203" pitchFamily="34" charset="-122"/>
                </a:rPr>
                <a:t>下一次实验内容</a:t>
              </a:r>
              <a:endParaRPr lang="en-US" altLang="zh-CN" sz="3200" b="1" dirty="0">
                <a:solidFill>
                  <a:schemeClr val="bg1">
                    <a:lumMod val="95000"/>
                  </a:schemeClr>
                </a:solidFill>
                <a:latin typeface="Dense" panose="02000000000000000000" pitchFamily="50" charset="0"/>
                <a:ea typeface="微软雅黑 Light" panose="020B0502040204020203" pitchFamily="34" charset="-122"/>
              </a:endParaRPr>
            </a:p>
          </p:txBody>
        </p:sp>
        <p:sp>
          <p:nvSpPr>
            <p:cNvPr id="59" name="Rectangle 41"/>
            <p:cNvSpPr/>
            <p:nvPr/>
          </p:nvSpPr>
          <p:spPr>
            <a:xfrm rot="16200000">
              <a:off x="95249" y="885029"/>
              <a:ext cx="457200" cy="27432"/>
            </a:xfrm>
            <a:prstGeom prst="rect">
              <a:avLst/>
            </a:prstGeom>
            <a:solidFill>
              <a:srgbClr val="F4B18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1" name="Rectangle 41"/>
            <p:cNvSpPr/>
            <p:nvPr/>
          </p:nvSpPr>
          <p:spPr>
            <a:xfrm rot="16200000">
              <a:off x="-25340" y="829973"/>
              <a:ext cx="457200" cy="137545"/>
            </a:xfrm>
            <a:prstGeom prst="rect">
              <a:avLst/>
            </a:prstGeom>
            <a:solidFill>
              <a:srgbClr val="F4B18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62" name="直接连接符 61"/>
            <p:cNvCxnSpPr/>
            <p:nvPr/>
          </p:nvCxnSpPr>
          <p:spPr>
            <a:xfrm>
              <a:off x="2381250" y="898745"/>
              <a:ext cx="8286750" cy="0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8" name="矩形 7"/>
          <p:cNvSpPr/>
          <p:nvPr/>
        </p:nvSpPr>
        <p:spPr>
          <a:xfrm>
            <a:off x="540767" y="1916177"/>
            <a:ext cx="11354900" cy="378565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57200" indent="-457200">
              <a:buFont typeface="+mj-lt"/>
              <a:buAutoNum type="arabicPeriod"/>
            </a:pPr>
            <a:r>
              <a:rPr lang="zh-CN" altLang="en-US" sz="2400" b="1" dirty="0">
                <a:solidFill>
                  <a:schemeClr val="bg1"/>
                </a:solidFill>
                <a:latin typeface="宋体-18030" pitchFamily="49" charset="-122"/>
                <a:ea typeface="宋体-18030" pitchFamily="49" charset="-122"/>
              </a:rPr>
              <a:t>基本</a:t>
            </a:r>
            <a:r>
              <a:rPr lang="en-US" altLang="zh-CN" sz="2400" b="1" dirty="0">
                <a:solidFill>
                  <a:schemeClr val="bg1"/>
                </a:solidFill>
                <a:latin typeface="宋体-18030" pitchFamily="49" charset="-122"/>
                <a:ea typeface="宋体-18030" pitchFamily="49" charset="-122"/>
              </a:rPr>
              <a:t>RS</a:t>
            </a:r>
            <a:r>
              <a:rPr lang="zh-CN" altLang="en-US" sz="2400" b="1" dirty="0">
                <a:solidFill>
                  <a:schemeClr val="bg1"/>
                </a:solidFill>
                <a:latin typeface="宋体-18030" pitchFamily="49" charset="-122"/>
                <a:ea typeface="宋体-18030" pitchFamily="49" charset="-122"/>
              </a:rPr>
              <a:t>触发器的功能测试；</a:t>
            </a:r>
            <a:endParaRPr lang="en-US" altLang="zh-CN" sz="2400" b="1" dirty="0">
              <a:solidFill>
                <a:schemeClr val="bg1"/>
              </a:solidFill>
              <a:latin typeface="宋体-18030" pitchFamily="49" charset="-122"/>
              <a:ea typeface="宋体-18030" pitchFamily="49" charset="-122"/>
            </a:endParaRPr>
          </a:p>
          <a:p>
            <a:pPr marL="457200" indent="-457200">
              <a:buFont typeface="+mj-lt"/>
              <a:buAutoNum type="arabicPeriod"/>
            </a:pPr>
            <a:endParaRPr lang="en-US" altLang="zh-CN" sz="2400" b="1" dirty="0">
              <a:solidFill>
                <a:schemeClr val="bg1"/>
              </a:solidFill>
              <a:latin typeface="宋体-18030" pitchFamily="49" charset="-122"/>
              <a:ea typeface="宋体-18030" pitchFamily="49" charset="-122"/>
            </a:endParaRPr>
          </a:p>
          <a:p>
            <a:pPr marL="457200" indent="-457200">
              <a:buFont typeface="+mj-lt"/>
              <a:buAutoNum type="arabicPeriod"/>
            </a:pPr>
            <a:r>
              <a:rPr lang="zh-CN" altLang="en-US" sz="2400" b="1" dirty="0">
                <a:solidFill>
                  <a:schemeClr val="bg1"/>
                </a:solidFill>
                <a:latin typeface="宋体-18030" pitchFamily="49" charset="-122"/>
                <a:ea typeface="宋体-18030" pitchFamily="49" charset="-122"/>
              </a:rPr>
              <a:t>集成</a:t>
            </a:r>
            <a:r>
              <a:rPr lang="en-US" altLang="zh-CN" sz="2400" b="1" dirty="0">
                <a:solidFill>
                  <a:schemeClr val="bg1"/>
                </a:solidFill>
                <a:latin typeface="宋体-18030" pitchFamily="49" charset="-122"/>
                <a:ea typeface="宋体-18030" pitchFamily="49" charset="-122"/>
              </a:rPr>
              <a:t>JK</a:t>
            </a:r>
            <a:r>
              <a:rPr lang="zh-CN" altLang="en-US" sz="2400" b="1" dirty="0">
                <a:solidFill>
                  <a:schemeClr val="bg1"/>
                </a:solidFill>
                <a:latin typeface="宋体-18030" pitchFamily="49" charset="-122"/>
                <a:ea typeface="宋体-18030" pitchFamily="49" charset="-122"/>
              </a:rPr>
              <a:t>触发器的功能测试；</a:t>
            </a:r>
            <a:endParaRPr lang="en-US" altLang="zh-CN" sz="2400" b="1" dirty="0">
              <a:solidFill>
                <a:schemeClr val="bg1"/>
              </a:solidFill>
              <a:latin typeface="宋体-18030" pitchFamily="49" charset="-122"/>
              <a:ea typeface="宋体-18030" pitchFamily="49" charset="-122"/>
            </a:endParaRPr>
          </a:p>
          <a:p>
            <a:pPr marL="457200" indent="-457200">
              <a:buFont typeface="+mj-lt"/>
              <a:buAutoNum type="arabicPeriod"/>
            </a:pPr>
            <a:endParaRPr lang="en-US" altLang="zh-CN" sz="2400" b="1" dirty="0">
              <a:solidFill>
                <a:schemeClr val="bg1"/>
              </a:solidFill>
              <a:latin typeface="宋体-18030" pitchFamily="49" charset="-122"/>
              <a:ea typeface="宋体-18030" pitchFamily="49" charset="-122"/>
            </a:endParaRPr>
          </a:p>
          <a:p>
            <a:pPr marL="457200" indent="-457200">
              <a:buFont typeface="+mj-lt"/>
              <a:buAutoNum type="arabicPeriod"/>
            </a:pPr>
            <a:r>
              <a:rPr lang="zh-CN" altLang="en-US" sz="2400" b="1" dirty="0">
                <a:solidFill>
                  <a:schemeClr val="bg1"/>
                </a:solidFill>
                <a:latin typeface="宋体-18030" pitchFamily="49" charset="-122"/>
                <a:ea typeface="宋体-18030" pitchFamily="49" charset="-122"/>
              </a:rPr>
              <a:t>设计电路。将</a:t>
            </a:r>
            <a:r>
              <a:rPr lang="en-US" altLang="zh-CN" sz="2400" b="1" dirty="0">
                <a:solidFill>
                  <a:schemeClr val="bg1"/>
                </a:solidFill>
                <a:latin typeface="宋体-18030" pitchFamily="49" charset="-122"/>
                <a:ea typeface="宋体-18030" pitchFamily="49" charset="-122"/>
              </a:rPr>
              <a:t>D</a:t>
            </a:r>
            <a:r>
              <a:rPr lang="zh-CN" altLang="en-US" sz="2400" b="1" dirty="0">
                <a:solidFill>
                  <a:schemeClr val="bg1"/>
                </a:solidFill>
                <a:latin typeface="宋体-18030" pitchFamily="49" charset="-122"/>
                <a:ea typeface="宋体-18030" pitchFamily="49" charset="-122"/>
              </a:rPr>
              <a:t>触发器转换成</a:t>
            </a:r>
            <a:r>
              <a:rPr lang="en-US" altLang="zh-CN" sz="2400" b="1" dirty="0">
                <a:solidFill>
                  <a:schemeClr val="bg1"/>
                </a:solidFill>
                <a:latin typeface="宋体-18030" pitchFamily="49" charset="-122"/>
                <a:ea typeface="宋体-18030" pitchFamily="49" charset="-122"/>
              </a:rPr>
              <a:t>JK</a:t>
            </a:r>
            <a:r>
              <a:rPr lang="zh-CN" altLang="en-US" sz="2400" b="1" dirty="0">
                <a:solidFill>
                  <a:schemeClr val="bg1"/>
                </a:solidFill>
                <a:latin typeface="宋体-18030" pitchFamily="49" charset="-122"/>
                <a:ea typeface="宋体-18030" pitchFamily="49" charset="-122"/>
              </a:rPr>
              <a:t>触发器。要求写出转换表达式，画出实验电路图，设计相关表格，并将结果填入表格；</a:t>
            </a:r>
            <a:endParaRPr lang="en-US" altLang="zh-CN" sz="2400" b="1" dirty="0">
              <a:solidFill>
                <a:schemeClr val="bg1"/>
              </a:solidFill>
              <a:latin typeface="宋体-18030" pitchFamily="49" charset="-122"/>
              <a:ea typeface="宋体-18030" pitchFamily="49" charset="-122"/>
            </a:endParaRPr>
          </a:p>
          <a:p>
            <a:pPr marL="457200" indent="-457200">
              <a:buFont typeface="+mj-lt"/>
              <a:buAutoNum type="arabicPeriod"/>
            </a:pPr>
            <a:endParaRPr lang="en-US" altLang="zh-CN" sz="2400" b="1" dirty="0">
              <a:solidFill>
                <a:schemeClr val="bg1"/>
              </a:solidFill>
              <a:latin typeface="宋体-18030" pitchFamily="49" charset="-122"/>
              <a:ea typeface="宋体-18030" pitchFamily="49" charset="-122"/>
            </a:endParaRPr>
          </a:p>
          <a:p>
            <a:pPr marL="457200" indent="-457200">
              <a:buFont typeface="+mj-lt"/>
              <a:buAutoNum type="arabicPeriod"/>
            </a:pPr>
            <a:r>
              <a:rPr lang="zh-CN" altLang="en-US" sz="2400" b="1" dirty="0">
                <a:solidFill>
                  <a:schemeClr val="bg1"/>
                </a:solidFill>
                <a:latin typeface="宋体-18030" pitchFamily="49" charset="-122"/>
                <a:ea typeface="宋体-18030" pitchFamily="49" charset="-122"/>
              </a:rPr>
              <a:t>用触发器构成计数器电路。电路的时钟</a:t>
            </a:r>
            <a:r>
              <a:rPr lang="en-US" altLang="zh-CN" sz="2400" b="1" dirty="0">
                <a:solidFill>
                  <a:schemeClr val="bg1"/>
                </a:solidFill>
                <a:latin typeface="宋体-18030" pitchFamily="49" charset="-122"/>
                <a:ea typeface="宋体-18030" pitchFamily="49" charset="-122"/>
              </a:rPr>
              <a:t>C</a:t>
            </a:r>
            <a:r>
              <a:rPr lang="zh-CN" altLang="en-US" sz="2400" b="1" dirty="0">
                <a:solidFill>
                  <a:schemeClr val="bg1"/>
                </a:solidFill>
                <a:latin typeface="宋体-18030" pitchFamily="49" charset="-122"/>
                <a:ea typeface="宋体-18030" pitchFamily="49" charset="-122"/>
              </a:rPr>
              <a:t>输入</a:t>
            </a:r>
            <a:r>
              <a:rPr lang="en-US" altLang="zh-CN" sz="2400" b="1" dirty="0">
                <a:solidFill>
                  <a:schemeClr val="bg1"/>
                </a:solidFill>
                <a:latin typeface="宋体-18030" pitchFamily="49" charset="-122"/>
                <a:ea typeface="宋体-18030" pitchFamily="49" charset="-122"/>
              </a:rPr>
              <a:t>1KHz</a:t>
            </a:r>
            <a:r>
              <a:rPr lang="zh-CN" altLang="en-US" sz="2400" b="1" dirty="0">
                <a:solidFill>
                  <a:schemeClr val="bg1"/>
                </a:solidFill>
                <a:latin typeface="宋体-18030" pitchFamily="49" charset="-122"/>
                <a:ea typeface="宋体-18030" pitchFamily="49" charset="-122"/>
              </a:rPr>
              <a:t>脉冲波，用示波器同步观察</a:t>
            </a:r>
            <a:r>
              <a:rPr lang="en-US" altLang="zh-CN" sz="2400" b="1" dirty="0">
                <a:solidFill>
                  <a:schemeClr val="bg1"/>
                </a:solidFill>
                <a:latin typeface="宋体-18030" pitchFamily="49" charset="-122"/>
                <a:ea typeface="宋体-18030" pitchFamily="49" charset="-122"/>
              </a:rPr>
              <a:t>C</a:t>
            </a:r>
            <a:r>
              <a:rPr lang="zh-CN" altLang="en-US" sz="2400" b="1" dirty="0">
                <a:solidFill>
                  <a:schemeClr val="bg1"/>
                </a:solidFill>
                <a:latin typeface="宋体-18030" pitchFamily="49" charset="-122"/>
                <a:ea typeface="宋体-18030" pitchFamily="49" charset="-122"/>
              </a:rPr>
              <a:t>与</a:t>
            </a:r>
            <a:r>
              <a:rPr lang="en-US" altLang="zh-CN" sz="2400" b="1" dirty="0">
                <a:solidFill>
                  <a:schemeClr val="bg1"/>
                </a:solidFill>
                <a:latin typeface="宋体-18030" pitchFamily="49" charset="-122"/>
                <a:ea typeface="宋体-18030" pitchFamily="49" charset="-122"/>
              </a:rPr>
              <a:t>Q1</a:t>
            </a:r>
            <a:r>
              <a:rPr lang="zh-CN" altLang="en-US" sz="2400" b="1" dirty="0">
                <a:solidFill>
                  <a:schemeClr val="bg1"/>
                </a:solidFill>
                <a:latin typeface="宋体-18030" pitchFamily="49" charset="-122"/>
                <a:ea typeface="宋体-18030" pitchFamily="49" charset="-122"/>
              </a:rPr>
              <a:t>，</a:t>
            </a:r>
            <a:r>
              <a:rPr lang="en-US" altLang="zh-CN" sz="2400" b="1" dirty="0">
                <a:solidFill>
                  <a:schemeClr val="bg1"/>
                </a:solidFill>
                <a:latin typeface="宋体-18030" pitchFamily="49" charset="-122"/>
                <a:ea typeface="宋体-18030" pitchFamily="49" charset="-122"/>
              </a:rPr>
              <a:t>Q1</a:t>
            </a:r>
            <a:r>
              <a:rPr lang="zh-CN" altLang="en-US" sz="2400" b="1" dirty="0">
                <a:solidFill>
                  <a:schemeClr val="bg1"/>
                </a:solidFill>
                <a:latin typeface="宋体-18030" pitchFamily="49" charset="-122"/>
                <a:ea typeface="宋体-18030" pitchFamily="49" charset="-122"/>
              </a:rPr>
              <a:t>与</a:t>
            </a:r>
            <a:r>
              <a:rPr lang="en-US" altLang="zh-CN" sz="2400" b="1" dirty="0">
                <a:solidFill>
                  <a:schemeClr val="bg1"/>
                </a:solidFill>
                <a:latin typeface="宋体-18030" pitchFamily="49" charset="-122"/>
                <a:ea typeface="宋体-18030" pitchFamily="49" charset="-122"/>
              </a:rPr>
              <a:t>Q2</a:t>
            </a:r>
            <a:r>
              <a:rPr lang="zh-CN" altLang="en-US" sz="2400" b="1" dirty="0">
                <a:solidFill>
                  <a:schemeClr val="bg1"/>
                </a:solidFill>
                <a:latin typeface="宋体-18030" pitchFamily="49" charset="-122"/>
                <a:ea typeface="宋体-18030" pitchFamily="49" charset="-122"/>
              </a:rPr>
              <a:t>的波形，注意</a:t>
            </a:r>
            <a:r>
              <a:rPr lang="en-US" altLang="zh-CN" sz="2400" b="1" dirty="0">
                <a:solidFill>
                  <a:schemeClr val="bg1"/>
                </a:solidFill>
                <a:latin typeface="宋体-18030" pitchFamily="49" charset="-122"/>
                <a:ea typeface="宋体-18030" pitchFamily="49" charset="-122"/>
              </a:rPr>
              <a:t>D</a:t>
            </a:r>
            <a:r>
              <a:rPr lang="zh-CN" altLang="en-US" sz="2400" b="1" dirty="0">
                <a:solidFill>
                  <a:schemeClr val="bg1"/>
                </a:solidFill>
                <a:latin typeface="宋体-18030" pitchFamily="49" charset="-122"/>
                <a:ea typeface="宋体-18030" pitchFamily="49" charset="-122"/>
              </a:rPr>
              <a:t>触发器的时钟触发有效沿和各波形的时序对应关系。记录波形时先画</a:t>
            </a:r>
            <a:r>
              <a:rPr lang="en-US" altLang="zh-CN" sz="2400" b="1" dirty="0">
                <a:solidFill>
                  <a:schemeClr val="bg1"/>
                </a:solidFill>
                <a:latin typeface="宋体-18030" pitchFamily="49" charset="-122"/>
                <a:ea typeface="宋体-18030" pitchFamily="49" charset="-122"/>
              </a:rPr>
              <a:t>C</a:t>
            </a:r>
            <a:r>
              <a:rPr lang="zh-CN" altLang="en-US" sz="2400" b="1" dirty="0">
                <a:solidFill>
                  <a:schemeClr val="bg1"/>
                </a:solidFill>
                <a:latin typeface="宋体-18030" pitchFamily="49" charset="-122"/>
                <a:ea typeface="宋体-18030" pitchFamily="49" charset="-122"/>
              </a:rPr>
              <a:t>与</a:t>
            </a:r>
            <a:r>
              <a:rPr lang="en-US" altLang="zh-CN" sz="2400" b="1" dirty="0">
                <a:solidFill>
                  <a:schemeClr val="bg1"/>
                </a:solidFill>
                <a:latin typeface="宋体-18030" pitchFamily="49" charset="-122"/>
                <a:ea typeface="宋体-18030" pitchFamily="49" charset="-122"/>
              </a:rPr>
              <a:t>Q1</a:t>
            </a:r>
            <a:r>
              <a:rPr lang="zh-CN" altLang="en-US" sz="2400" b="1" dirty="0">
                <a:solidFill>
                  <a:schemeClr val="bg1"/>
                </a:solidFill>
                <a:latin typeface="宋体-18030" pitchFamily="49" charset="-122"/>
                <a:ea typeface="宋体-18030" pitchFamily="49" charset="-122"/>
              </a:rPr>
              <a:t>，然后对照</a:t>
            </a:r>
            <a:r>
              <a:rPr lang="en-US" altLang="zh-CN" sz="2400" b="1" dirty="0">
                <a:solidFill>
                  <a:schemeClr val="bg1"/>
                </a:solidFill>
                <a:latin typeface="宋体-18030" pitchFamily="49" charset="-122"/>
                <a:ea typeface="宋体-18030" pitchFamily="49" charset="-122"/>
              </a:rPr>
              <a:t>Q1</a:t>
            </a:r>
            <a:r>
              <a:rPr lang="zh-CN" altLang="en-US" sz="2400" b="1" dirty="0">
                <a:solidFill>
                  <a:schemeClr val="bg1"/>
                </a:solidFill>
                <a:latin typeface="宋体-18030" pitchFamily="49" charset="-122"/>
                <a:ea typeface="宋体-18030" pitchFamily="49" charset="-122"/>
              </a:rPr>
              <a:t>画</a:t>
            </a:r>
            <a:r>
              <a:rPr lang="en-US" altLang="zh-CN" sz="2400" b="1" dirty="0">
                <a:solidFill>
                  <a:schemeClr val="bg1"/>
                </a:solidFill>
                <a:latin typeface="宋体-18030" pitchFamily="49" charset="-122"/>
                <a:ea typeface="宋体-18030" pitchFamily="49" charset="-122"/>
              </a:rPr>
              <a:t>Q2</a:t>
            </a:r>
            <a:r>
              <a:rPr lang="zh-CN" altLang="en-US" sz="2400" b="1" dirty="0">
                <a:solidFill>
                  <a:schemeClr val="bg1"/>
                </a:solidFill>
                <a:latin typeface="宋体-18030" pitchFamily="49" charset="-122"/>
                <a:ea typeface="宋体-18030" pitchFamily="49" charset="-122"/>
              </a:rPr>
              <a:t>。</a:t>
            </a:r>
            <a:endParaRPr lang="en-US" altLang="zh-CN" sz="2400" b="1" dirty="0">
              <a:solidFill>
                <a:schemeClr val="bg1"/>
              </a:solidFill>
              <a:latin typeface="宋体-18030" pitchFamily="49" charset="-122"/>
              <a:ea typeface="宋体-18030" pitchFamily="49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TextBox 4"/>
          <p:cNvSpPr txBox="1"/>
          <p:nvPr/>
        </p:nvSpPr>
        <p:spPr>
          <a:xfrm>
            <a:off x="4609767" y="2795304"/>
            <a:ext cx="2728752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6600" b="1" dirty="0">
                <a:solidFill>
                  <a:srgbClr val="F4B183"/>
                </a:solidFill>
                <a:latin typeface="微软雅黑 Light" panose="020B0502040204020203" pitchFamily="34" charset="-122"/>
              </a:rPr>
              <a:t>谢谢</a:t>
            </a:r>
            <a:endParaRPr lang="en-US" sz="6600" b="1" dirty="0">
              <a:solidFill>
                <a:srgbClr val="F4B183"/>
              </a:solidFill>
              <a:latin typeface="微软雅黑 Light" panose="020B0502040204020203" pitchFamily="34" charset="-122"/>
            </a:endParaRPr>
          </a:p>
        </p:txBody>
      </p:sp>
      <p:sp>
        <p:nvSpPr>
          <p:cNvPr id="29" name="KSO_Shape"/>
          <p:cNvSpPr/>
          <p:nvPr/>
        </p:nvSpPr>
        <p:spPr>
          <a:xfrm>
            <a:off x="2599935" y="2157468"/>
            <a:ext cx="765316" cy="765316"/>
          </a:xfrm>
          <a:custGeom>
            <a:avLst/>
            <a:gdLst>
              <a:gd name="connsiteX0" fmla="*/ 386329 w 1380180"/>
              <a:gd name="connsiteY0" fmla="*/ 0 h 1380181"/>
              <a:gd name="connsiteX1" fmla="*/ 432048 w 1380180"/>
              <a:gd name="connsiteY1" fmla="*/ 0 h 1380181"/>
              <a:gd name="connsiteX2" fmla="*/ 432048 w 1380180"/>
              <a:gd name="connsiteY2" fmla="*/ 386329 h 1380181"/>
              <a:gd name="connsiteX3" fmla="*/ 1380180 w 1380180"/>
              <a:gd name="connsiteY3" fmla="*/ 386329 h 1380181"/>
              <a:gd name="connsiteX4" fmla="*/ 1380180 w 1380180"/>
              <a:gd name="connsiteY4" fmla="*/ 432048 h 1380181"/>
              <a:gd name="connsiteX5" fmla="*/ 432048 w 1380180"/>
              <a:gd name="connsiteY5" fmla="*/ 432048 h 1380181"/>
              <a:gd name="connsiteX6" fmla="*/ 432048 w 1380180"/>
              <a:gd name="connsiteY6" fmla="*/ 1380181 h 1380181"/>
              <a:gd name="connsiteX7" fmla="*/ 386329 w 1380180"/>
              <a:gd name="connsiteY7" fmla="*/ 1380181 h 1380181"/>
              <a:gd name="connsiteX8" fmla="*/ 386329 w 1380180"/>
              <a:gd name="connsiteY8" fmla="*/ 432048 h 1380181"/>
              <a:gd name="connsiteX9" fmla="*/ 0 w 1380180"/>
              <a:gd name="connsiteY9" fmla="*/ 432048 h 1380181"/>
              <a:gd name="connsiteX10" fmla="*/ 0 w 1380180"/>
              <a:gd name="connsiteY10" fmla="*/ 386329 h 1380181"/>
              <a:gd name="connsiteX11" fmla="*/ 386329 w 1380180"/>
              <a:gd name="connsiteY11" fmla="*/ 386329 h 138018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1380180" h="1380181">
                <a:moveTo>
                  <a:pt x="386329" y="0"/>
                </a:moveTo>
                <a:lnTo>
                  <a:pt x="432048" y="0"/>
                </a:lnTo>
                <a:lnTo>
                  <a:pt x="432048" y="386329"/>
                </a:lnTo>
                <a:lnTo>
                  <a:pt x="1380180" y="386329"/>
                </a:lnTo>
                <a:lnTo>
                  <a:pt x="1380180" y="432048"/>
                </a:lnTo>
                <a:lnTo>
                  <a:pt x="432048" y="432048"/>
                </a:lnTo>
                <a:lnTo>
                  <a:pt x="432048" y="1380181"/>
                </a:lnTo>
                <a:lnTo>
                  <a:pt x="386329" y="1380181"/>
                </a:lnTo>
                <a:lnTo>
                  <a:pt x="386329" y="432048"/>
                </a:lnTo>
                <a:lnTo>
                  <a:pt x="0" y="432048"/>
                </a:lnTo>
                <a:lnTo>
                  <a:pt x="0" y="386329"/>
                </a:lnTo>
                <a:lnTo>
                  <a:pt x="386329" y="386329"/>
                </a:lnTo>
                <a:close/>
              </a:path>
            </a:pathLst>
          </a:custGeom>
          <a:solidFill>
            <a:schemeClr val="tx1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>
            <a:scene3d>
              <a:camera prst="orthographicFront"/>
              <a:lightRig rig="threePt" dir="t"/>
            </a:scene3d>
            <a:sp3d>
              <a:contourClr>
                <a:srgbClr val="FFFFFF"/>
              </a:contourClr>
            </a:sp3d>
          </a:bodyPr>
          <a:lstStyle>
            <a:defPPr>
              <a:defRPr lang="zh-CN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>
              <a:solidFill>
                <a:srgbClr val="FFFFFF"/>
              </a:solidFill>
            </a:endParaRPr>
          </a:p>
        </p:txBody>
      </p:sp>
      <p:sp>
        <p:nvSpPr>
          <p:cNvPr id="31" name="KSO_Shape"/>
          <p:cNvSpPr/>
          <p:nvPr/>
        </p:nvSpPr>
        <p:spPr>
          <a:xfrm rot="10800000">
            <a:off x="8821660" y="3878991"/>
            <a:ext cx="765316" cy="765316"/>
          </a:xfrm>
          <a:custGeom>
            <a:avLst/>
            <a:gdLst>
              <a:gd name="connsiteX0" fmla="*/ 386329 w 1380180"/>
              <a:gd name="connsiteY0" fmla="*/ 0 h 1380181"/>
              <a:gd name="connsiteX1" fmla="*/ 432048 w 1380180"/>
              <a:gd name="connsiteY1" fmla="*/ 0 h 1380181"/>
              <a:gd name="connsiteX2" fmla="*/ 432048 w 1380180"/>
              <a:gd name="connsiteY2" fmla="*/ 386329 h 1380181"/>
              <a:gd name="connsiteX3" fmla="*/ 1380180 w 1380180"/>
              <a:gd name="connsiteY3" fmla="*/ 386329 h 1380181"/>
              <a:gd name="connsiteX4" fmla="*/ 1380180 w 1380180"/>
              <a:gd name="connsiteY4" fmla="*/ 432048 h 1380181"/>
              <a:gd name="connsiteX5" fmla="*/ 432048 w 1380180"/>
              <a:gd name="connsiteY5" fmla="*/ 432048 h 1380181"/>
              <a:gd name="connsiteX6" fmla="*/ 432048 w 1380180"/>
              <a:gd name="connsiteY6" fmla="*/ 1380181 h 1380181"/>
              <a:gd name="connsiteX7" fmla="*/ 386329 w 1380180"/>
              <a:gd name="connsiteY7" fmla="*/ 1380181 h 1380181"/>
              <a:gd name="connsiteX8" fmla="*/ 386329 w 1380180"/>
              <a:gd name="connsiteY8" fmla="*/ 432048 h 1380181"/>
              <a:gd name="connsiteX9" fmla="*/ 0 w 1380180"/>
              <a:gd name="connsiteY9" fmla="*/ 432048 h 1380181"/>
              <a:gd name="connsiteX10" fmla="*/ 0 w 1380180"/>
              <a:gd name="connsiteY10" fmla="*/ 386329 h 1380181"/>
              <a:gd name="connsiteX11" fmla="*/ 386329 w 1380180"/>
              <a:gd name="connsiteY11" fmla="*/ 386329 h 138018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1380180" h="1380181">
                <a:moveTo>
                  <a:pt x="386329" y="0"/>
                </a:moveTo>
                <a:lnTo>
                  <a:pt x="432048" y="0"/>
                </a:lnTo>
                <a:lnTo>
                  <a:pt x="432048" y="386329"/>
                </a:lnTo>
                <a:lnTo>
                  <a:pt x="1380180" y="386329"/>
                </a:lnTo>
                <a:lnTo>
                  <a:pt x="1380180" y="432048"/>
                </a:lnTo>
                <a:lnTo>
                  <a:pt x="432048" y="432048"/>
                </a:lnTo>
                <a:lnTo>
                  <a:pt x="432048" y="1380181"/>
                </a:lnTo>
                <a:lnTo>
                  <a:pt x="386329" y="1380181"/>
                </a:lnTo>
                <a:lnTo>
                  <a:pt x="386329" y="432048"/>
                </a:lnTo>
                <a:lnTo>
                  <a:pt x="0" y="432048"/>
                </a:lnTo>
                <a:lnTo>
                  <a:pt x="0" y="386329"/>
                </a:lnTo>
                <a:lnTo>
                  <a:pt x="386329" y="386329"/>
                </a:lnTo>
                <a:close/>
              </a:path>
            </a:pathLst>
          </a:custGeom>
          <a:solidFill>
            <a:schemeClr val="tx1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>
            <a:scene3d>
              <a:camera prst="orthographicFront"/>
              <a:lightRig rig="threePt" dir="t"/>
            </a:scene3d>
            <a:sp3d>
              <a:contourClr>
                <a:srgbClr val="FFFFFF"/>
              </a:contourClr>
            </a:sp3d>
          </a:bodyPr>
          <a:lstStyle>
            <a:defPPr>
              <a:defRPr lang="zh-CN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>
              <a:solidFill>
                <a:srgbClr val="FFFFFF"/>
              </a:solidFill>
            </a:endParaRPr>
          </a:p>
        </p:txBody>
      </p:sp>
      <p:sp>
        <p:nvSpPr>
          <p:cNvPr id="34" name="KSO_Shape"/>
          <p:cNvSpPr/>
          <p:nvPr/>
        </p:nvSpPr>
        <p:spPr bwMode="auto">
          <a:xfrm>
            <a:off x="2982593" y="2444292"/>
            <a:ext cx="556739" cy="647769"/>
          </a:xfrm>
          <a:custGeom>
            <a:avLst/>
            <a:gdLst>
              <a:gd name="T0" fmla="*/ 894085 w 4268"/>
              <a:gd name="T1" fmla="*/ 1679836 h 5034"/>
              <a:gd name="T2" fmla="*/ 695736 w 4268"/>
              <a:gd name="T3" fmla="*/ 1585986 h 5034"/>
              <a:gd name="T4" fmla="*/ 499280 w 4268"/>
              <a:gd name="T5" fmla="*/ 1455429 h 5034"/>
              <a:gd name="T6" fmla="*/ 311151 w 4268"/>
              <a:gd name="T7" fmla="*/ 1274163 h 5034"/>
              <a:gd name="T8" fmla="*/ 154818 w 4268"/>
              <a:gd name="T9" fmla="*/ 1035375 h 5034"/>
              <a:gd name="T10" fmla="*/ 85169 w 4268"/>
              <a:gd name="T11" fmla="*/ 858272 h 5034"/>
              <a:gd name="T12" fmla="*/ 47316 w 4268"/>
              <a:gd name="T13" fmla="*/ 693656 h 5034"/>
              <a:gd name="T14" fmla="*/ 27633 w 4268"/>
              <a:gd name="T15" fmla="*/ 597914 h 5034"/>
              <a:gd name="T16" fmla="*/ 757 w 4268"/>
              <a:gd name="T17" fmla="*/ 830647 h 5034"/>
              <a:gd name="T18" fmla="*/ 11356 w 4268"/>
              <a:gd name="T19" fmla="*/ 1056567 h 5034"/>
              <a:gd name="T20" fmla="*/ 50723 w 4268"/>
              <a:gd name="T21" fmla="*/ 1251079 h 5034"/>
              <a:gd name="T22" fmla="*/ 127564 w 4268"/>
              <a:gd name="T23" fmla="*/ 1457700 h 5034"/>
              <a:gd name="T24" fmla="*/ 227117 w 4268"/>
              <a:gd name="T25" fmla="*/ 1628749 h 5034"/>
              <a:gd name="T26" fmla="*/ 332348 w 4268"/>
              <a:gd name="T27" fmla="*/ 1749467 h 5034"/>
              <a:gd name="T28" fmla="*/ 444771 w 4268"/>
              <a:gd name="T29" fmla="*/ 1832342 h 5034"/>
              <a:gd name="T30" fmla="*/ 560980 w 4268"/>
              <a:gd name="T31" fmla="*/ 1881538 h 5034"/>
              <a:gd name="T32" fmla="*/ 676431 w 4268"/>
              <a:gd name="T33" fmla="*/ 1903108 h 5034"/>
              <a:gd name="T34" fmla="*/ 843362 w 4268"/>
              <a:gd name="T35" fmla="*/ 1892512 h 5034"/>
              <a:gd name="T36" fmla="*/ 1038683 w 4268"/>
              <a:gd name="T37" fmla="*/ 1858832 h 5034"/>
              <a:gd name="T38" fmla="*/ 1322201 w 4268"/>
              <a:gd name="T39" fmla="*/ 1838775 h 5034"/>
              <a:gd name="T40" fmla="*/ 1516008 w 4268"/>
              <a:gd name="T41" fmla="*/ 1785039 h 5034"/>
              <a:gd name="T42" fmla="*/ 1579979 w 4268"/>
              <a:gd name="T43" fmla="*/ 1750602 h 5034"/>
              <a:gd name="T44" fmla="*/ 1398664 w 4268"/>
              <a:gd name="T45" fmla="*/ 1771037 h 5034"/>
              <a:gd name="T46" fmla="*/ 1156406 w 4268"/>
              <a:gd name="T47" fmla="*/ 1752872 h 5034"/>
              <a:gd name="T48" fmla="*/ 157089 w 4268"/>
              <a:gd name="T49" fmla="*/ 73036 h 5034"/>
              <a:gd name="T50" fmla="*/ 126807 w 4268"/>
              <a:gd name="T51" fmla="*/ 278522 h 5034"/>
              <a:gd name="T52" fmla="*/ 120751 w 4268"/>
              <a:gd name="T53" fmla="*/ 466979 h 5034"/>
              <a:gd name="T54" fmla="*/ 135135 w 4268"/>
              <a:gd name="T55" fmla="*/ 637271 h 5034"/>
              <a:gd name="T56" fmla="*/ 171474 w 4268"/>
              <a:gd name="T57" fmla="*/ 576344 h 5034"/>
              <a:gd name="T58" fmla="*/ 238473 w 4268"/>
              <a:gd name="T59" fmla="*/ 459788 h 5034"/>
              <a:gd name="T60" fmla="*/ 209705 w 4268"/>
              <a:gd name="T61" fmla="*/ 571803 h 5034"/>
              <a:gd name="T62" fmla="*/ 193428 w 4268"/>
              <a:gd name="T63" fmla="*/ 742095 h 5034"/>
              <a:gd name="T64" fmla="*/ 209326 w 4268"/>
              <a:gd name="T65" fmla="*/ 910495 h 5034"/>
              <a:gd name="T66" fmla="*/ 282761 w 4268"/>
              <a:gd name="T67" fmla="*/ 1059973 h 5034"/>
              <a:gd name="T68" fmla="*/ 341812 w 4268"/>
              <a:gd name="T69" fmla="*/ 1099330 h 5034"/>
              <a:gd name="T70" fmla="*/ 369066 w 4268"/>
              <a:gd name="T71" fmla="*/ 912765 h 5034"/>
              <a:gd name="T72" fmla="*/ 420924 w 4268"/>
              <a:gd name="T73" fmla="*/ 767449 h 5034"/>
              <a:gd name="T74" fmla="*/ 430009 w 4268"/>
              <a:gd name="T75" fmla="*/ 818537 h 5034"/>
              <a:gd name="T76" fmla="*/ 428116 w 4268"/>
              <a:gd name="T77" fmla="*/ 1022887 h 5034"/>
              <a:gd name="T78" fmla="*/ 465212 w 4268"/>
              <a:gd name="T79" fmla="*/ 1249565 h 5034"/>
              <a:gd name="T80" fmla="*/ 610567 w 4268"/>
              <a:gd name="T81" fmla="*/ 1416073 h 5034"/>
              <a:gd name="T82" fmla="*/ 668103 w 4268"/>
              <a:gd name="T83" fmla="*/ 1328278 h 5034"/>
              <a:gd name="T84" fmla="*/ 670753 w 4268"/>
              <a:gd name="T85" fmla="*/ 1121657 h 5034"/>
              <a:gd name="T86" fmla="*/ 705578 w 4268"/>
              <a:gd name="T87" fmla="*/ 961961 h 5034"/>
              <a:gd name="T88" fmla="*/ 719205 w 4268"/>
              <a:gd name="T89" fmla="*/ 1091004 h 5034"/>
              <a:gd name="T90" fmla="*/ 760464 w 4268"/>
              <a:gd name="T91" fmla="*/ 1298760 h 5034"/>
              <a:gd name="T92" fmla="*/ 840713 w 4268"/>
              <a:gd name="T93" fmla="*/ 1521654 h 5034"/>
              <a:gd name="T94" fmla="*/ 1029977 w 4268"/>
              <a:gd name="T95" fmla="*/ 1631776 h 5034"/>
              <a:gd name="T96" fmla="*/ 1163976 w 4268"/>
              <a:gd name="T97" fmla="*/ 1661672 h 5034"/>
              <a:gd name="T98" fmla="*/ 1198044 w 4268"/>
              <a:gd name="T99" fmla="*/ 1469052 h 5034"/>
              <a:gd name="T100" fmla="*/ 1196151 w 4268"/>
              <a:gd name="T101" fmla="*/ 1309735 h 5034"/>
              <a:gd name="T102" fmla="*/ 1159434 w 4268"/>
              <a:gd name="T103" fmla="*/ 1126198 h 5034"/>
              <a:gd name="T104" fmla="*/ 1071237 w 4268"/>
              <a:gd name="T105" fmla="*/ 931308 h 5034"/>
              <a:gd name="T106" fmla="*/ 914147 w 4268"/>
              <a:gd name="T107" fmla="*/ 737932 h 5034"/>
              <a:gd name="T108" fmla="*/ 674917 w 4268"/>
              <a:gd name="T109" fmla="*/ 549097 h 5034"/>
              <a:gd name="T110" fmla="*/ 403890 w 4268"/>
              <a:gd name="T111" fmla="*/ 298579 h 5034"/>
              <a:gd name="T112" fmla="*/ 239987 w 4268"/>
              <a:gd name="T113" fmla="*/ 101797 h 5034"/>
              <a:gd name="T114" fmla="*/ 0 60000 65536"/>
              <a:gd name="T115" fmla="*/ 0 60000 65536"/>
              <a:gd name="T116" fmla="*/ 0 60000 65536"/>
              <a:gd name="T117" fmla="*/ 0 60000 65536"/>
              <a:gd name="T118" fmla="*/ 0 60000 65536"/>
              <a:gd name="T119" fmla="*/ 0 60000 65536"/>
              <a:gd name="T120" fmla="*/ 0 60000 65536"/>
              <a:gd name="T121" fmla="*/ 0 60000 65536"/>
              <a:gd name="T122" fmla="*/ 0 60000 65536"/>
              <a:gd name="T123" fmla="*/ 0 60000 65536"/>
              <a:gd name="T124" fmla="*/ 0 60000 65536"/>
              <a:gd name="T125" fmla="*/ 0 60000 65536"/>
              <a:gd name="T126" fmla="*/ 0 60000 65536"/>
              <a:gd name="T127" fmla="*/ 0 60000 65536"/>
              <a:gd name="T128" fmla="*/ 0 60000 65536"/>
              <a:gd name="T129" fmla="*/ 0 60000 65536"/>
              <a:gd name="T130" fmla="*/ 0 60000 65536"/>
              <a:gd name="T131" fmla="*/ 0 60000 65536"/>
              <a:gd name="T132" fmla="*/ 0 60000 65536"/>
              <a:gd name="T133" fmla="*/ 0 60000 65536"/>
              <a:gd name="T134" fmla="*/ 0 60000 65536"/>
              <a:gd name="T135" fmla="*/ 0 60000 65536"/>
              <a:gd name="T136" fmla="*/ 0 60000 65536"/>
              <a:gd name="T137" fmla="*/ 0 60000 65536"/>
              <a:gd name="T138" fmla="*/ 0 60000 65536"/>
              <a:gd name="T139" fmla="*/ 0 60000 65536"/>
              <a:gd name="T140" fmla="*/ 0 60000 65536"/>
              <a:gd name="T141" fmla="*/ 0 60000 65536"/>
              <a:gd name="T142" fmla="*/ 0 60000 65536"/>
              <a:gd name="T143" fmla="*/ 0 60000 65536"/>
              <a:gd name="T144" fmla="*/ 0 60000 65536"/>
              <a:gd name="T145" fmla="*/ 0 60000 65536"/>
              <a:gd name="T146" fmla="*/ 0 60000 65536"/>
              <a:gd name="T147" fmla="*/ 0 60000 65536"/>
              <a:gd name="T148" fmla="*/ 0 60000 65536"/>
              <a:gd name="T149" fmla="*/ 0 60000 65536"/>
              <a:gd name="T150" fmla="*/ 0 60000 65536"/>
              <a:gd name="T151" fmla="*/ 0 60000 65536"/>
              <a:gd name="T152" fmla="*/ 0 60000 65536"/>
              <a:gd name="T153" fmla="*/ 0 60000 65536"/>
              <a:gd name="T154" fmla="*/ 0 60000 65536"/>
              <a:gd name="T155" fmla="*/ 0 60000 65536"/>
              <a:gd name="T156" fmla="*/ 0 60000 65536"/>
              <a:gd name="T157" fmla="*/ 0 60000 65536"/>
              <a:gd name="T158" fmla="*/ 0 60000 65536"/>
              <a:gd name="T159" fmla="*/ 0 60000 65536"/>
              <a:gd name="T160" fmla="*/ 0 60000 65536"/>
              <a:gd name="T161" fmla="*/ 0 60000 65536"/>
              <a:gd name="T162" fmla="*/ 0 60000 65536"/>
              <a:gd name="T163" fmla="*/ 0 60000 65536"/>
              <a:gd name="T164" fmla="*/ 0 60000 65536"/>
              <a:gd name="T165" fmla="*/ 0 60000 65536"/>
              <a:gd name="T166" fmla="*/ 0 60000 65536"/>
              <a:gd name="T167" fmla="*/ 0 60000 65536"/>
              <a:gd name="T168" fmla="*/ 0 60000 65536"/>
              <a:gd name="T169" fmla="*/ 0 60000 65536"/>
              <a:gd name="T170" fmla="*/ 0 60000 65536"/>
            </a:gdLst>
            <a:ahLst/>
            <a:cxnLst>
              <a:cxn ang="T114">
                <a:pos x="T0" y="T1"/>
              </a:cxn>
              <a:cxn ang="T115">
                <a:pos x="T2" y="T3"/>
              </a:cxn>
              <a:cxn ang="T116">
                <a:pos x="T4" y="T5"/>
              </a:cxn>
              <a:cxn ang="T117">
                <a:pos x="T6" y="T7"/>
              </a:cxn>
              <a:cxn ang="T118">
                <a:pos x="T8" y="T9"/>
              </a:cxn>
              <a:cxn ang="T119">
                <a:pos x="T10" y="T11"/>
              </a:cxn>
              <a:cxn ang="T120">
                <a:pos x="T12" y="T13"/>
              </a:cxn>
              <a:cxn ang="T121">
                <a:pos x="T14" y="T15"/>
              </a:cxn>
              <a:cxn ang="T122">
                <a:pos x="T16" y="T17"/>
              </a:cxn>
              <a:cxn ang="T123">
                <a:pos x="T18" y="T19"/>
              </a:cxn>
              <a:cxn ang="T124">
                <a:pos x="T20" y="T21"/>
              </a:cxn>
              <a:cxn ang="T125">
                <a:pos x="T22" y="T23"/>
              </a:cxn>
              <a:cxn ang="T126">
                <a:pos x="T24" y="T25"/>
              </a:cxn>
              <a:cxn ang="T127">
                <a:pos x="T26" y="T27"/>
              </a:cxn>
              <a:cxn ang="T128">
                <a:pos x="T28" y="T29"/>
              </a:cxn>
              <a:cxn ang="T129">
                <a:pos x="T30" y="T31"/>
              </a:cxn>
              <a:cxn ang="T130">
                <a:pos x="T32" y="T33"/>
              </a:cxn>
              <a:cxn ang="T131">
                <a:pos x="T34" y="T35"/>
              </a:cxn>
              <a:cxn ang="T132">
                <a:pos x="T36" y="T37"/>
              </a:cxn>
              <a:cxn ang="T133">
                <a:pos x="T38" y="T39"/>
              </a:cxn>
              <a:cxn ang="T134">
                <a:pos x="T40" y="T41"/>
              </a:cxn>
              <a:cxn ang="T135">
                <a:pos x="T42" y="T43"/>
              </a:cxn>
              <a:cxn ang="T136">
                <a:pos x="T44" y="T45"/>
              </a:cxn>
              <a:cxn ang="T137">
                <a:pos x="T46" y="T47"/>
              </a:cxn>
              <a:cxn ang="T138">
                <a:pos x="T48" y="T49"/>
              </a:cxn>
              <a:cxn ang="T139">
                <a:pos x="T50" y="T51"/>
              </a:cxn>
              <a:cxn ang="T140">
                <a:pos x="T52" y="T53"/>
              </a:cxn>
              <a:cxn ang="T141">
                <a:pos x="T54" y="T55"/>
              </a:cxn>
              <a:cxn ang="T142">
                <a:pos x="T56" y="T57"/>
              </a:cxn>
              <a:cxn ang="T143">
                <a:pos x="T58" y="T59"/>
              </a:cxn>
              <a:cxn ang="T144">
                <a:pos x="T60" y="T61"/>
              </a:cxn>
              <a:cxn ang="T145">
                <a:pos x="T62" y="T63"/>
              </a:cxn>
              <a:cxn ang="T146">
                <a:pos x="T64" y="T65"/>
              </a:cxn>
              <a:cxn ang="T147">
                <a:pos x="T66" y="T67"/>
              </a:cxn>
              <a:cxn ang="T148">
                <a:pos x="T68" y="T69"/>
              </a:cxn>
              <a:cxn ang="T149">
                <a:pos x="T70" y="T71"/>
              </a:cxn>
              <a:cxn ang="T150">
                <a:pos x="T72" y="T73"/>
              </a:cxn>
              <a:cxn ang="T151">
                <a:pos x="T74" y="T75"/>
              </a:cxn>
              <a:cxn ang="T152">
                <a:pos x="T76" y="T77"/>
              </a:cxn>
              <a:cxn ang="T153">
                <a:pos x="T78" y="T79"/>
              </a:cxn>
              <a:cxn ang="T154">
                <a:pos x="T80" y="T81"/>
              </a:cxn>
              <a:cxn ang="T155">
                <a:pos x="T82" y="T83"/>
              </a:cxn>
              <a:cxn ang="T156">
                <a:pos x="T84" y="T85"/>
              </a:cxn>
              <a:cxn ang="T157">
                <a:pos x="T86" y="T87"/>
              </a:cxn>
              <a:cxn ang="T158">
                <a:pos x="T88" y="T89"/>
              </a:cxn>
              <a:cxn ang="T159">
                <a:pos x="T90" y="T91"/>
              </a:cxn>
              <a:cxn ang="T160">
                <a:pos x="T92" y="T93"/>
              </a:cxn>
              <a:cxn ang="T161">
                <a:pos x="T94" y="T95"/>
              </a:cxn>
              <a:cxn ang="T162">
                <a:pos x="T96" y="T97"/>
              </a:cxn>
              <a:cxn ang="T163">
                <a:pos x="T98" y="T99"/>
              </a:cxn>
              <a:cxn ang="T164">
                <a:pos x="T100" y="T101"/>
              </a:cxn>
              <a:cxn ang="T165">
                <a:pos x="T102" y="T103"/>
              </a:cxn>
              <a:cxn ang="T166">
                <a:pos x="T104" y="T105"/>
              </a:cxn>
              <a:cxn ang="T167">
                <a:pos x="T106" y="T107"/>
              </a:cxn>
              <a:cxn ang="T168">
                <a:pos x="T108" y="T109"/>
              </a:cxn>
              <a:cxn ang="T169">
                <a:pos x="T110" y="T111"/>
              </a:cxn>
              <a:cxn ang="T170">
                <a:pos x="T112" y="T113"/>
              </a:cxn>
            </a:cxnLst>
            <a:rect l="0" t="0" r="r" b="b"/>
            <a:pathLst>
              <a:path w="4268" h="5034">
                <a:moveTo>
                  <a:pt x="2846" y="4597"/>
                </a:moveTo>
                <a:lnTo>
                  <a:pt x="2846" y="4597"/>
                </a:lnTo>
                <a:lnTo>
                  <a:pt x="2803" y="4585"/>
                </a:lnTo>
                <a:lnTo>
                  <a:pt x="2749" y="4571"/>
                </a:lnTo>
                <a:lnTo>
                  <a:pt x="2687" y="4553"/>
                </a:lnTo>
                <a:lnTo>
                  <a:pt x="2617" y="4531"/>
                </a:lnTo>
                <a:lnTo>
                  <a:pt x="2538" y="4504"/>
                </a:lnTo>
                <a:lnTo>
                  <a:pt x="2454" y="4474"/>
                </a:lnTo>
                <a:lnTo>
                  <a:pt x="2362" y="4439"/>
                </a:lnTo>
                <a:lnTo>
                  <a:pt x="2265" y="4399"/>
                </a:lnTo>
                <a:lnTo>
                  <a:pt x="2215" y="4378"/>
                </a:lnTo>
                <a:lnTo>
                  <a:pt x="2164" y="4355"/>
                </a:lnTo>
                <a:lnTo>
                  <a:pt x="2112" y="4331"/>
                </a:lnTo>
                <a:lnTo>
                  <a:pt x="2059" y="4305"/>
                </a:lnTo>
                <a:lnTo>
                  <a:pt x="2004" y="4279"/>
                </a:lnTo>
                <a:lnTo>
                  <a:pt x="1950" y="4251"/>
                </a:lnTo>
                <a:lnTo>
                  <a:pt x="1894" y="4222"/>
                </a:lnTo>
                <a:lnTo>
                  <a:pt x="1838" y="4191"/>
                </a:lnTo>
                <a:lnTo>
                  <a:pt x="1781" y="4158"/>
                </a:lnTo>
                <a:lnTo>
                  <a:pt x="1724" y="4125"/>
                </a:lnTo>
                <a:lnTo>
                  <a:pt x="1666" y="4089"/>
                </a:lnTo>
                <a:lnTo>
                  <a:pt x="1608" y="4052"/>
                </a:lnTo>
                <a:lnTo>
                  <a:pt x="1550" y="4014"/>
                </a:lnTo>
                <a:lnTo>
                  <a:pt x="1492" y="3974"/>
                </a:lnTo>
                <a:lnTo>
                  <a:pt x="1434" y="3933"/>
                </a:lnTo>
                <a:lnTo>
                  <a:pt x="1376" y="3891"/>
                </a:lnTo>
                <a:lnTo>
                  <a:pt x="1319" y="3846"/>
                </a:lnTo>
                <a:lnTo>
                  <a:pt x="1261" y="3800"/>
                </a:lnTo>
                <a:lnTo>
                  <a:pt x="1204" y="3752"/>
                </a:lnTo>
                <a:lnTo>
                  <a:pt x="1147" y="3702"/>
                </a:lnTo>
                <a:lnTo>
                  <a:pt x="1092" y="3651"/>
                </a:lnTo>
                <a:lnTo>
                  <a:pt x="1036" y="3598"/>
                </a:lnTo>
                <a:lnTo>
                  <a:pt x="981" y="3543"/>
                </a:lnTo>
                <a:lnTo>
                  <a:pt x="927" y="3487"/>
                </a:lnTo>
                <a:lnTo>
                  <a:pt x="874" y="3428"/>
                </a:lnTo>
                <a:lnTo>
                  <a:pt x="822" y="3367"/>
                </a:lnTo>
                <a:lnTo>
                  <a:pt x="770" y="3305"/>
                </a:lnTo>
                <a:lnTo>
                  <a:pt x="720" y="3241"/>
                </a:lnTo>
                <a:lnTo>
                  <a:pt x="671" y="3174"/>
                </a:lnTo>
                <a:lnTo>
                  <a:pt x="624" y="3106"/>
                </a:lnTo>
                <a:lnTo>
                  <a:pt x="577" y="3037"/>
                </a:lnTo>
                <a:lnTo>
                  <a:pt x="533" y="2965"/>
                </a:lnTo>
                <a:lnTo>
                  <a:pt x="489" y="2891"/>
                </a:lnTo>
                <a:lnTo>
                  <a:pt x="448" y="2814"/>
                </a:lnTo>
                <a:lnTo>
                  <a:pt x="409" y="2736"/>
                </a:lnTo>
                <a:lnTo>
                  <a:pt x="371" y="2656"/>
                </a:lnTo>
                <a:lnTo>
                  <a:pt x="334" y="2573"/>
                </a:lnTo>
                <a:lnTo>
                  <a:pt x="318" y="2531"/>
                </a:lnTo>
                <a:lnTo>
                  <a:pt x="301" y="2489"/>
                </a:lnTo>
                <a:lnTo>
                  <a:pt x="284" y="2445"/>
                </a:lnTo>
                <a:lnTo>
                  <a:pt x="268" y="2402"/>
                </a:lnTo>
                <a:lnTo>
                  <a:pt x="253" y="2357"/>
                </a:lnTo>
                <a:lnTo>
                  <a:pt x="238" y="2312"/>
                </a:lnTo>
                <a:lnTo>
                  <a:pt x="225" y="2268"/>
                </a:lnTo>
                <a:lnTo>
                  <a:pt x="212" y="2221"/>
                </a:lnTo>
                <a:lnTo>
                  <a:pt x="198" y="2175"/>
                </a:lnTo>
                <a:lnTo>
                  <a:pt x="186" y="2127"/>
                </a:lnTo>
                <a:lnTo>
                  <a:pt x="174" y="2080"/>
                </a:lnTo>
                <a:lnTo>
                  <a:pt x="163" y="2031"/>
                </a:lnTo>
                <a:lnTo>
                  <a:pt x="152" y="1983"/>
                </a:lnTo>
                <a:lnTo>
                  <a:pt x="142" y="1933"/>
                </a:lnTo>
                <a:lnTo>
                  <a:pt x="134" y="1884"/>
                </a:lnTo>
                <a:lnTo>
                  <a:pt x="125" y="1833"/>
                </a:lnTo>
                <a:lnTo>
                  <a:pt x="117" y="1781"/>
                </a:lnTo>
                <a:lnTo>
                  <a:pt x="110" y="1730"/>
                </a:lnTo>
                <a:lnTo>
                  <a:pt x="103" y="1678"/>
                </a:lnTo>
                <a:lnTo>
                  <a:pt x="98" y="1624"/>
                </a:lnTo>
                <a:lnTo>
                  <a:pt x="92" y="1571"/>
                </a:lnTo>
                <a:lnTo>
                  <a:pt x="88" y="1517"/>
                </a:lnTo>
                <a:lnTo>
                  <a:pt x="84" y="1533"/>
                </a:lnTo>
                <a:lnTo>
                  <a:pt x="73" y="1580"/>
                </a:lnTo>
                <a:lnTo>
                  <a:pt x="59" y="1654"/>
                </a:lnTo>
                <a:lnTo>
                  <a:pt x="50" y="1702"/>
                </a:lnTo>
                <a:lnTo>
                  <a:pt x="41" y="1756"/>
                </a:lnTo>
                <a:lnTo>
                  <a:pt x="33" y="1816"/>
                </a:lnTo>
                <a:lnTo>
                  <a:pt x="24" y="1881"/>
                </a:lnTo>
                <a:lnTo>
                  <a:pt x="18" y="1952"/>
                </a:lnTo>
                <a:lnTo>
                  <a:pt x="11" y="2028"/>
                </a:lnTo>
                <a:lnTo>
                  <a:pt x="5" y="2109"/>
                </a:lnTo>
                <a:lnTo>
                  <a:pt x="2" y="2195"/>
                </a:lnTo>
                <a:lnTo>
                  <a:pt x="0" y="2286"/>
                </a:lnTo>
                <a:lnTo>
                  <a:pt x="1" y="2379"/>
                </a:lnTo>
                <a:lnTo>
                  <a:pt x="3" y="2477"/>
                </a:lnTo>
                <a:lnTo>
                  <a:pt x="6" y="2528"/>
                </a:lnTo>
                <a:lnTo>
                  <a:pt x="9" y="2579"/>
                </a:lnTo>
                <a:lnTo>
                  <a:pt x="13" y="2631"/>
                </a:lnTo>
                <a:lnTo>
                  <a:pt x="18" y="2684"/>
                </a:lnTo>
                <a:lnTo>
                  <a:pt x="23" y="2737"/>
                </a:lnTo>
                <a:lnTo>
                  <a:pt x="30" y="2792"/>
                </a:lnTo>
                <a:lnTo>
                  <a:pt x="38" y="2847"/>
                </a:lnTo>
                <a:lnTo>
                  <a:pt x="45" y="2902"/>
                </a:lnTo>
                <a:lnTo>
                  <a:pt x="54" y="2958"/>
                </a:lnTo>
                <a:lnTo>
                  <a:pt x="65" y="3015"/>
                </a:lnTo>
                <a:lnTo>
                  <a:pt x="77" y="3072"/>
                </a:lnTo>
                <a:lnTo>
                  <a:pt x="89" y="3130"/>
                </a:lnTo>
                <a:lnTo>
                  <a:pt x="102" y="3189"/>
                </a:lnTo>
                <a:lnTo>
                  <a:pt x="117" y="3247"/>
                </a:lnTo>
                <a:lnTo>
                  <a:pt x="134" y="3306"/>
                </a:lnTo>
                <a:lnTo>
                  <a:pt x="150" y="3366"/>
                </a:lnTo>
                <a:lnTo>
                  <a:pt x="169" y="3425"/>
                </a:lnTo>
                <a:lnTo>
                  <a:pt x="188" y="3486"/>
                </a:lnTo>
                <a:lnTo>
                  <a:pt x="209" y="3546"/>
                </a:lnTo>
                <a:lnTo>
                  <a:pt x="232" y="3607"/>
                </a:lnTo>
                <a:lnTo>
                  <a:pt x="256" y="3667"/>
                </a:lnTo>
                <a:lnTo>
                  <a:pt x="282" y="3729"/>
                </a:lnTo>
                <a:lnTo>
                  <a:pt x="309" y="3790"/>
                </a:lnTo>
                <a:lnTo>
                  <a:pt x="337" y="3852"/>
                </a:lnTo>
                <a:lnTo>
                  <a:pt x="367" y="3913"/>
                </a:lnTo>
                <a:lnTo>
                  <a:pt x="399" y="3974"/>
                </a:lnTo>
                <a:lnTo>
                  <a:pt x="431" y="4036"/>
                </a:lnTo>
                <a:lnTo>
                  <a:pt x="467" y="4097"/>
                </a:lnTo>
                <a:lnTo>
                  <a:pt x="504" y="4158"/>
                </a:lnTo>
                <a:lnTo>
                  <a:pt x="542" y="4218"/>
                </a:lnTo>
                <a:lnTo>
                  <a:pt x="571" y="4262"/>
                </a:lnTo>
                <a:lnTo>
                  <a:pt x="600" y="4304"/>
                </a:lnTo>
                <a:lnTo>
                  <a:pt x="629" y="4346"/>
                </a:lnTo>
                <a:lnTo>
                  <a:pt x="659" y="4385"/>
                </a:lnTo>
                <a:lnTo>
                  <a:pt x="689" y="4423"/>
                </a:lnTo>
                <a:lnTo>
                  <a:pt x="720" y="4459"/>
                </a:lnTo>
                <a:lnTo>
                  <a:pt x="750" y="4495"/>
                </a:lnTo>
                <a:lnTo>
                  <a:pt x="782" y="4529"/>
                </a:lnTo>
                <a:lnTo>
                  <a:pt x="814" y="4562"/>
                </a:lnTo>
                <a:lnTo>
                  <a:pt x="845" y="4593"/>
                </a:lnTo>
                <a:lnTo>
                  <a:pt x="878" y="4623"/>
                </a:lnTo>
                <a:lnTo>
                  <a:pt x="910" y="4652"/>
                </a:lnTo>
                <a:lnTo>
                  <a:pt x="942" y="4680"/>
                </a:lnTo>
                <a:lnTo>
                  <a:pt x="976" y="4707"/>
                </a:lnTo>
                <a:lnTo>
                  <a:pt x="1008" y="4732"/>
                </a:lnTo>
                <a:lnTo>
                  <a:pt x="1042" y="4756"/>
                </a:lnTo>
                <a:lnTo>
                  <a:pt x="1075" y="4779"/>
                </a:lnTo>
                <a:lnTo>
                  <a:pt x="1108" y="4801"/>
                </a:lnTo>
                <a:lnTo>
                  <a:pt x="1142" y="4822"/>
                </a:lnTo>
                <a:lnTo>
                  <a:pt x="1175" y="4842"/>
                </a:lnTo>
                <a:lnTo>
                  <a:pt x="1210" y="4860"/>
                </a:lnTo>
                <a:lnTo>
                  <a:pt x="1243" y="4878"/>
                </a:lnTo>
                <a:lnTo>
                  <a:pt x="1277" y="4894"/>
                </a:lnTo>
                <a:lnTo>
                  <a:pt x="1311" y="4910"/>
                </a:lnTo>
                <a:lnTo>
                  <a:pt x="1346" y="4924"/>
                </a:lnTo>
                <a:lnTo>
                  <a:pt x="1380" y="4938"/>
                </a:lnTo>
                <a:lnTo>
                  <a:pt x="1414" y="4950"/>
                </a:lnTo>
                <a:lnTo>
                  <a:pt x="1449" y="4961"/>
                </a:lnTo>
                <a:lnTo>
                  <a:pt x="1482" y="4972"/>
                </a:lnTo>
                <a:lnTo>
                  <a:pt x="1517" y="4981"/>
                </a:lnTo>
                <a:lnTo>
                  <a:pt x="1550" y="4990"/>
                </a:lnTo>
                <a:lnTo>
                  <a:pt x="1585" y="4998"/>
                </a:lnTo>
                <a:lnTo>
                  <a:pt x="1618" y="5006"/>
                </a:lnTo>
                <a:lnTo>
                  <a:pt x="1653" y="5011"/>
                </a:lnTo>
                <a:lnTo>
                  <a:pt x="1686" y="5017"/>
                </a:lnTo>
                <a:lnTo>
                  <a:pt x="1720" y="5022"/>
                </a:lnTo>
                <a:lnTo>
                  <a:pt x="1753" y="5026"/>
                </a:lnTo>
                <a:lnTo>
                  <a:pt x="1787" y="5029"/>
                </a:lnTo>
                <a:lnTo>
                  <a:pt x="1820" y="5032"/>
                </a:lnTo>
                <a:lnTo>
                  <a:pt x="1852" y="5033"/>
                </a:lnTo>
                <a:lnTo>
                  <a:pt x="1886" y="5034"/>
                </a:lnTo>
                <a:lnTo>
                  <a:pt x="1918" y="5034"/>
                </a:lnTo>
                <a:lnTo>
                  <a:pt x="1983" y="5033"/>
                </a:lnTo>
                <a:lnTo>
                  <a:pt x="2047" y="5028"/>
                </a:lnTo>
                <a:lnTo>
                  <a:pt x="2108" y="5022"/>
                </a:lnTo>
                <a:lnTo>
                  <a:pt x="2169" y="5013"/>
                </a:lnTo>
                <a:lnTo>
                  <a:pt x="2228" y="5001"/>
                </a:lnTo>
                <a:lnTo>
                  <a:pt x="2286" y="4989"/>
                </a:lnTo>
                <a:lnTo>
                  <a:pt x="2343" y="4975"/>
                </a:lnTo>
                <a:lnTo>
                  <a:pt x="2397" y="4958"/>
                </a:lnTo>
                <a:lnTo>
                  <a:pt x="2449" y="4940"/>
                </a:lnTo>
                <a:lnTo>
                  <a:pt x="2501" y="4921"/>
                </a:lnTo>
                <a:lnTo>
                  <a:pt x="2549" y="4901"/>
                </a:lnTo>
                <a:lnTo>
                  <a:pt x="2648" y="4908"/>
                </a:lnTo>
                <a:lnTo>
                  <a:pt x="2744" y="4912"/>
                </a:lnTo>
                <a:lnTo>
                  <a:pt x="2839" y="4914"/>
                </a:lnTo>
                <a:lnTo>
                  <a:pt x="2930" y="4914"/>
                </a:lnTo>
                <a:lnTo>
                  <a:pt x="3018" y="4911"/>
                </a:lnTo>
                <a:lnTo>
                  <a:pt x="3104" y="4907"/>
                </a:lnTo>
                <a:lnTo>
                  <a:pt x="3188" y="4900"/>
                </a:lnTo>
                <a:lnTo>
                  <a:pt x="3268" y="4892"/>
                </a:lnTo>
                <a:lnTo>
                  <a:pt x="3346" y="4882"/>
                </a:lnTo>
                <a:lnTo>
                  <a:pt x="3421" y="4871"/>
                </a:lnTo>
                <a:lnTo>
                  <a:pt x="3493" y="4859"/>
                </a:lnTo>
                <a:lnTo>
                  <a:pt x="3563" y="4845"/>
                </a:lnTo>
                <a:lnTo>
                  <a:pt x="3628" y="4831"/>
                </a:lnTo>
                <a:lnTo>
                  <a:pt x="3692" y="4815"/>
                </a:lnTo>
                <a:lnTo>
                  <a:pt x="3752" y="4800"/>
                </a:lnTo>
                <a:lnTo>
                  <a:pt x="3809" y="4784"/>
                </a:lnTo>
                <a:lnTo>
                  <a:pt x="3864" y="4767"/>
                </a:lnTo>
                <a:lnTo>
                  <a:pt x="3914" y="4750"/>
                </a:lnTo>
                <a:lnTo>
                  <a:pt x="3962" y="4734"/>
                </a:lnTo>
                <a:lnTo>
                  <a:pt x="4005" y="4717"/>
                </a:lnTo>
                <a:lnTo>
                  <a:pt x="4047" y="4701"/>
                </a:lnTo>
                <a:lnTo>
                  <a:pt x="4085" y="4686"/>
                </a:lnTo>
                <a:lnTo>
                  <a:pt x="4149" y="4658"/>
                </a:lnTo>
                <a:lnTo>
                  <a:pt x="4201" y="4633"/>
                </a:lnTo>
                <a:lnTo>
                  <a:pt x="4237" y="4613"/>
                </a:lnTo>
                <a:lnTo>
                  <a:pt x="4268" y="4597"/>
                </a:lnTo>
                <a:lnTo>
                  <a:pt x="4222" y="4612"/>
                </a:lnTo>
                <a:lnTo>
                  <a:pt x="4174" y="4626"/>
                </a:lnTo>
                <a:lnTo>
                  <a:pt x="4125" y="4638"/>
                </a:lnTo>
                <a:lnTo>
                  <a:pt x="4073" y="4648"/>
                </a:lnTo>
                <a:lnTo>
                  <a:pt x="4022" y="4657"/>
                </a:lnTo>
                <a:lnTo>
                  <a:pt x="3969" y="4663"/>
                </a:lnTo>
                <a:lnTo>
                  <a:pt x="3915" y="4670"/>
                </a:lnTo>
                <a:lnTo>
                  <a:pt x="3860" y="4675"/>
                </a:lnTo>
                <a:lnTo>
                  <a:pt x="3806" y="4677"/>
                </a:lnTo>
                <a:lnTo>
                  <a:pt x="3751" y="4679"/>
                </a:lnTo>
                <a:lnTo>
                  <a:pt x="3695" y="4680"/>
                </a:lnTo>
                <a:lnTo>
                  <a:pt x="3641" y="4680"/>
                </a:lnTo>
                <a:lnTo>
                  <a:pt x="3586" y="4679"/>
                </a:lnTo>
                <a:lnTo>
                  <a:pt x="3531" y="4678"/>
                </a:lnTo>
                <a:lnTo>
                  <a:pt x="3478" y="4676"/>
                </a:lnTo>
                <a:lnTo>
                  <a:pt x="3425" y="4672"/>
                </a:lnTo>
                <a:lnTo>
                  <a:pt x="3323" y="4663"/>
                </a:lnTo>
                <a:lnTo>
                  <a:pt x="3226" y="4655"/>
                </a:lnTo>
                <a:lnTo>
                  <a:pt x="3136" y="4643"/>
                </a:lnTo>
                <a:lnTo>
                  <a:pt x="3055" y="4632"/>
                </a:lnTo>
                <a:lnTo>
                  <a:pt x="2985" y="4621"/>
                </a:lnTo>
                <a:lnTo>
                  <a:pt x="2924" y="4611"/>
                </a:lnTo>
                <a:lnTo>
                  <a:pt x="2846" y="4597"/>
                </a:lnTo>
                <a:close/>
                <a:moveTo>
                  <a:pt x="456" y="0"/>
                </a:moveTo>
                <a:lnTo>
                  <a:pt x="456" y="0"/>
                </a:lnTo>
                <a:lnTo>
                  <a:pt x="441" y="65"/>
                </a:lnTo>
                <a:lnTo>
                  <a:pt x="428" y="130"/>
                </a:lnTo>
                <a:lnTo>
                  <a:pt x="415" y="193"/>
                </a:lnTo>
                <a:lnTo>
                  <a:pt x="402" y="256"/>
                </a:lnTo>
                <a:lnTo>
                  <a:pt x="391" y="318"/>
                </a:lnTo>
                <a:lnTo>
                  <a:pt x="381" y="379"/>
                </a:lnTo>
                <a:lnTo>
                  <a:pt x="371" y="441"/>
                </a:lnTo>
                <a:lnTo>
                  <a:pt x="362" y="501"/>
                </a:lnTo>
                <a:lnTo>
                  <a:pt x="354" y="561"/>
                </a:lnTo>
                <a:lnTo>
                  <a:pt x="348" y="620"/>
                </a:lnTo>
                <a:lnTo>
                  <a:pt x="341" y="678"/>
                </a:lnTo>
                <a:lnTo>
                  <a:pt x="335" y="736"/>
                </a:lnTo>
                <a:lnTo>
                  <a:pt x="331" y="794"/>
                </a:lnTo>
                <a:lnTo>
                  <a:pt x="326" y="851"/>
                </a:lnTo>
                <a:lnTo>
                  <a:pt x="323" y="907"/>
                </a:lnTo>
                <a:lnTo>
                  <a:pt x="321" y="963"/>
                </a:lnTo>
                <a:lnTo>
                  <a:pt x="319" y="1019"/>
                </a:lnTo>
                <a:lnTo>
                  <a:pt x="318" y="1073"/>
                </a:lnTo>
                <a:lnTo>
                  <a:pt x="318" y="1127"/>
                </a:lnTo>
                <a:lnTo>
                  <a:pt x="318" y="1180"/>
                </a:lnTo>
                <a:lnTo>
                  <a:pt x="319" y="1234"/>
                </a:lnTo>
                <a:lnTo>
                  <a:pt x="320" y="1286"/>
                </a:lnTo>
                <a:lnTo>
                  <a:pt x="322" y="1338"/>
                </a:lnTo>
                <a:lnTo>
                  <a:pt x="325" y="1389"/>
                </a:lnTo>
                <a:lnTo>
                  <a:pt x="329" y="1439"/>
                </a:lnTo>
                <a:lnTo>
                  <a:pt x="333" y="1489"/>
                </a:lnTo>
                <a:lnTo>
                  <a:pt x="339" y="1539"/>
                </a:lnTo>
                <a:lnTo>
                  <a:pt x="344" y="1588"/>
                </a:lnTo>
                <a:lnTo>
                  <a:pt x="350" y="1636"/>
                </a:lnTo>
                <a:lnTo>
                  <a:pt x="357" y="1684"/>
                </a:lnTo>
                <a:lnTo>
                  <a:pt x="364" y="1732"/>
                </a:lnTo>
                <a:lnTo>
                  <a:pt x="372" y="1779"/>
                </a:lnTo>
                <a:lnTo>
                  <a:pt x="381" y="1742"/>
                </a:lnTo>
                <a:lnTo>
                  <a:pt x="390" y="1708"/>
                </a:lnTo>
                <a:lnTo>
                  <a:pt x="400" y="1673"/>
                </a:lnTo>
                <a:lnTo>
                  <a:pt x="410" y="1641"/>
                </a:lnTo>
                <a:lnTo>
                  <a:pt x="431" y="1580"/>
                </a:lnTo>
                <a:lnTo>
                  <a:pt x="453" y="1523"/>
                </a:lnTo>
                <a:lnTo>
                  <a:pt x="475" y="1471"/>
                </a:lnTo>
                <a:lnTo>
                  <a:pt x="497" y="1425"/>
                </a:lnTo>
                <a:lnTo>
                  <a:pt x="519" y="1382"/>
                </a:lnTo>
                <a:lnTo>
                  <a:pt x="540" y="1344"/>
                </a:lnTo>
                <a:lnTo>
                  <a:pt x="560" y="1312"/>
                </a:lnTo>
                <a:lnTo>
                  <a:pt x="579" y="1283"/>
                </a:lnTo>
                <a:lnTo>
                  <a:pt x="595" y="1259"/>
                </a:lnTo>
                <a:lnTo>
                  <a:pt x="610" y="1240"/>
                </a:lnTo>
                <a:lnTo>
                  <a:pt x="630" y="1215"/>
                </a:lnTo>
                <a:lnTo>
                  <a:pt x="638" y="1206"/>
                </a:lnTo>
                <a:lnTo>
                  <a:pt x="622" y="1249"/>
                </a:lnTo>
                <a:lnTo>
                  <a:pt x="608" y="1293"/>
                </a:lnTo>
                <a:lnTo>
                  <a:pt x="595" y="1338"/>
                </a:lnTo>
                <a:lnTo>
                  <a:pt x="583" y="1381"/>
                </a:lnTo>
                <a:lnTo>
                  <a:pt x="572" y="1425"/>
                </a:lnTo>
                <a:lnTo>
                  <a:pt x="562" y="1468"/>
                </a:lnTo>
                <a:lnTo>
                  <a:pt x="554" y="1511"/>
                </a:lnTo>
                <a:lnTo>
                  <a:pt x="546" y="1555"/>
                </a:lnTo>
                <a:lnTo>
                  <a:pt x="538" y="1598"/>
                </a:lnTo>
                <a:lnTo>
                  <a:pt x="533" y="1641"/>
                </a:lnTo>
                <a:lnTo>
                  <a:pt x="527" y="1683"/>
                </a:lnTo>
                <a:lnTo>
                  <a:pt x="523" y="1725"/>
                </a:lnTo>
                <a:lnTo>
                  <a:pt x="519" y="1766"/>
                </a:lnTo>
                <a:lnTo>
                  <a:pt x="516" y="1807"/>
                </a:lnTo>
                <a:lnTo>
                  <a:pt x="513" y="1885"/>
                </a:lnTo>
                <a:lnTo>
                  <a:pt x="511" y="1961"/>
                </a:lnTo>
                <a:lnTo>
                  <a:pt x="511" y="2033"/>
                </a:lnTo>
                <a:lnTo>
                  <a:pt x="513" y="2102"/>
                </a:lnTo>
                <a:lnTo>
                  <a:pt x="516" y="2164"/>
                </a:lnTo>
                <a:lnTo>
                  <a:pt x="521" y="2222"/>
                </a:lnTo>
                <a:lnTo>
                  <a:pt x="525" y="2274"/>
                </a:lnTo>
                <a:lnTo>
                  <a:pt x="530" y="2320"/>
                </a:lnTo>
                <a:lnTo>
                  <a:pt x="535" y="2359"/>
                </a:lnTo>
                <a:lnTo>
                  <a:pt x="553" y="2406"/>
                </a:lnTo>
                <a:lnTo>
                  <a:pt x="572" y="2453"/>
                </a:lnTo>
                <a:lnTo>
                  <a:pt x="592" y="2499"/>
                </a:lnTo>
                <a:lnTo>
                  <a:pt x="613" y="2543"/>
                </a:lnTo>
                <a:lnTo>
                  <a:pt x="633" y="2588"/>
                </a:lnTo>
                <a:lnTo>
                  <a:pt x="656" y="2631"/>
                </a:lnTo>
                <a:lnTo>
                  <a:pt x="678" y="2675"/>
                </a:lnTo>
                <a:lnTo>
                  <a:pt x="700" y="2717"/>
                </a:lnTo>
                <a:lnTo>
                  <a:pt x="724" y="2760"/>
                </a:lnTo>
                <a:lnTo>
                  <a:pt x="747" y="2801"/>
                </a:lnTo>
                <a:lnTo>
                  <a:pt x="772" y="2841"/>
                </a:lnTo>
                <a:lnTo>
                  <a:pt x="796" y="2881"/>
                </a:lnTo>
                <a:lnTo>
                  <a:pt x="822" y="2920"/>
                </a:lnTo>
                <a:lnTo>
                  <a:pt x="847" y="2959"/>
                </a:lnTo>
                <a:lnTo>
                  <a:pt x="873" y="2997"/>
                </a:lnTo>
                <a:lnTo>
                  <a:pt x="900" y="3034"/>
                </a:lnTo>
                <a:lnTo>
                  <a:pt x="901" y="2968"/>
                </a:lnTo>
                <a:lnTo>
                  <a:pt x="903" y="2905"/>
                </a:lnTo>
                <a:lnTo>
                  <a:pt x="907" y="2842"/>
                </a:lnTo>
                <a:lnTo>
                  <a:pt x="912" y="2782"/>
                </a:lnTo>
                <a:lnTo>
                  <a:pt x="918" y="2723"/>
                </a:lnTo>
                <a:lnTo>
                  <a:pt x="926" y="2666"/>
                </a:lnTo>
                <a:lnTo>
                  <a:pt x="933" y="2611"/>
                </a:lnTo>
                <a:lnTo>
                  <a:pt x="942" y="2559"/>
                </a:lnTo>
                <a:lnTo>
                  <a:pt x="953" y="2508"/>
                </a:lnTo>
                <a:lnTo>
                  <a:pt x="963" y="2458"/>
                </a:lnTo>
                <a:lnTo>
                  <a:pt x="975" y="2412"/>
                </a:lnTo>
                <a:lnTo>
                  <a:pt x="987" y="2366"/>
                </a:lnTo>
                <a:lnTo>
                  <a:pt x="999" y="2323"/>
                </a:lnTo>
                <a:lnTo>
                  <a:pt x="1011" y="2282"/>
                </a:lnTo>
                <a:lnTo>
                  <a:pt x="1025" y="2243"/>
                </a:lnTo>
                <a:lnTo>
                  <a:pt x="1038" y="2206"/>
                </a:lnTo>
                <a:lnTo>
                  <a:pt x="1050" y="2171"/>
                </a:lnTo>
                <a:lnTo>
                  <a:pt x="1064" y="2138"/>
                </a:lnTo>
                <a:lnTo>
                  <a:pt x="1088" y="2079"/>
                </a:lnTo>
                <a:lnTo>
                  <a:pt x="1112" y="2028"/>
                </a:lnTo>
                <a:lnTo>
                  <a:pt x="1133" y="1987"/>
                </a:lnTo>
                <a:lnTo>
                  <a:pt x="1151" y="1954"/>
                </a:lnTo>
                <a:lnTo>
                  <a:pt x="1164" y="1930"/>
                </a:lnTo>
                <a:lnTo>
                  <a:pt x="1175" y="1911"/>
                </a:lnTo>
                <a:lnTo>
                  <a:pt x="1163" y="1974"/>
                </a:lnTo>
                <a:lnTo>
                  <a:pt x="1152" y="2037"/>
                </a:lnTo>
                <a:lnTo>
                  <a:pt x="1143" y="2099"/>
                </a:lnTo>
                <a:lnTo>
                  <a:pt x="1136" y="2163"/>
                </a:lnTo>
                <a:lnTo>
                  <a:pt x="1130" y="2225"/>
                </a:lnTo>
                <a:lnTo>
                  <a:pt x="1126" y="2287"/>
                </a:lnTo>
                <a:lnTo>
                  <a:pt x="1123" y="2348"/>
                </a:lnTo>
                <a:lnTo>
                  <a:pt x="1122" y="2409"/>
                </a:lnTo>
                <a:lnTo>
                  <a:pt x="1121" y="2470"/>
                </a:lnTo>
                <a:lnTo>
                  <a:pt x="1122" y="2530"/>
                </a:lnTo>
                <a:lnTo>
                  <a:pt x="1124" y="2588"/>
                </a:lnTo>
                <a:lnTo>
                  <a:pt x="1127" y="2646"/>
                </a:lnTo>
                <a:lnTo>
                  <a:pt x="1131" y="2703"/>
                </a:lnTo>
                <a:lnTo>
                  <a:pt x="1136" y="2758"/>
                </a:lnTo>
                <a:lnTo>
                  <a:pt x="1142" y="2813"/>
                </a:lnTo>
                <a:lnTo>
                  <a:pt x="1147" y="2866"/>
                </a:lnTo>
                <a:lnTo>
                  <a:pt x="1154" y="2917"/>
                </a:lnTo>
                <a:lnTo>
                  <a:pt x="1162" y="2967"/>
                </a:lnTo>
                <a:lnTo>
                  <a:pt x="1178" y="3063"/>
                </a:lnTo>
                <a:lnTo>
                  <a:pt x="1194" y="3151"/>
                </a:lnTo>
                <a:lnTo>
                  <a:pt x="1211" y="3230"/>
                </a:lnTo>
                <a:lnTo>
                  <a:pt x="1229" y="3302"/>
                </a:lnTo>
                <a:lnTo>
                  <a:pt x="1245" y="3364"/>
                </a:lnTo>
                <a:lnTo>
                  <a:pt x="1259" y="3415"/>
                </a:lnTo>
                <a:lnTo>
                  <a:pt x="1270" y="3456"/>
                </a:lnTo>
                <a:lnTo>
                  <a:pt x="1338" y="3518"/>
                </a:lnTo>
                <a:lnTo>
                  <a:pt x="1406" y="3578"/>
                </a:lnTo>
                <a:lnTo>
                  <a:pt x="1474" y="3635"/>
                </a:lnTo>
                <a:lnTo>
                  <a:pt x="1543" y="3690"/>
                </a:lnTo>
                <a:lnTo>
                  <a:pt x="1613" y="3742"/>
                </a:lnTo>
                <a:lnTo>
                  <a:pt x="1683" y="3792"/>
                </a:lnTo>
                <a:lnTo>
                  <a:pt x="1752" y="3839"/>
                </a:lnTo>
                <a:lnTo>
                  <a:pt x="1822" y="3885"/>
                </a:lnTo>
                <a:lnTo>
                  <a:pt x="1807" y="3807"/>
                </a:lnTo>
                <a:lnTo>
                  <a:pt x="1793" y="3730"/>
                </a:lnTo>
                <a:lnTo>
                  <a:pt x="1782" y="3655"/>
                </a:lnTo>
                <a:lnTo>
                  <a:pt x="1773" y="3582"/>
                </a:lnTo>
                <a:lnTo>
                  <a:pt x="1765" y="3510"/>
                </a:lnTo>
                <a:lnTo>
                  <a:pt x="1761" y="3441"/>
                </a:lnTo>
                <a:lnTo>
                  <a:pt x="1758" y="3374"/>
                </a:lnTo>
                <a:lnTo>
                  <a:pt x="1755" y="3309"/>
                </a:lnTo>
                <a:lnTo>
                  <a:pt x="1755" y="3246"/>
                </a:lnTo>
                <a:lnTo>
                  <a:pt x="1757" y="3186"/>
                </a:lnTo>
                <a:lnTo>
                  <a:pt x="1759" y="3127"/>
                </a:lnTo>
                <a:lnTo>
                  <a:pt x="1762" y="3070"/>
                </a:lnTo>
                <a:lnTo>
                  <a:pt x="1767" y="3016"/>
                </a:lnTo>
                <a:lnTo>
                  <a:pt x="1772" y="2964"/>
                </a:lnTo>
                <a:lnTo>
                  <a:pt x="1779" y="2915"/>
                </a:lnTo>
                <a:lnTo>
                  <a:pt x="1786" y="2868"/>
                </a:lnTo>
                <a:lnTo>
                  <a:pt x="1793" y="2823"/>
                </a:lnTo>
                <a:lnTo>
                  <a:pt x="1801" y="2781"/>
                </a:lnTo>
                <a:lnTo>
                  <a:pt x="1809" y="2742"/>
                </a:lnTo>
                <a:lnTo>
                  <a:pt x="1818" y="2705"/>
                </a:lnTo>
                <a:lnTo>
                  <a:pt x="1835" y="2639"/>
                </a:lnTo>
                <a:lnTo>
                  <a:pt x="1850" y="2584"/>
                </a:lnTo>
                <a:lnTo>
                  <a:pt x="1864" y="2542"/>
                </a:lnTo>
                <a:lnTo>
                  <a:pt x="1875" y="2511"/>
                </a:lnTo>
                <a:lnTo>
                  <a:pt x="1885" y="2485"/>
                </a:lnTo>
                <a:lnTo>
                  <a:pt x="1884" y="2552"/>
                </a:lnTo>
                <a:lnTo>
                  <a:pt x="1884" y="2620"/>
                </a:lnTo>
                <a:lnTo>
                  <a:pt x="1886" y="2686"/>
                </a:lnTo>
                <a:lnTo>
                  <a:pt x="1889" y="2753"/>
                </a:lnTo>
                <a:lnTo>
                  <a:pt x="1894" y="2819"/>
                </a:lnTo>
                <a:lnTo>
                  <a:pt x="1900" y="2883"/>
                </a:lnTo>
                <a:lnTo>
                  <a:pt x="1908" y="2948"/>
                </a:lnTo>
                <a:lnTo>
                  <a:pt x="1917" y="3012"/>
                </a:lnTo>
                <a:lnTo>
                  <a:pt x="1928" y="3075"/>
                </a:lnTo>
                <a:lnTo>
                  <a:pt x="1939" y="3137"/>
                </a:lnTo>
                <a:lnTo>
                  <a:pt x="1952" y="3198"/>
                </a:lnTo>
                <a:lnTo>
                  <a:pt x="1965" y="3258"/>
                </a:lnTo>
                <a:lnTo>
                  <a:pt x="1979" y="3317"/>
                </a:lnTo>
                <a:lnTo>
                  <a:pt x="1993" y="3375"/>
                </a:lnTo>
                <a:lnTo>
                  <a:pt x="2009" y="3432"/>
                </a:lnTo>
                <a:lnTo>
                  <a:pt x="2024" y="3487"/>
                </a:lnTo>
                <a:lnTo>
                  <a:pt x="2041" y="3541"/>
                </a:lnTo>
                <a:lnTo>
                  <a:pt x="2057" y="3594"/>
                </a:lnTo>
                <a:lnTo>
                  <a:pt x="2073" y="3644"/>
                </a:lnTo>
                <a:lnTo>
                  <a:pt x="2091" y="3694"/>
                </a:lnTo>
                <a:lnTo>
                  <a:pt x="2125" y="3787"/>
                </a:lnTo>
                <a:lnTo>
                  <a:pt x="2158" y="3873"/>
                </a:lnTo>
                <a:lnTo>
                  <a:pt x="2190" y="3951"/>
                </a:lnTo>
                <a:lnTo>
                  <a:pt x="2221" y="4021"/>
                </a:lnTo>
                <a:lnTo>
                  <a:pt x="2248" y="4081"/>
                </a:lnTo>
                <a:lnTo>
                  <a:pt x="2272" y="4131"/>
                </a:lnTo>
                <a:lnTo>
                  <a:pt x="2354" y="4169"/>
                </a:lnTo>
                <a:lnTo>
                  <a:pt x="2435" y="4204"/>
                </a:lnTo>
                <a:lnTo>
                  <a:pt x="2512" y="4235"/>
                </a:lnTo>
                <a:lnTo>
                  <a:pt x="2586" y="4264"/>
                </a:lnTo>
                <a:lnTo>
                  <a:pt x="2656" y="4290"/>
                </a:lnTo>
                <a:lnTo>
                  <a:pt x="2721" y="4312"/>
                </a:lnTo>
                <a:lnTo>
                  <a:pt x="2783" y="4332"/>
                </a:lnTo>
                <a:lnTo>
                  <a:pt x="2839" y="4350"/>
                </a:lnTo>
                <a:lnTo>
                  <a:pt x="2890" y="4365"/>
                </a:lnTo>
                <a:lnTo>
                  <a:pt x="2936" y="4378"/>
                </a:lnTo>
                <a:lnTo>
                  <a:pt x="3008" y="4397"/>
                </a:lnTo>
                <a:lnTo>
                  <a:pt x="3054" y="4407"/>
                </a:lnTo>
                <a:lnTo>
                  <a:pt x="3069" y="4410"/>
                </a:lnTo>
                <a:lnTo>
                  <a:pt x="3075" y="4391"/>
                </a:lnTo>
                <a:lnTo>
                  <a:pt x="3091" y="4339"/>
                </a:lnTo>
                <a:lnTo>
                  <a:pt x="3101" y="4300"/>
                </a:lnTo>
                <a:lnTo>
                  <a:pt x="3112" y="4253"/>
                </a:lnTo>
                <a:lnTo>
                  <a:pt x="3123" y="4200"/>
                </a:lnTo>
                <a:lnTo>
                  <a:pt x="3134" y="4139"/>
                </a:lnTo>
                <a:lnTo>
                  <a:pt x="3144" y="4073"/>
                </a:lnTo>
                <a:lnTo>
                  <a:pt x="3154" y="4001"/>
                </a:lnTo>
                <a:lnTo>
                  <a:pt x="3162" y="3923"/>
                </a:lnTo>
                <a:lnTo>
                  <a:pt x="3165" y="3882"/>
                </a:lnTo>
                <a:lnTo>
                  <a:pt x="3168" y="3839"/>
                </a:lnTo>
                <a:lnTo>
                  <a:pt x="3170" y="3796"/>
                </a:lnTo>
                <a:lnTo>
                  <a:pt x="3171" y="3751"/>
                </a:lnTo>
                <a:lnTo>
                  <a:pt x="3171" y="3705"/>
                </a:lnTo>
                <a:lnTo>
                  <a:pt x="3171" y="3659"/>
                </a:lnTo>
                <a:lnTo>
                  <a:pt x="3170" y="3611"/>
                </a:lnTo>
                <a:lnTo>
                  <a:pt x="3168" y="3562"/>
                </a:lnTo>
                <a:lnTo>
                  <a:pt x="3164" y="3512"/>
                </a:lnTo>
                <a:lnTo>
                  <a:pt x="3160" y="3461"/>
                </a:lnTo>
                <a:lnTo>
                  <a:pt x="3154" y="3410"/>
                </a:lnTo>
                <a:lnTo>
                  <a:pt x="3148" y="3359"/>
                </a:lnTo>
                <a:lnTo>
                  <a:pt x="3140" y="3305"/>
                </a:lnTo>
                <a:lnTo>
                  <a:pt x="3131" y="3251"/>
                </a:lnTo>
                <a:lnTo>
                  <a:pt x="3121" y="3198"/>
                </a:lnTo>
                <a:lnTo>
                  <a:pt x="3109" y="3143"/>
                </a:lnTo>
                <a:lnTo>
                  <a:pt x="3095" y="3087"/>
                </a:lnTo>
                <a:lnTo>
                  <a:pt x="3080" y="3032"/>
                </a:lnTo>
                <a:lnTo>
                  <a:pt x="3063" y="2976"/>
                </a:lnTo>
                <a:lnTo>
                  <a:pt x="3045" y="2919"/>
                </a:lnTo>
                <a:lnTo>
                  <a:pt x="3025" y="2863"/>
                </a:lnTo>
                <a:lnTo>
                  <a:pt x="3003" y="2805"/>
                </a:lnTo>
                <a:lnTo>
                  <a:pt x="2979" y="2748"/>
                </a:lnTo>
                <a:lnTo>
                  <a:pt x="2953" y="2692"/>
                </a:lnTo>
                <a:lnTo>
                  <a:pt x="2926" y="2634"/>
                </a:lnTo>
                <a:lnTo>
                  <a:pt x="2895" y="2576"/>
                </a:lnTo>
                <a:lnTo>
                  <a:pt x="2864" y="2519"/>
                </a:lnTo>
                <a:lnTo>
                  <a:pt x="2830" y="2461"/>
                </a:lnTo>
                <a:lnTo>
                  <a:pt x="2793" y="2403"/>
                </a:lnTo>
                <a:lnTo>
                  <a:pt x="2755" y="2346"/>
                </a:lnTo>
                <a:lnTo>
                  <a:pt x="2714" y="2288"/>
                </a:lnTo>
                <a:lnTo>
                  <a:pt x="2670" y="2231"/>
                </a:lnTo>
                <a:lnTo>
                  <a:pt x="2624" y="2174"/>
                </a:lnTo>
                <a:lnTo>
                  <a:pt x="2576" y="2117"/>
                </a:lnTo>
                <a:lnTo>
                  <a:pt x="2525" y="2061"/>
                </a:lnTo>
                <a:lnTo>
                  <a:pt x="2472" y="2006"/>
                </a:lnTo>
                <a:lnTo>
                  <a:pt x="2415" y="1950"/>
                </a:lnTo>
                <a:lnTo>
                  <a:pt x="2356" y="1895"/>
                </a:lnTo>
                <a:lnTo>
                  <a:pt x="2293" y="1842"/>
                </a:lnTo>
                <a:lnTo>
                  <a:pt x="2228" y="1788"/>
                </a:lnTo>
                <a:lnTo>
                  <a:pt x="2160" y="1735"/>
                </a:lnTo>
                <a:lnTo>
                  <a:pt x="2089" y="1682"/>
                </a:lnTo>
                <a:lnTo>
                  <a:pt x="1983" y="1605"/>
                </a:lnTo>
                <a:lnTo>
                  <a:pt x="1881" y="1528"/>
                </a:lnTo>
                <a:lnTo>
                  <a:pt x="1783" y="1451"/>
                </a:lnTo>
                <a:lnTo>
                  <a:pt x="1688" y="1374"/>
                </a:lnTo>
                <a:lnTo>
                  <a:pt x="1598" y="1297"/>
                </a:lnTo>
                <a:lnTo>
                  <a:pt x="1511" y="1222"/>
                </a:lnTo>
                <a:lnTo>
                  <a:pt x="1429" y="1147"/>
                </a:lnTo>
                <a:lnTo>
                  <a:pt x="1349" y="1073"/>
                </a:lnTo>
                <a:lnTo>
                  <a:pt x="1274" y="1000"/>
                </a:lnTo>
                <a:lnTo>
                  <a:pt x="1201" y="928"/>
                </a:lnTo>
                <a:lnTo>
                  <a:pt x="1132" y="858"/>
                </a:lnTo>
                <a:lnTo>
                  <a:pt x="1067" y="789"/>
                </a:lnTo>
                <a:lnTo>
                  <a:pt x="1006" y="722"/>
                </a:lnTo>
                <a:lnTo>
                  <a:pt x="948" y="657"/>
                </a:lnTo>
                <a:lnTo>
                  <a:pt x="893" y="594"/>
                </a:lnTo>
                <a:lnTo>
                  <a:pt x="842" y="533"/>
                </a:lnTo>
                <a:lnTo>
                  <a:pt x="794" y="475"/>
                </a:lnTo>
                <a:lnTo>
                  <a:pt x="749" y="420"/>
                </a:lnTo>
                <a:lnTo>
                  <a:pt x="708" y="366"/>
                </a:lnTo>
                <a:lnTo>
                  <a:pt x="670" y="316"/>
                </a:lnTo>
                <a:lnTo>
                  <a:pt x="634" y="269"/>
                </a:lnTo>
                <a:lnTo>
                  <a:pt x="603" y="225"/>
                </a:lnTo>
                <a:lnTo>
                  <a:pt x="550" y="147"/>
                </a:lnTo>
                <a:lnTo>
                  <a:pt x="508" y="85"/>
                </a:lnTo>
                <a:lnTo>
                  <a:pt x="479" y="39"/>
                </a:lnTo>
                <a:lnTo>
                  <a:pt x="456" y="0"/>
                </a:lnTo>
                <a:close/>
              </a:path>
            </a:pathLst>
          </a:custGeom>
          <a:solidFill>
            <a:srgbClr val="F4B183"/>
          </a:solidFill>
          <a:ln>
            <a:noFill/>
          </a:ln>
        </p:spPr>
        <p:txBody>
          <a:bodyPr anchor="ctr">
            <a:scene3d>
              <a:camera prst="orthographicFront"/>
              <a:lightRig rig="threePt" dir="t"/>
            </a:scene3d>
            <a:sp3d>
              <a:contourClr>
                <a:srgbClr val="FFFFFF"/>
              </a:contourClr>
            </a:sp3d>
          </a:bodyPr>
          <a:lstStyle>
            <a:defPPr>
              <a:defRPr lang="zh-CN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9pPr>
          </a:lstStyle>
          <a:p>
            <a:pPr algn="ctr">
              <a:defRPr/>
            </a:pPr>
            <a:endParaRPr lang="zh-CN" altLang="en-US">
              <a:solidFill>
                <a:srgbClr val="FFFFFF"/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</p:sld>
</file>

<file path=ppt/tags/tag1.xml><?xml version="1.0" encoding="utf-8"?>
<p:tagLst xmlns:p="http://schemas.openxmlformats.org/presentationml/2006/main">
  <p:tag name="ISPRING_PRESENTATION_TITLE" val="PowerPoint 演示文稿"/>
</p:tagLst>
</file>

<file path=ppt/theme/theme1.xml><?xml version="1.0" encoding="utf-8"?>
<a:theme xmlns:a="http://schemas.openxmlformats.org/drawingml/2006/main" name="第一PPT，www.1ppt.com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2347</Words>
  <Application>WPS 演示</Application>
  <PresentationFormat>宽屏</PresentationFormat>
  <Paragraphs>530</Paragraphs>
  <Slides>28</Slides>
  <Notes>28</Notes>
  <HiddenSlides>0</HiddenSlides>
  <MMClips>0</MMClips>
  <ScaleCrop>false</ScaleCrop>
  <HeadingPairs>
    <vt:vector size="6" baseType="variant">
      <vt:variant>
        <vt:lpstr>已用的字体</vt:lpstr>
      </vt:variant>
      <vt:variant>
        <vt:i4>17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28</vt:i4>
      </vt:variant>
    </vt:vector>
  </HeadingPairs>
  <TitlesOfParts>
    <vt:vector size="46" baseType="lpstr">
      <vt:lpstr>Arial</vt:lpstr>
      <vt:lpstr>宋体</vt:lpstr>
      <vt:lpstr>Wingdings</vt:lpstr>
      <vt:lpstr>微软雅黑 Light</vt:lpstr>
      <vt:lpstr>Calibri</vt:lpstr>
      <vt:lpstr>黑体</vt:lpstr>
      <vt:lpstr>微软雅黑</vt:lpstr>
      <vt:lpstr>宋体-18030</vt:lpstr>
      <vt:lpstr>新宋体</vt:lpstr>
      <vt:lpstr>Dense</vt:lpstr>
      <vt:lpstr>Arial Unicode MS</vt:lpstr>
      <vt:lpstr>Times New Roman</vt:lpstr>
      <vt:lpstr>Cambria Math</vt:lpstr>
      <vt:lpstr>等线</vt:lpstr>
      <vt:lpstr>Arial Unicode MS</vt:lpstr>
      <vt:lpstr>等线 Light</vt:lpstr>
      <vt:lpstr>Wide Latin</vt:lpstr>
      <vt:lpstr>第一PPT，www.1ppt.com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黑色简洁</dc:title>
  <dc:creator>www.1ppt.com</dc:creator>
  <cp:keywords>第一PPT模板网-WWW.1PPT.COM</cp:keywords>
  <dc:description>www.1ppt.com</dc:description>
  <cp:lastModifiedBy>邱庆志\徽派装饰\13691374208</cp:lastModifiedBy>
  <cp:revision>220</cp:revision>
  <dcterms:created xsi:type="dcterms:W3CDTF">2017-06-21T08:21:00Z</dcterms:created>
  <dcterms:modified xsi:type="dcterms:W3CDTF">2024-11-24T03:25:48Z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9C7492EB9D9D49A493E3CB9E2E003442_13</vt:lpwstr>
  </property>
  <property fmtid="{D5CDD505-2E9C-101B-9397-08002B2CF9AE}" pid="3" name="KSOProductBuildVer">
    <vt:lpwstr>2052-12.1.0.18912</vt:lpwstr>
  </property>
</Properties>
</file>